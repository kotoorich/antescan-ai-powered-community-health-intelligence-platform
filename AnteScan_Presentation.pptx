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distinguished judges, panel members, and guests. Today I am presenting AnteScan, an AI-powered community health intelligence platform designed specifically for Ghana's Community Health Workers. This project was developed for the Ghana AI Innovation Challenge 2026. Our team has built a complete, end-to-end solution that addresses critical gaps in maternal and child healthcare delivery in Ghana. AnteScan is not just a concept – it is a fully functional, tested, and deployable application that can make a real difference in the lives of Ghanaian women and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Ghana has made significant progress in health outcomes, but maternal and child health remain critical areas requiring urgent attention. The maternal mortality ratio stands at 310 deaths per 100,000 live births. Many of these deaths are preventable with timely intervention. Child malnutrition affects one in five children under five years of age — a stunted child will likely struggle with learning and earning throughout their life. Over 5,000 Community Health Workers serve rural communities as the frontline of the health system. Significant rural connectivity gaps mean cloud-based applications cannot be used in these areas, leaving CHWs without digital tools. Community Health Workers are the backbone of primary healthcare, but they lack the digital decision-support tools they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Health Workers face multiple obstacles that directly impact patient care. With no digital tools, CHWs rely on paper checklists that take 10 to 15 minutes per screening and are error-prone. Manual risk assessment means high-risk pregnancies and severe malnutrition are frequently missed. Delayed referrals mean emergency cases wait longer and facilities aren't prepared. With no internet, cloud-based apps are useless in rural areas. With no follow-up system, patients may never arrive at the facility. With no supervision tools, district health directors cannot target support effectively. Together, these challenges lead to preventable maternal and child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is a comprehensive, offline-first mobile application. It works completely without internet, saving data locally and syncing automatically. It uses AI-powered risk assessment to instantly calculate accurate risk scores. It automates referrals via SMS to facilities and family elders. It includes three screening modules: Antenatal Care, NutriCheck, and Sickle Cell Disease. It includes a secure admin dashboard for supervisors. And it automatically synchronizes data with no manual uploads required. Most importantly, AnteScan reduces screening time from 15 minutes to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addresses three critical areas of primary healthcare through its three core screening modules: Antenatal Care Risk Screening, NutriCheck for child malnutrition, and Sickle Cell Disease screening. All modules work offline and provide instant results, guiding the CHW's next clinical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Antenatal Care module classifies patients into four risk levels: Low, Moderate, High, and Emergency, each with clear recommended actions ranging from routine care to immediate ambulance dispatch. The hybrid approach works in three steps: the AI model predicts a risk score, a clinical safety net checks for danger signs, and the final result is raised to High or Emergency if any danger sign is present — the AI is never allowed to under-predict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safety net is the most critical component of AnteScan — it overrides the AI when danger signs are present. Severe hypertension forces an Emergency classification because it is a leading cause of maternal mortality. Convulsions force Emergency because they signal eclampsia. Headache with blurred vision and vaginal bleeding both force a High Risk classification as warning signs of severe complications. The AI is never allowed to under-predict risk in these situations, so no emergency case is ever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NutriCheck module screens children under five using WHO growth standards, classifying them as Normal, MAM, or SAM, each with a clear recommended action. The CHW enters age, weight, height, and MUAC; the app calculates WAZ, HAZ, and WHZ Z-scores; and the AI model classifies the child's nutrition status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Sickle Cell screening module assesses six clinical signs: joint or bone pain, jaundice, pale palms or conjunctiva, dactylitis, frequent infections, and family history. Ghana has one of the highest burdens of Sickle Cell Disease in the world, so early detection is crucial. A future enhancement includes AI-powered blood smear image analysis for instant phenotype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is built on real, nationally representative Ghanaian datasets. The MICS6 Women dataset from UNICEF and the Ghana Statistical Service trains the ANC Risk Model using 6,705 clean records. The MICS6 Children dataset trains the NutriCheck Model using 8,879 clean records. The DHS 2022 Births and Kids Recode datasets are used for feature validation and reference. All datasets are real, anonymised, obtained legitimately, and used under proper research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uses clinically relevant features. For the ANC model: number of ANC visits, place of delivery, and children ever born predict parity, which is converted into four risk classes. For the NutriCheck model: child age, breastfeeding duration, and mother's ANC visits predict weight-for-age Z-score, converted into three classes: Normal, MAM, and 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the Random Forest algorithm for both classification tasks — it works like a panel of 150 expert doctors voting on a decision. It creates 150 decision trees, each makes its own prediction, and the majority vote becomes the final prediction. We chose Random Forest for its robustness against overfitting, interpretability through feature importance, ability to handle complex non-linear interactions in messy health data, and strong performance on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we cleaned and prepared the data in five steps: feature selection to keep only clinically relevant columns; handling missing data via removal of missing targets and median imputation elsewhere; target engineering to convert continuous variables into actionable risk classes; feature normalisation using StandardScaler; and an 80/20 train/test split to validate real generalization.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 model was evaluated on a test set of 1,341 women. Accuracy is 51.5%, better than the 25% random-chance baseline across four classes. Precision and recall are around 51-52%. ROC-AUC is a strong 78.2%, showing the model reliably separates risk levels even when exact classification is imperfect. R-squared is 46.9% and MAE is about 19 points on a 0-100 scale. Place of delivery is the strongest predictor at 46%, followed by ANC visits at 35% and children ever born at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compares predicted versus actual risk levels. The model correctly identified 318 Low, 312 Moderate, 150 High, and 46 Emergency cases. It performs best on Low and Moderate cases but struggles with Emergency cases, correctly identifying only 46 of 116 true emergencies. Most errors occur between adjacent risk levels, which is clinically more acceptable since adjacent levels require similar vigilance. This is why the model is paired with the clinical safety net — it should guide, not replace, clinical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NutriCheck model was evaluated on 1,776 children. Accuracy of 87.3% looks strong, but ROC-AUC of only 55.4% reveals the model struggles to distinguish MAM from SAM — essentially guessing between them. R-squared is negative, meaning the risk score is not useful. ANC visits, child age, and breastfeeding duration are the top predictors. This high-accuracy-but-weak-discrimination pattern points to a class imbalance problem, which we examine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reveals severe class imbalance: the model is 99% accurate on Normal children but misses 79% of MAM cases and 100% of SAM cases, always predicting Normal because that class dominates 87.7% of the training data. MAM is only 9.8% and SAM only 2.5% of the data — not enough examples for the model to learn the pattern. This means the model is not yet ready for clinical use in its current form; we need techniques like SMOTE to create synthetic MAM and SAM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starts with a React Progressive Web App for the user interface, covering the CHW mobile portal, admin dashboard, and JWT authentication. Offline data storage via IndexedDB lets the app work with no internet. Automatic background sync pushes data to the server when connectivity returns. The Flask 3.0 backend API handles authentication, patients, screenings, referrals, alerts, and the SMS gateway. The machine learning layer contains the ANC and NutriCheck Random Forest models plus the clinical safety net. Everything is stored in SQLite for development and PostgreSQL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a modern, proven technology stack: React 18 and Tailwind CSS for the frontend, IndexedDB and Service Workers for offline storage, Flask 3.0 for the backend, SQLAlchemy as the ORM, JWT for authentication, scikit-learn and joblib for machine learning, Africa's Talking for SMS, and SQLite in development with PostgreSQL in production. All components are open-source and well-supported.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transforms CHW workflows in six key ways: screening time drops from 10-15 minutes to under 2; paper checklists become an accurate digital app; manual risk calculation becomes instant AI scoring; manual referral calls become automatic SMS; there is now a full digital screening history; and supervisors gain a real-time admin dashboard. The result is faster, more accurate, and more accountable healthcare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saves lives through earlier detection and faster intervention: pre-eclampsia and bleeding are caught early, SAM and MAM cases are identified for prompt nutritional support, immediate SMS alerts replace delayed ambulance calls, the Grandmother Network keeps family involved in follow-through, and a digital patient timeline ensures continuity of care. Earlier detection means timely care, which means fewer preventable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empowers supervisors in four ways: a live dashboard replaces no real-time oversight, automated one-click reports replace manual reporting, performance metrics enable CHW tracking, and epidemiological insights identify disease hotspots for better resource allocation. The result is data-driven decision making for better health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AnteScan is designed to grow with Ghana's healthcare system. Geographically, the offline-first design works in all 16 regions. New screening modules can be added without rebuilding the system. The backend scales horizontally to support all 5,000+ CHWs. APIs connect to NHIS and DHIMS2 for national deployment. Future modules already planned include diabetes screening, hypertension monitoring, TB symptom screening, and HIV risk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 several improvements: SMOTE to fix class imbalance so the model learns SAM and MAM cases; TFLite for true on-device offline AI; voice input, currently in progress, so illiterate CHWs can speak symptoms in Twi, Ga, Ewe, or Hausa; a clinical chatbot for instant guidance; EHR integration for continuity of care; and more screening modules for diabetes, TB, and HIV. Patient safety and user experience remain our top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ethics and data privacy seriously. DHS datasets were accessed through registration with The DHS Program, requiring citation and prohibiting re-identification or third-party sharing. MICS6 datasets were downloaded from UNICEF, anonymised for research use. Ethical safeguards include full anonymisation, a clinical safety net that prevents the AI from bypassing guidelines, encrypted data storage with JWT authentication, and informed consent in real-world deployment, complying with Ghana's Data Protection Act, Act 843. Our commitment is that patient safety and data privacy are never compromised.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AnteScan is an offline-first, AI-powered mobile application for Community Health Workers, screening for antenatal risk, child malnutrition, and sickle cell disease. It works through AI prediction combined with a clinical safety net to ensure patient safety, built on real Ghanaian datasets from DHS 2022 and MICS6. Key results show a 78.2% ROC-AUC for the ANC model and 87.3% accuracy for the NutriCheck model. The impact is faster, more accurate, and more accountable healthcare delivery. AnteScan is ready for deployment across Ghana.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My name is [Your Name] and this has been AnteScan. The key takeaways are that AnteScan has an offline-first design for rural Ghana, three screening modules for antenatal care, child malnutrition, and sickle cell disease, a hybrid AI and clinical safety net approach, real Ghanaian datasets, and it is ready for deployment. I welcome your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81F"/>
        </a:solidFill>
      </p:bgPr>
    </p:bg>
    <p:spTree>
      <p:nvGrpSpPr>
        <p:cNvPr id="1" name=""/>
        <p:cNvGrpSpPr/>
        <p:nvPr/>
      </p:nvGrpSpPr>
      <p:grpSpPr>
        <a:xfrm>
          <a:off x="0" y="0"/>
          <a:ext cx="0" cy="0"/>
          <a:chOff x="0" y="0"/>
          <a:chExt cx="0" cy="0"/>
        </a:xfrm>
      </p:grpSpPr>
      <p:sp>
        <p:nvSpPr>
          <p:cNvPr id="2" name="Shape 0"/>
          <p:cNvSpPr/>
          <p:nvPr/>
        </p:nvSpPr>
        <p:spPr>
          <a:xfrm>
            <a:off x="9966960" y="-1188720"/>
            <a:ext cx="4754880" cy="4754880"/>
          </a:xfrm>
          <a:prstGeom prst="ellipse">
            <a:avLst/>
          </a:prstGeom>
          <a:solidFill>
            <a:srgbClr val="006B3F"/>
          </a:solidFill>
          <a:ln/>
        </p:spPr>
      </p:sp>
      <p:sp>
        <p:nvSpPr>
          <p:cNvPr id="3" name="Shape 1"/>
          <p:cNvSpPr/>
          <p:nvPr/>
        </p:nvSpPr>
        <p:spPr>
          <a:xfrm>
            <a:off x="-1463040" y="4754880"/>
            <a:ext cx="3657600" cy="3657600"/>
          </a:xfrm>
          <a:prstGeom prst="ellipse">
            <a:avLst/>
          </a:prstGeom>
          <a:solidFill>
            <a:srgbClr val="006B3F"/>
          </a:solidFill>
          <a:ln/>
        </p:spPr>
      </p:sp>
      <p:sp>
        <p:nvSpPr>
          <p:cNvPr id="4" name="Text 2"/>
          <p:cNvSpPr/>
          <p:nvPr/>
        </p:nvSpPr>
        <p:spPr>
          <a:xfrm>
            <a:off x="822960" y="1554480"/>
            <a:ext cx="9144000" cy="365760"/>
          </a:xfrm>
          <a:prstGeom prst="rect">
            <a:avLst/>
          </a:prstGeom>
          <a:noFill/>
          <a:ln/>
        </p:spPr>
        <p:txBody>
          <a:bodyPr wrap="square" lIns="0" tIns="0" rIns="0" bIns="0" rtlCol="0" anchor="ctr"/>
          <a:lstStyle/>
          <a:p>
            <a:pPr indent="0" marL="0">
              <a:buNone/>
            </a:pPr>
            <a:r>
              <a:rPr lang="en-US" sz="1300" b="1" spc="300" kern="0" dirty="0">
                <a:solidFill>
                  <a:srgbClr val="FCD116"/>
                </a:solidFill>
                <a:latin typeface="Calibri" pitchFamily="34" charset="0"/>
                <a:ea typeface="Calibri" pitchFamily="34" charset="-122"/>
                <a:cs typeface="Calibri" pitchFamily="34" charset="-120"/>
              </a:rPr>
              <a:t>GHANA AI INNOVATION CHALLENGE 2026</a:t>
            </a:r>
            <a:endParaRPr lang="en-US" sz="1300" dirty="0"/>
          </a:p>
        </p:txBody>
      </p:sp>
      <p:sp>
        <p:nvSpPr>
          <p:cNvPr id="5" name="Text 3"/>
          <p:cNvSpPr/>
          <p:nvPr/>
        </p:nvSpPr>
        <p:spPr>
          <a:xfrm>
            <a:off x="777240" y="1965960"/>
            <a:ext cx="100584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AnteScan</a:t>
            </a:r>
            <a:endParaRPr lang="en-US" sz="6000" dirty="0"/>
          </a:p>
        </p:txBody>
      </p:sp>
      <p:sp>
        <p:nvSpPr>
          <p:cNvPr id="6" name="Text 4"/>
          <p:cNvSpPr/>
          <p:nvPr/>
        </p:nvSpPr>
        <p:spPr>
          <a:xfrm>
            <a:off x="822960" y="3154680"/>
            <a:ext cx="868680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AI-Powered Community Health Intelligence for Maternal &amp; Child Care in Ghana</a:t>
            </a:r>
            <a:endParaRPr lang="en-US" sz="1800" dirty="0"/>
          </a:p>
        </p:txBody>
      </p:sp>
      <p:sp>
        <p:nvSpPr>
          <p:cNvPr id="7" name="Shape 5"/>
          <p:cNvSpPr/>
          <p:nvPr/>
        </p:nvSpPr>
        <p:spPr>
          <a:xfrm>
            <a:off x="822960" y="4114800"/>
            <a:ext cx="457200" cy="54864"/>
          </a:xfrm>
          <a:prstGeom prst="rect">
            <a:avLst/>
          </a:prstGeom>
          <a:solidFill>
            <a:srgbClr val="FCD116"/>
          </a:solidFill>
          <a:ln/>
        </p:spPr>
      </p:sp>
      <p:sp>
        <p:nvSpPr>
          <p:cNvPr id="8" name="Text 6"/>
          <p:cNvSpPr/>
          <p:nvPr/>
        </p:nvSpPr>
        <p:spPr>
          <a:xfrm>
            <a:off x="822960" y="5394960"/>
            <a:ext cx="5486400" cy="320040"/>
          </a:xfrm>
          <a:prstGeom prst="rect">
            <a:avLst/>
          </a:prstGeom>
          <a:noFill/>
          <a:ln/>
        </p:spPr>
        <p:txBody>
          <a:bodyPr wrap="square" lIns="0" tIns="0" rIns="0" bIns="0" rtlCol="0" anchor="ctr"/>
          <a:lstStyle/>
          <a:p>
            <a:pPr indent="0" marL="0">
              <a:buNone/>
            </a:pPr>
            <a:r>
              <a:rPr lang="en-US" sz="1300" b="1" dirty="0">
                <a:solidFill>
                  <a:srgbClr val="FCD116"/>
                </a:solidFill>
                <a:latin typeface="Calibri" pitchFamily="34" charset="0"/>
                <a:ea typeface="Calibri" pitchFamily="34" charset="-122"/>
                <a:cs typeface="Calibri" pitchFamily="34" charset="-120"/>
              </a:rPr>
              <a:t>Team: </a:t>
            </a:r>
            <a:pPr indent="0" marL="0">
              <a:buNone/>
            </a:pPr>
            <a:r>
              <a:rPr lang="en-US" sz="1300" dirty="0">
                <a:solidFill>
                  <a:srgbClr val="FFFFFF"/>
                </a:solidFill>
                <a:latin typeface="Calibri" pitchFamily="34" charset="0"/>
                <a:ea typeface="Calibri" pitchFamily="34" charset="-122"/>
                <a:cs typeface="Calibri" pitchFamily="34" charset="-120"/>
              </a:rPr>
              <a:t>[Your Team Name]</a:t>
            </a:r>
            <a:endParaRPr lang="en-US" sz="1300" dirty="0"/>
          </a:p>
        </p:txBody>
      </p:sp>
      <p:sp>
        <p:nvSpPr>
          <p:cNvPr id="9" name="Text 7"/>
          <p:cNvSpPr/>
          <p:nvPr/>
        </p:nvSpPr>
        <p:spPr>
          <a:xfrm>
            <a:off x="822960" y="5715000"/>
            <a:ext cx="5486400" cy="320040"/>
          </a:xfrm>
          <a:prstGeom prst="rect">
            <a:avLst/>
          </a:prstGeom>
          <a:noFill/>
          <a:ln/>
        </p:spPr>
        <p:txBody>
          <a:bodyPr wrap="square" lIns="0" tIns="0" rIns="0" bIns="0" rtlCol="0" anchor="ctr"/>
          <a:lstStyle/>
          <a:p>
            <a:pPr indent="0" marL="0">
              <a:buNone/>
            </a:pPr>
            <a:r>
              <a:rPr lang="en-US" sz="1300" b="1" dirty="0">
                <a:solidFill>
                  <a:srgbClr val="FCD116"/>
                </a:solidFill>
                <a:latin typeface="Calibri" pitchFamily="34" charset="0"/>
                <a:ea typeface="Calibri" pitchFamily="34" charset="-122"/>
                <a:cs typeface="Calibri" pitchFamily="34" charset="-120"/>
              </a:rPr>
              <a:t>Date: </a:t>
            </a:r>
            <a:pPr indent="0" marL="0">
              <a:buNone/>
            </a:pPr>
            <a:r>
              <a:rPr lang="en-US" sz="1300" dirty="0">
                <a:solidFill>
                  <a:srgbClr val="FFFFFF"/>
                </a:solidFill>
                <a:latin typeface="Calibri" pitchFamily="34" charset="0"/>
                <a:ea typeface="Calibri" pitchFamily="34" charset="-122"/>
                <a:cs typeface="Calibri" pitchFamily="34" charset="-120"/>
              </a:rPr>
              <a:t>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Ghana's Maternal and Child Health Challenge</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63040"/>
            <a:ext cx="11064240" cy="365760"/>
          </a:xfrm>
          <a:prstGeom prst="rect">
            <a:avLst/>
          </a:prstGeom>
          <a:noFill/>
          <a:ln/>
        </p:spPr>
        <p:txBody>
          <a:bodyPr wrap="square" lIns="0" tIns="0" rIns="0" bIns="0" rtlCol="0" anchor="ctr"/>
          <a:lstStyle/>
          <a:p>
            <a:pPr indent="0" marL="0">
              <a:buNone/>
            </a:pPr>
            <a:r>
              <a:rPr lang="en-US" sz="1250" i="1" dirty="0">
                <a:solidFill>
                  <a:srgbClr val="5B6B62"/>
                </a:solidFill>
                <a:latin typeface="Calibri" pitchFamily="34" charset="0"/>
                <a:ea typeface="Calibri" pitchFamily="34" charset="-122"/>
                <a:cs typeface="Calibri" pitchFamily="34" charset="-120"/>
              </a:rPr>
              <a:t>Ghana faces persistent challenges in maternal and child health that demand urgent attention and innovative solutions.</a:t>
            </a:r>
            <a:endParaRPr lang="en-US" sz="1250" dirty="0"/>
          </a:p>
        </p:txBody>
      </p:sp>
      <p:sp>
        <p:nvSpPr>
          <p:cNvPr id="6" name="Shape 4"/>
          <p:cNvSpPr/>
          <p:nvPr/>
        </p:nvSpPr>
        <p:spPr>
          <a:xfrm>
            <a:off x="548640" y="1965960"/>
            <a:ext cx="2606040" cy="2331720"/>
          </a:xfrm>
          <a:prstGeom prst="roundRect">
            <a:avLst>
              <a:gd name="adj" fmla="val 3137"/>
            </a:avLst>
          </a:prstGeom>
          <a:solidFill>
            <a:srgbClr val="006B3F"/>
          </a:solidFill>
          <a:ln/>
          <a:effectLst>
            <a:outerShdw sx="100000" sy="100000" kx="0" ky="0" algn="bl" rotWithShape="0" blurRad="88900" dist="38100" dir="2700000">
              <a:srgbClr val="1A1A1A">
                <a:alpha val="12000"/>
              </a:srgbClr>
            </a:outerShdw>
          </a:effectLst>
        </p:spPr>
      </p:sp>
      <p:sp>
        <p:nvSpPr>
          <p:cNvPr id="7" name="Text 5"/>
          <p:cNvSpPr/>
          <p:nvPr/>
        </p:nvSpPr>
        <p:spPr>
          <a:xfrm>
            <a:off x="685800" y="2148840"/>
            <a:ext cx="2331720" cy="640080"/>
          </a:xfrm>
          <a:prstGeom prst="rect">
            <a:avLst/>
          </a:prstGeom>
          <a:noFill/>
          <a:ln/>
        </p:spPr>
        <p:txBody>
          <a:bodyPr wrap="square" lIns="0" tIns="0" rIns="0" bIns="0" rtlCol="0" anchor="ctr"/>
          <a:lstStyle/>
          <a:p>
            <a:pPr indent="0" marL="0">
              <a:buNone/>
            </a:pPr>
            <a:r>
              <a:rPr lang="en-US" sz="3000" b="1" dirty="0">
                <a:solidFill>
                  <a:srgbClr val="FCD116"/>
                </a:solidFill>
                <a:latin typeface="Cambria" pitchFamily="34" charset="0"/>
                <a:ea typeface="Cambria" pitchFamily="34" charset="-122"/>
                <a:cs typeface="Cambria" pitchFamily="34" charset="-120"/>
              </a:rPr>
              <a:t>310</a:t>
            </a:r>
            <a:endParaRPr lang="en-US" sz="3000" dirty="0"/>
          </a:p>
        </p:txBody>
      </p:sp>
      <p:sp>
        <p:nvSpPr>
          <p:cNvPr id="8" name="Text 6"/>
          <p:cNvSpPr/>
          <p:nvPr/>
        </p:nvSpPr>
        <p:spPr>
          <a:xfrm>
            <a:off x="685800" y="2834640"/>
            <a:ext cx="2331720" cy="13258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maternal deaths per 100,000 live births — many preventable with timely intervention</a:t>
            </a:r>
            <a:endParaRPr lang="en-US" sz="1100" dirty="0"/>
          </a:p>
        </p:txBody>
      </p:sp>
      <p:sp>
        <p:nvSpPr>
          <p:cNvPr id="9" name="Shape 7"/>
          <p:cNvSpPr/>
          <p:nvPr/>
        </p:nvSpPr>
        <p:spPr>
          <a:xfrm>
            <a:off x="3383280" y="1965960"/>
            <a:ext cx="2606040" cy="2331720"/>
          </a:xfrm>
          <a:prstGeom prst="roundRect">
            <a:avLst>
              <a:gd name="adj" fmla="val 3137"/>
            </a:avLst>
          </a:prstGeom>
          <a:solidFill>
            <a:srgbClr val="F4F8F5"/>
          </a:solidFill>
          <a:ln/>
          <a:effectLst>
            <a:outerShdw sx="100000" sy="100000" kx="0" ky="0" algn="bl" rotWithShape="0" blurRad="88900" dist="38100" dir="2700000">
              <a:srgbClr val="1A1A1A">
                <a:alpha val="12000"/>
              </a:srgbClr>
            </a:outerShdw>
          </a:effectLst>
        </p:spPr>
      </p:sp>
      <p:sp>
        <p:nvSpPr>
          <p:cNvPr id="10" name="Text 8"/>
          <p:cNvSpPr/>
          <p:nvPr/>
        </p:nvSpPr>
        <p:spPr>
          <a:xfrm>
            <a:off x="3520440" y="2148840"/>
            <a:ext cx="2331720" cy="640080"/>
          </a:xfrm>
          <a:prstGeom prst="rect">
            <a:avLst/>
          </a:prstGeom>
          <a:noFill/>
          <a:ln/>
        </p:spPr>
        <p:txBody>
          <a:bodyPr wrap="square" lIns="0" tIns="0" rIns="0" bIns="0" rtlCol="0" anchor="ctr"/>
          <a:lstStyle/>
          <a:p>
            <a:pPr indent="0" marL="0">
              <a:buNone/>
            </a:pPr>
            <a:r>
              <a:rPr lang="en-US" sz="3000" b="1" dirty="0">
                <a:solidFill>
                  <a:srgbClr val="006B3F"/>
                </a:solidFill>
                <a:latin typeface="Cambria" pitchFamily="34" charset="0"/>
                <a:ea typeface="Cambria" pitchFamily="34" charset="-122"/>
                <a:cs typeface="Cambria" pitchFamily="34" charset="-120"/>
              </a:rPr>
              <a:t>1 in 5</a:t>
            </a:r>
            <a:endParaRPr lang="en-US" sz="3000" dirty="0"/>
          </a:p>
        </p:txBody>
      </p:sp>
      <p:sp>
        <p:nvSpPr>
          <p:cNvPr id="11" name="Text 9"/>
          <p:cNvSpPr/>
          <p:nvPr/>
        </p:nvSpPr>
        <p:spPr>
          <a:xfrm>
            <a:off x="3520440" y="2834640"/>
            <a:ext cx="2331720" cy="13258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children under five are stunted from chronic malnutrition</a:t>
            </a:r>
            <a:endParaRPr lang="en-US" sz="1100" dirty="0"/>
          </a:p>
        </p:txBody>
      </p:sp>
      <p:sp>
        <p:nvSpPr>
          <p:cNvPr id="12" name="Shape 10"/>
          <p:cNvSpPr/>
          <p:nvPr/>
        </p:nvSpPr>
        <p:spPr>
          <a:xfrm>
            <a:off x="6217920" y="1965960"/>
            <a:ext cx="2606040" cy="2331720"/>
          </a:xfrm>
          <a:prstGeom prst="roundRect">
            <a:avLst>
              <a:gd name="adj" fmla="val 3137"/>
            </a:avLst>
          </a:prstGeom>
          <a:solidFill>
            <a:srgbClr val="F4F8F5"/>
          </a:solidFill>
          <a:ln/>
          <a:effectLst>
            <a:outerShdw sx="100000" sy="100000" kx="0" ky="0" algn="bl" rotWithShape="0" blurRad="88900" dist="38100" dir="2700000">
              <a:srgbClr val="1A1A1A">
                <a:alpha val="12000"/>
              </a:srgbClr>
            </a:outerShdw>
          </a:effectLst>
        </p:spPr>
      </p:sp>
      <p:sp>
        <p:nvSpPr>
          <p:cNvPr id="13" name="Text 11"/>
          <p:cNvSpPr/>
          <p:nvPr/>
        </p:nvSpPr>
        <p:spPr>
          <a:xfrm>
            <a:off x="6355080" y="2148840"/>
            <a:ext cx="2331720" cy="640080"/>
          </a:xfrm>
          <a:prstGeom prst="rect">
            <a:avLst/>
          </a:prstGeom>
          <a:noFill/>
          <a:ln/>
        </p:spPr>
        <p:txBody>
          <a:bodyPr wrap="square" lIns="0" tIns="0" rIns="0" bIns="0" rtlCol="0" anchor="ctr"/>
          <a:lstStyle/>
          <a:p>
            <a:pPr indent="0" marL="0">
              <a:buNone/>
            </a:pPr>
            <a:r>
              <a:rPr lang="en-US" sz="3000" b="1" dirty="0">
                <a:solidFill>
                  <a:srgbClr val="006B3F"/>
                </a:solidFill>
                <a:latin typeface="Cambria" pitchFamily="34" charset="0"/>
                <a:ea typeface="Cambria" pitchFamily="34" charset="-122"/>
                <a:cs typeface="Cambria" pitchFamily="34" charset="-120"/>
              </a:rPr>
              <a:t>5,000+</a:t>
            </a:r>
            <a:endParaRPr lang="en-US" sz="3000" dirty="0"/>
          </a:p>
        </p:txBody>
      </p:sp>
      <p:sp>
        <p:nvSpPr>
          <p:cNvPr id="14" name="Text 12"/>
          <p:cNvSpPr/>
          <p:nvPr/>
        </p:nvSpPr>
        <p:spPr>
          <a:xfrm>
            <a:off x="6355080" y="2834640"/>
            <a:ext cx="2331720" cy="13258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Community Health Workers serving rural communities as the frontline of care</a:t>
            </a:r>
            <a:endParaRPr lang="en-US" sz="1100" dirty="0"/>
          </a:p>
        </p:txBody>
      </p:sp>
      <p:sp>
        <p:nvSpPr>
          <p:cNvPr id="15" name="Shape 13"/>
          <p:cNvSpPr/>
          <p:nvPr/>
        </p:nvSpPr>
        <p:spPr>
          <a:xfrm>
            <a:off x="9052560" y="1965960"/>
            <a:ext cx="2606040" cy="2331720"/>
          </a:xfrm>
          <a:prstGeom prst="roundRect">
            <a:avLst>
              <a:gd name="adj" fmla="val 3137"/>
            </a:avLst>
          </a:prstGeom>
          <a:solidFill>
            <a:srgbClr val="F4F8F5"/>
          </a:solidFill>
          <a:ln/>
          <a:effectLst>
            <a:outerShdw sx="100000" sy="100000" kx="0" ky="0" algn="bl" rotWithShape="0" blurRad="88900" dist="38100" dir="2700000">
              <a:srgbClr val="1A1A1A">
                <a:alpha val="12000"/>
              </a:srgbClr>
            </a:outerShdw>
          </a:effectLst>
        </p:spPr>
      </p:sp>
      <p:sp>
        <p:nvSpPr>
          <p:cNvPr id="16" name="Text 14"/>
          <p:cNvSpPr/>
          <p:nvPr/>
        </p:nvSpPr>
        <p:spPr>
          <a:xfrm>
            <a:off x="9189720" y="2148840"/>
            <a:ext cx="2331720" cy="640080"/>
          </a:xfrm>
          <a:prstGeom prst="rect">
            <a:avLst/>
          </a:prstGeom>
          <a:noFill/>
          <a:ln/>
        </p:spPr>
        <p:txBody>
          <a:bodyPr wrap="square" lIns="0" tIns="0" rIns="0" bIns="0" rtlCol="0" anchor="ctr"/>
          <a:lstStyle/>
          <a:p>
            <a:pPr indent="0" marL="0">
              <a:buNone/>
            </a:pPr>
            <a:r>
              <a:rPr lang="en-US" sz="3000" b="1" dirty="0">
                <a:solidFill>
                  <a:srgbClr val="006B3F"/>
                </a:solidFill>
                <a:latin typeface="Cambria" pitchFamily="34" charset="0"/>
                <a:ea typeface="Cambria" pitchFamily="34" charset="-122"/>
                <a:cs typeface="Cambria" pitchFamily="34" charset="-120"/>
              </a:rPr>
              <a:t>Limited</a:t>
            </a:r>
            <a:endParaRPr lang="en-US" sz="3000" dirty="0"/>
          </a:p>
        </p:txBody>
      </p:sp>
      <p:sp>
        <p:nvSpPr>
          <p:cNvPr id="17" name="Text 15"/>
          <p:cNvSpPr/>
          <p:nvPr/>
        </p:nvSpPr>
        <p:spPr>
          <a:xfrm>
            <a:off x="9189720" y="2834640"/>
            <a:ext cx="2331720" cy="13258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rural internet coverage means cloud-based tools often can't be used</a:t>
            </a:r>
            <a:endParaRPr lang="en-US" sz="1100" dirty="0"/>
          </a:p>
        </p:txBody>
      </p:sp>
      <p:sp>
        <p:nvSpPr>
          <p:cNvPr id="18" name="Shape 16"/>
          <p:cNvSpPr/>
          <p:nvPr/>
        </p:nvSpPr>
        <p:spPr>
          <a:xfrm>
            <a:off x="548640" y="4572000"/>
            <a:ext cx="11091672" cy="777240"/>
          </a:xfrm>
          <a:prstGeom prst="roundRect">
            <a:avLst>
              <a:gd name="adj" fmla="val 9412"/>
            </a:avLst>
          </a:prstGeom>
          <a:solidFill>
            <a:srgbClr val="00381F"/>
          </a:solidFill>
          <a:ln/>
        </p:spPr>
      </p:sp>
      <p:sp>
        <p:nvSpPr>
          <p:cNvPr id="19" name="Text 17"/>
          <p:cNvSpPr/>
          <p:nvPr/>
        </p:nvSpPr>
        <p:spPr>
          <a:xfrm>
            <a:off x="822960" y="4572000"/>
            <a:ext cx="10515600" cy="777240"/>
          </a:xfrm>
          <a:prstGeom prst="rect">
            <a:avLst/>
          </a:prstGeom>
          <a:noFill/>
          <a:ln/>
        </p:spPr>
        <p:txBody>
          <a:bodyPr wrap="square" lIns="0" tIns="0" rIns="0" bIns="0" rtlCol="0" anchor="ctr"/>
          <a:lstStyle/>
          <a:p>
            <a:pPr indent="0" marL="0">
              <a:buNone/>
            </a:pPr>
            <a:r>
              <a:rPr lang="en-US" sz="1500" b="1" i="1" dirty="0">
                <a:solidFill>
                  <a:srgbClr val="FFFFFF"/>
                </a:solidFill>
                <a:latin typeface="Cambria" pitchFamily="34" charset="0"/>
                <a:ea typeface="Cambria" pitchFamily="34" charset="-122"/>
                <a:cs typeface="Cambria" pitchFamily="34" charset="-120"/>
              </a:rPr>
              <a:t>Community Health Workers are the backbone of primary healthcare but lack digital decision-support tools.</a:t>
            </a:r>
            <a:endParaRPr lang="en-US" sz="150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ROOT CAUSES</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Day-to-Day Challenges for Community Health Workers</a:t>
            </a:r>
            <a:endParaRPr lang="en-US" sz="3000" dirty="0"/>
          </a:p>
        </p:txBody>
      </p:sp>
      <p:sp>
        <p:nvSpPr>
          <p:cNvPr id="4" name="Shape 2"/>
          <p:cNvSpPr/>
          <p:nvPr/>
        </p:nvSpPr>
        <p:spPr>
          <a:xfrm>
            <a:off x="548640" y="1353312"/>
            <a:ext cx="128016" cy="128016"/>
          </a:xfrm>
          <a:prstGeom prst="ellipse">
            <a:avLst/>
          </a:prstGeom>
          <a:solidFill>
            <a:srgbClr val="FCD116"/>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377440"/>
                <a:gridCol w="4480560"/>
                <a:gridCol w="423367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Challenge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It Affects CHWs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Impact on Patient Care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No Digital Tools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Paper checklists; a screening takes 10-15 min and forms are error-prone.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Patients wait longer; important information can be missed.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Manual Risk Assessment</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Risk scores calculated by hand — hard to correlate multiple symptoms.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High-risk pregnancies and severe malnutrition are frequently missed.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Delayed Referrals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Facility referral requires manual calls/visits, relying on memory.</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Emergencies are delayed; facilities aren't prepared for arrival.</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No Internet</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Cloud-based apps are useless in rural areas.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CHWs fall back on paper methods, losing digital tool benefits.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No Follow-Up System</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No automated way to confirm referrals were completed.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Patients may never arrive at the facility; no accountability.</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No Supervision Tools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District directors have no real-time visibility into high-risk cases.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Resources are allocated inefficiently; hotspots go unnoticed.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6" name="Shape 3"/>
          <p:cNvSpPr/>
          <p:nvPr/>
        </p:nvSpPr>
        <p:spPr>
          <a:xfrm>
            <a:off x="548640" y="5989320"/>
            <a:ext cx="11091672" cy="502920"/>
          </a:xfrm>
          <a:prstGeom prst="roundRect">
            <a:avLst>
              <a:gd name="adj" fmla="val 12727"/>
            </a:avLst>
          </a:prstGeom>
          <a:solidFill>
            <a:srgbClr val="CE1126"/>
          </a:solidFill>
          <a:ln/>
        </p:spPr>
      </p:sp>
      <p:sp>
        <p:nvSpPr>
          <p:cNvPr id="7" name="Text 4"/>
          <p:cNvSpPr/>
          <p:nvPr/>
        </p:nvSpPr>
        <p:spPr>
          <a:xfrm>
            <a:off x="822960" y="5989320"/>
            <a:ext cx="105156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These challenges lead to preventable maternal and child deaths.</a:t>
            </a:r>
            <a:endParaRPr lang="en-US" sz="130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9" name="Text 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AnteScan Does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50" i="1" dirty="0">
                <a:solidFill>
                  <a:srgbClr val="5B6B62"/>
                </a:solidFill>
                <a:latin typeface="Calibri" pitchFamily="34" charset="0"/>
                <a:ea typeface="Calibri" pitchFamily="34" charset="-122"/>
                <a:cs typeface="Calibri" pitchFamily="34" charset="-120"/>
              </a:rPr>
              <a:t>AnteScan is a comprehensive, offline-first mobile application that provides CHWs with the digital tools they desperately need.</a:t>
            </a:r>
            <a:endParaRPr lang="en-US" sz="1250" dirty="0"/>
          </a:p>
        </p:txBody>
      </p:sp>
      <p:sp>
        <p:nvSpPr>
          <p:cNvPr id="6" name="Shape 4"/>
          <p:cNvSpPr/>
          <p:nvPr/>
        </p:nvSpPr>
        <p:spPr>
          <a:xfrm>
            <a:off x="548640" y="2011680"/>
            <a:ext cx="352044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7" name="Shape 5"/>
          <p:cNvSpPr/>
          <p:nvPr/>
        </p:nvSpPr>
        <p:spPr>
          <a:xfrm>
            <a:off x="713232" y="2176272"/>
            <a:ext cx="201168" cy="201168"/>
          </a:xfrm>
          <a:prstGeom prst="ellipse">
            <a:avLst/>
          </a:prstGeom>
          <a:solidFill>
            <a:srgbClr val="FCD116"/>
          </a:solidFill>
          <a:ln/>
        </p:spPr>
      </p:sp>
      <p:sp>
        <p:nvSpPr>
          <p:cNvPr id="8" name="Text 6"/>
          <p:cNvSpPr/>
          <p:nvPr/>
        </p:nvSpPr>
        <p:spPr>
          <a:xfrm>
            <a:off x="713232" y="2414016"/>
            <a:ext cx="3191256"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Offline-First</a:t>
            </a:r>
            <a:endParaRPr lang="en-US" sz="1300" dirty="0"/>
          </a:p>
        </p:txBody>
      </p:sp>
      <p:sp>
        <p:nvSpPr>
          <p:cNvPr id="9" name="Text 7"/>
          <p:cNvSpPr/>
          <p:nvPr/>
        </p:nvSpPr>
        <p:spPr>
          <a:xfrm>
            <a:off x="713232" y="2724912"/>
            <a:ext cx="3191256"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Works completely without internet — saves locally, syncs automatically.</a:t>
            </a:r>
            <a:endParaRPr lang="en-US" sz="1000" dirty="0"/>
          </a:p>
        </p:txBody>
      </p:sp>
      <p:sp>
        <p:nvSpPr>
          <p:cNvPr id="10" name="Shape 8"/>
          <p:cNvSpPr/>
          <p:nvPr/>
        </p:nvSpPr>
        <p:spPr>
          <a:xfrm>
            <a:off x="4325112" y="2011680"/>
            <a:ext cx="352044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1" name="Shape 9"/>
          <p:cNvSpPr/>
          <p:nvPr/>
        </p:nvSpPr>
        <p:spPr>
          <a:xfrm>
            <a:off x="4489704" y="2176272"/>
            <a:ext cx="201168" cy="201168"/>
          </a:xfrm>
          <a:prstGeom prst="ellipse">
            <a:avLst/>
          </a:prstGeom>
          <a:solidFill>
            <a:srgbClr val="FCD116"/>
          </a:solidFill>
          <a:ln/>
        </p:spPr>
      </p:sp>
      <p:sp>
        <p:nvSpPr>
          <p:cNvPr id="12" name="Text 10"/>
          <p:cNvSpPr/>
          <p:nvPr/>
        </p:nvSpPr>
        <p:spPr>
          <a:xfrm>
            <a:off x="4489704" y="2414016"/>
            <a:ext cx="3191256"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AI-Powered Risk Assessment</a:t>
            </a:r>
            <a:endParaRPr lang="en-US" sz="1300" dirty="0"/>
          </a:p>
        </p:txBody>
      </p:sp>
      <p:sp>
        <p:nvSpPr>
          <p:cNvPr id="13" name="Text 11"/>
          <p:cNvSpPr/>
          <p:nvPr/>
        </p:nvSpPr>
        <p:spPr>
          <a:xfrm>
            <a:off x="4489704" y="2724912"/>
            <a:ext cx="3191256"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Instantly calculates accurate risk scores from vitals and symptoms.</a:t>
            </a:r>
            <a:endParaRPr lang="en-US" sz="1000" dirty="0"/>
          </a:p>
        </p:txBody>
      </p:sp>
      <p:sp>
        <p:nvSpPr>
          <p:cNvPr id="14" name="Shape 12"/>
          <p:cNvSpPr/>
          <p:nvPr/>
        </p:nvSpPr>
        <p:spPr>
          <a:xfrm>
            <a:off x="8101584" y="2011680"/>
            <a:ext cx="352044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5" name="Shape 13"/>
          <p:cNvSpPr/>
          <p:nvPr/>
        </p:nvSpPr>
        <p:spPr>
          <a:xfrm>
            <a:off x="8266176" y="2176272"/>
            <a:ext cx="201168" cy="201168"/>
          </a:xfrm>
          <a:prstGeom prst="ellipse">
            <a:avLst/>
          </a:prstGeom>
          <a:solidFill>
            <a:srgbClr val="FCD116"/>
          </a:solidFill>
          <a:ln/>
        </p:spPr>
      </p:sp>
      <p:sp>
        <p:nvSpPr>
          <p:cNvPr id="16" name="Text 14"/>
          <p:cNvSpPr/>
          <p:nvPr/>
        </p:nvSpPr>
        <p:spPr>
          <a:xfrm>
            <a:off x="8266176" y="2414016"/>
            <a:ext cx="3191256"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Automated Referrals</a:t>
            </a:r>
            <a:endParaRPr lang="en-US" sz="1300" dirty="0"/>
          </a:p>
        </p:txBody>
      </p:sp>
      <p:sp>
        <p:nvSpPr>
          <p:cNvPr id="17" name="Text 15"/>
          <p:cNvSpPr/>
          <p:nvPr/>
        </p:nvSpPr>
        <p:spPr>
          <a:xfrm>
            <a:off x="8266176" y="2724912"/>
            <a:ext cx="3191256"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Sends SMS alerts to facilities and family elders for High/Emergency cases.</a:t>
            </a:r>
            <a:endParaRPr lang="en-US" sz="1000" dirty="0"/>
          </a:p>
        </p:txBody>
      </p:sp>
      <p:sp>
        <p:nvSpPr>
          <p:cNvPr id="18" name="Shape 16"/>
          <p:cNvSpPr/>
          <p:nvPr/>
        </p:nvSpPr>
        <p:spPr>
          <a:xfrm>
            <a:off x="548640" y="3657600"/>
            <a:ext cx="352044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9" name="Shape 17"/>
          <p:cNvSpPr/>
          <p:nvPr/>
        </p:nvSpPr>
        <p:spPr>
          <a:xfrm>
            <a:off x="713232" y="3822192"/>
            <a:ext cx="201168" cy="201168"/>
          </a:xfrm>
          <a:prstGeom prst="ellipse">
            <a:avLst/>
          </a:prstGeom>
          <a:solidFill>
            <a:srgbClr val="FCD116"/>
          </a:solidFill>
          <a:ln/>
        </p:spPr>
      </p:sp>
      <p:sp>
        <p:nvSpPr>
          <p:cNvPr id="20" name="Text 18"/>
          <p:cNvSpPr/>
          <p:nvPr/>
        </p:nvSpPr>
        <p:spPr>
          <a:xfrm>
            <a:off x="713232" y="4059936"/>
            <a:ext cx="3191256"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Three Screening Modules</a:t>
            </a:r>
            <a:endParaRPr lang="en-US" sz="1300" dirty="0"/>
          </a:p>
        </p:txBody>
      </p:sp>
      <p:sp>
        <p:nvSpPr>
          <p:cNvPr id="21" name="Text 19"/>
          <p:cNvSpPr/>
          <p:nvPr/>
        </p:nvSpPr>
        <p:spPr>
          <a:xfrm>
            <a:off x="713232" y="4370832"/>
            <a:ext cx="3191256"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Antenatal Care, NutriCheck (malnutrition), and Sickle Cell Disease.</a:t>
            </a:r>
            <a:endParaRPr lang="en-US" sz="1000" dirty="0"/>
          </a:p>
        </p:txBody>
      </p:sp>
      <p:sp>
        <p:nvSpPr>
          <p:cNvPr id="22" name="Shape 20"/>
          <p:cNvSpPr/>
          <p:nvPr/>
        </p:nvSpPr>
        <p:spPr>
          <a:xfrm>
            <a:off x="4325112" y="3657600"/>
            <a:ext cx="352044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23" name="Shape 21"/>
          <p:cNvSpPr/>
          <p:nvPr/>
        </p:nvSpPr>
        <p:spPr>
          <a:xfrm>
            <a:off x="4489704" y="3822192"/>
            <a:ext cx="201168" cy="201168"/>
          </a:xfrm>
          <a:prstGeom prst="ellipse">
            <a:avLst/>
          </a:prstGeom>
          <a:solidFill>
            <a:srgbClr val="FCD116"/>
          </a:solidFill>
          <a:ln/>
        </p:spPr>
      </p:sp>
      <p:sp>
        <p:nvSpPr>
          <p:cNvPr id="24" name="Text 22"/>
          <p:cNvSpPr/>
          <p:nvPr/>
        </p:nvSpPr>
        <p:spPr>
          <a:xfrm>
            <a:off x="4489704" y="4059936"/>
            <a:ext cx="3191256"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Admin Dashboard</a:t>
            </a:r>
            <a:endParaRPr lang="en-US" sz="1300" dirty="0"/>
          </a:p>
        </p:txBody>
      </p:sp>
      <p:sp>
        <p:nvSpPr>
          <p:cNvPr id="25" name="Text 23"/>
          <p:cNvSpPr/>
          <p:nvPr/>
        </p:nvSpPr>
        <p:spPr>
          <a:xfrm>
            <a:off x="4489704" y="4370832"/>
            <a:ext cx="3191256"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Secure web dashboard for supervisors to track alerts and performance.</a:t>
            </a:r>
            <a:endParaRPr lang="en-US" sz="1000" dirty="0"/>
          </a:p>
        </p:txBody>
      </p:sp>
      <p:sp>
        <p:nvSpPr>
          <p:cNvPr id="26" name="Shape 24"/>
          <p:cNvSpPr/>
          <p:nvPr/>
        </p:nvSpPr>
        <p:spPr>
          <a:xfrm>
            <a:off x="8101584" y="3657600"/>
            <a:ext cx="352044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27" name="Shape 25"/>
          <p:cNvSpPr/>
          <p:nvPr/>
        </p:nvSpPr>
        <p:spPr>
          <a:xfrm>
            <a:off x="8266176" y="3822192"/>
            <a:ext cx="201168" cy="201168"/>
          </a:xfrm>
          <a:prstGeom prst="ellipse">
            <a:avLst/>
          </a:prstGeom>
          <a:solidFill>
            <a:srgbClr val="FCD116"/>
          </a:solidFill>
          <a:ln/>
        </p:spPr>
      </p:sp>
      <p:sp>
        <p:nvSpPr>
          <p:cNvPr id="28" name="Text 26"/>
          <p:cNvSpPr/>
          <p:nvPr/>
        </p:nvSpPr>
        <p:spPr>
          <a:xfrm>
            <a:off x="8266176" y="4059936"/>
            <a:ext cx="3191256"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Data Sync</a:t>
            </a:r>
            <a:endParaRPr lang="en-US" sz="1300" dirty="0"/>
          </a:p>
        </p:txBody>
      </p:sp>
      <p:sp>
        <p:nvSpPr>
          <p:cNvPr id="29" name="Text 27"/>
          <p:cNvSpPr/>
          <p:nvPr/>
        </p:nvSpPr>
        <p:spPr>
          <a:xfrm>
            <a:off x="8266176" y="4370832"/>
            <a:ext cx="3191256"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Automatic background sync — no manual uploads required.</a:t>
            </a:r>
            <a:endParaRPr lang="en-US" sz="1000" dirty="0"/>
          </a:p>
        </p:txBody>
      </p:sp>
      <p:sp>
        <p:nvSpPr>
          <p:cNvPr id="30" name="Shape 28"/>
          <p:cNvSpPr/>
          <p:nvPr/>
        </p:nvSpPr>
        <p:spPr>
          <a:xfrm>
            <a:off x="548640" y="6080760"/>
            <a:ext cx="11091672" cy="457200"/>
          </a:xfrm>
          <a:prstGeom prst="roundRect">
            <a:avLst>
              <a:gd name="adj" fmla="val 14000"/>
            </a:avLst>
          </a:prstGeom>
          <a:solidFill>
            <a:srgbClr val="006B3F"/>
          </a:solidFill>
          <a:ln/>
        </p:spPr>
      </p:sp>
      <p:sp>
        <p:nvSpPr>
          <p:cNvPr id="31" name="Text 29"/>
          <p:cNvSpPr/>
          <p:nvPr/>
        </p:nvSpPr>
        <p:spPr>
          <a:xfrm>
            <a:off x="822960" y="6080760"/>
            <a:ext cx="105156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AnteScan reduces screening time from 15 minutes to under 2 minutes.</a:t>
            </a:r>
            <a:endParaRPr lang="en-US" sz="1250" dirty="0"/>
          </a:p>
        </p:txBody>
      </p:sp>
      <p:sp>
        <p:nvSpPr>
          <p:cNvPr id="32" name="Text 3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33" name="Text 3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CORE CAPABILITY</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AnteScan's Three Core Screening Modules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50" i="1" dirty="0">
                <a:solidFill>
                  <a:srgbClr val="5B6B62"/>
                </a:solidFill>
                <a:latin typeface="Calibri" pitchFamily="34" charset="0"/>
                <a:ea typeface="Calibri" pitchFamily="34" charset="-122"/>
                <a:cs typeface="Calibri" pitchFamily="34" charset="-120"/>
              </a:rPr>
              <a:t>AnteScan addresses three critical areas of primary healthcare, all working offline with instant results.</a:t>
            </a:r>
            <a:endParaRPr lang="en-US" sz="1250" dirty="0"/>
          </a:p>
        </p:txBody>
      </p:sp>
      <p:sp>
        <p:nvSpPr>
          <p:cNvPr id="6" name="Shape 4"/>
          <p:cNvSpPr/>
          <p:nvPr/>
        </p:nvSpPr>
        <p:spPr>
          <a:xfrm>
            <a:off x="548640" y="2011680"/>
            <a:ext cx="3566160" cy="3840480"/>
          </a:xfrm>
          <a:prstGeom prst="roundRect">
            <a:avLst>
              <a:gd name="adj" fmla="val 2308"/>
            </a:avLst>
          </a:prstGeom>
          <a:solidFill>
            <a:srgbClr val="FFFFFF"/>
          </a:solidFill>
          <a:ln w="12700">
            <a:solidFill>
              <a:srgbClr val="DCE5E0"/>
            </a:solidFill>
            <a:prstDash val="solid"/>
          </a:ln>
          <a:effectLst>
            <a:outerShdw sx="100000" sy="100000" kx="0" ky="0" algn="bl" rotWithShape="0" blurRad="88900" dist="38100" dir="2700000">
              <a:srgbClr val="1A1A1A">
                <a:alpha val="12000"/>
              </a:srgbClr>
            </a:outerShdw>
          </a:effectLst>
        </p:spPr>
      </p:sp>
      <p:sp>
        <p:nvSpPr>
          <p:cNvPr id="7" name="Shape 5"/>
          <p:cNvSpPr/>
          <p:nvPr/>
        </p:nvSpPr>
        <p:spPr>
          <a:xfrm>
            <a:off x="548640" y="2011680"/>
            <a:ext cx="3566160" cy="777240"/>
          </a:xfrm>
          <a:prstGeom prst="roundRect">
            <a:avLst>
              <a:gd name="adj" fmla="val 10588"/>
            </a:avLst>
          </a:prstGeom>
          <a:solidFill>
            <a:srgbClr val="006B3F"/>
          </a:solidFill>
          <a:ln/>
        </p:spPr>
      </p:sp>
      <p:sp>
        <p:nvSpPr>
          <p:cNvPr id="8" name="Shape 6"/>
          <p:cNvSpPr/>
          <p:nvPr/>
        </p:nvSpPr>
        <p:spPr>
          <a:xfrm>
            <a:off x="548640" y="2395728"/>
            <a:ext cx="3566160" cy="393192"/>
          </a:xfrm>
          <a:prstGeom prst="rect">
            <a:avLst/>
          </a:prstGeom>
          <a:solidFill>
            <a:srgbClr val="006B3F"/>
          </a:solidFill>
          <a:ln/>
        </p:spPr>
      </p:sp>
      <p:sp>
        <p:nvSpPr>
          <p:cNvPr id="9" name="Text 7"/>
          <p:cNvSpPr/>
          <p:nvPr/>
        </p:nvSpPr>
        <p:spPr>
          <a:xfrm>
            <a:off x="731520" y="2103120"/>
            <a:ext cx="3200400" cy="274320"/>
          </a:xfrm>
          <a:prstGeom prst="rect">
            <a:avLst/>
          </a:prstGeom>
          <a:noFill/>
          <a:ln/>
        </p:spPr>
        <p:txBody>
          <a:bodyPr wrap="square" lIns="0" tIns="0" rIns="0" bIns="0" rtlCol="0" anchor="ctr"/>
          <a:lstStyle/>
          <a:p>
            <a:pPr indent="0" marL="0">
              <a:buNone/>
            </a:pPr>
            <a:r>
              <a:rPr lang="en-US" sz="1100" b="1" spc="100" kern="0" dirty="0">
                <a:solidFill>
                  <a:srgbClr val="FCD116"/>
                </a:solidFill>
                <a:latin typeface="Calibri" pitchFamily="34" charset="0"/>
                <a:ea typeface="Calibri" pitchFamily="34" charset="-122"/>
                <a:cs typeface="Calibri" pitchFamily="34" charset="-120"/>
              </a:rPr>
              <a:t>Module 1</a:t>
            </a:r>
            <a:endParaRPr lang="en-US" sz="1100" dirty="0"/>
          </a:p>
        </p:txBody>
      </p:sp>
      <p:sp>
        <p:nvSpPr>
          <p:cNvPr id="10" name="Text 8"/>
          <p:cNvSpPr/>
          <p:nvPr/>
        </p:nvSpPr>
        <p:spPr>
          <a:xfrm>
            <a:off x="731520" y="2359152"/>
            <a:ext cx="3200400" cy="42062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Antenatal Care (ANC) Risk Screening</a:t>
            </a:r>
            <a:endParaRPr lang="en-US" sz="1450" dirty="0"/>
          </a:p>
        </p:txBody>
      </p:sp>
      <p:sp>
        <p:nvSpPr>
          <p:cNvPr id="11" name="Text 9"/>
          <p:cNvSpPr/>
          <p:nvPr/>
        </p:nvSpPr>
        <p:spPr>
          <a:xfrm>
            <a:off x="731520" y="2926080"/>
            <a:ext cx="3200400" cy="2743200"/>
          </a:xfrm>
          <a:prstGeom prst="rect">
            <a:avLst/>
          </a:prstGeom>
          <a:noFill/>
          <a:ln/>
        </p:spPr>
        <p:txBody>
          <a:bodyPr wrap="square" lIns="0" tIns="0" rIns="0" bIns="0" rtlCol="0" anchor="t"/>
          <a:lstStyle/>
          <a:p>
            <a:pPr indent="0" marL="0">
              <a:buNone/>
            </a:pPr>
            <a:r>
              <a:rPr lang="en-US" sz="1050" b="1" dirty="0">
                <a:solidFill>
                  <a:srgbClr val="006B3F"/>
                </a:solidFill>
                <a:latin typeface="Calibri" pitchFamily="34" charset="0"/>
                <a:ea typeface="Calibri" pitchFamily="34" charset="-122"/>
                <a:cs typeface="Calibri" pitchFamily="34" charset="-120"/>
              </a:rPr>
              <a:t>What: </a:t>
            </a:r>
            <a:pPr indent="0" marL="0">
              <a:buNone/>
            </a:pPr>
            <a:r>
              <a:rPr lang="en-US" sz="1050" dirty="0">
                <a:solidFill>
                  <a:srgbClr val="1A1A1A"/>
                </a:solidFill>
                <a:latin typeface="Calibri" pitchFamily="34" charset="0"/>
                <a:ea typeface="Calibri" pitchFamily="34" charset="-122"/>
                <a:cs typeface="Calibri" pitchFamily="34" charset="-120"/>
              </a:rPr>
              <a:t>Classifies pregnant women into 4 risk levels: Low, Moderate, High, Emergency.</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006B3F"/>
                </a:solidFill>
                <a:latin typeface="Calibri" pitchFamily="34" charset="0"/>
                <a:ea typeface="Calibri" pitchFamily="34" charset="-122"/>
                <a:cs typeface="Calibri" pitchFamily="34" charset="-120"/>
              </a:rPr>
              <a:t>How: </a:t>
            </a:r>
            <a:pPr indent="0" marL="0">
              <a:buNone/>
            </a:pPr>
            <a:r>
              <a:rPr lang="en-US" sz="1050" dirty="0">
                <a:solidFill>
                  <a:srgbClr val="1A1A1A"/>
                </a:solidFill>
                <a:latin typeface="Calibri" pitchFamily="34" charset="0"/>
                <a:ea typeface="Calibri" pitchFamily="34" charset="-122"/>
                <a:cs typeface="Calibri" pitchFamily="34" charset="-120"/>
              </a:rPr>
              <a:t>Vital signs + symptom checklist processed by AI + clinical safety net.</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006B3F"/>
                </a:solidFill>
                <a:latin typeface="Calibri" pitchFamily="34" charset="0"/>
                <a:ea typeface="Calibri" pitchFamily="34" charset="-122"/>
                <a:cs typeface="Calibri" pitchFamily="34" charset="-120"/>
              </a:rPr>
              <a:t>Why: </a:t>
            </a:r>
            <a:pPr indent="0" marL="0">
              <a:buNone/>
            </a:pPr>
            <a:r>
              <a:rPr lang="en-US" sz="1050" dirty="0">
                <a:solidFill>
                  <a:srgbClr val="1A1A1A"/>
                </a:solidFill>
                <a:latin typeface="Calibri" pitchFamily="34" charset="0"/>
                <a:ea typeface="Calibri" pitchFamily="34" charset="-122"/>
                <a:cs typeface="Calibri" pitchFamily="34" charset="-120"/>
              </a:rPr>
              <a:t>Pre-eclampsia and other complications caught early.</a:t>
            </a:r>
            <a:endParaRPr lang="en-US" sz="1050" dirty="0"/>
          </a:p>
        </p:txBody>
      </p:sp>
      <p:sp>
        <p:nvSpPr>
          <p:cNvPr id="12" name="Shape 10"/>
          <p:cNvSpPr/>
          <p:nvPr/>
        </p:nvSpPr>
        <p:spPr>
          <a:xfrm>
            <a:off x="4315968" y="2011680"/>
            <a:ext cx="3566160" cy="3840480"/>
          </a:xfrm>
          <a:prstGeom prst="roundRect">
            <a:avLst>
              <a:gd name="adj" fmla="val 2308"/>
            </a:avLst>
          </a:prstGeom>
          <a:solidFill>
            <a:srgbClr val="FFFFFF"/>
          </a:solidFill>
          <a:ln w="12700">
            <a:solidFill>
              <a:srgbClr val="DCE5E0"/>
            </a:solidFill>
            <a:prstDash val="solid"/>
          </a:ln>
          <a:effectLst>
            <a:outerShdw sx="100000" sy="100000" kx="0" ky="0" algn="bl" rotWithShape="0" blurRad="88900" dist="38100" dir="2700000">
              <a:srgbClr val="1A1A1A">
                <a:alpha val="12000"/>
              </a:srgbClr>
            </a:outerShdw>
          </a:effectLst>
        </p:spPr>
      </p:sp>
      <p:sp>
        <p:nvSpPr>
          <p:cNvPr id="13" name="Shape 11"/>
          <p:cNvSpPr/>
          <p:nvPr/>
        </p:nvSpPr>
        <p:spPr>
          <a:xfrm>
            <a:off x="4315968" y="2011680"/>
            <a:ext cx="3566160" cy="777240"/>
          </a:xfrm>
          <a:prstGeom prst="roundRect">
            <a:avLst>
              <a:gd name="adj" fmla="val 10588"/>
            </a:avLst>
          </a:prstGeom>
          <a:solidFill>
            <a:srgbClr val="00381F"/>
          </a:solidFill>
          <a:ln/>
        </p:spPr>
      </p:sp>
      <p:sp>
        <p:nvSpPr>
          <p:cNvPr id="14" name="Shape 12"/>
          <p:cNvSpPr/>
          <p:nvPr/>
        </p:nvSpPr>
        <p:spPr>
          <a:xfrm>
            <a:off x="4315968" y="2395728"/>
            <a:ext cx="3566160" cy="393192"/>
          </a:xfrm>
          <a:prstGeom prst="rect">
            <a:avLst/>
          </a:prstGeom>
          <a:solidFill>
            <a:srgbClr val="00381F"/>
          </a:solidFill>
          <a:ln/>
        </p:spPr>
      </p:sp>
      <p:sp>
        <p:nvSpPr>
          <p:cNvPr id="15" name="Text 13"/>
          <p:cNvSpPr/>
          <p:nvPr/>
        </p:nvSpPr>
        <p:spPr>
          <a:xfrm>
            <a:off x="4498848" y="2103120"/>
            <a:ext cx="3200400" cy="274320"/>
          </a:xfrm>
          <a:prstGeom prst="rect">
            <a:avLst/>
          </a:prstGeom>
          <a:noFill/>
          <a:ln/>
        </p:spPr>
        <p:txBody>
          <a:bodyPr wrap="square" lIns="0" tIns="0" rIns="0" bIns="0" rtlCol="0" anchor="ctr"/>
          <a:lstStyle/>
          <a:p>
            <a:pPr indent="0" marL="0">
              <a:buNone/>
            </a:pPr>
            <a:r>
              <a:rPr lang="en-US" sz="1100" b="1" spc="100" kern="0" dirty="0">
                <a:solidFill>
                  <a:srgbClr val="FCD116"/>
                </a:solidFill>
                <a:latin typeface="Calibri" pitchFamily="34" charset="0"/>
                <a:ea typeface="Calibri" pitchFamily="34" charset="-122"/>
                <a:cs typeface="Calibri" pitchFamily="34" charset="-120"/>
              </a:rPr>
              <a:t>Module 2</a:t>
            </a:r>
            <a:endParaRPr lang="en-US" sz="1100" dirty="0"/>
          </a:p>
        </p:txBody>
      </p:sp>
      <p:sp>
        <p:nvSpPr>
          <p:cNvPr id="16" name="Text 14"/>
          <p:cNvSpPr/>
          <p:nvPr/>
        </p:nvSpPr>
        <p:spPr>
          <a:xfrm>
            <a:off x="4498848" y="2359152"/>
            <a:ext cx="3200400" cy="42062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NutriCheck — Child Malnutrition</a:t>
            </a:r>
            <a:endParaRPr lang="en-US" sz="1450" dirty="0"/>
          </a:p>
        </p:txBody>
      </p:sp>
      <p:sp>
        <p:nvSpPr>
          <p:cNvPr id="17" name="Text 15"/>
          <p:cNvSpPr/>
          <p:nvPr/>
        </p:nvSpPr>
        <p:spPr>
          <a:xfrm>
            <a:off x="4498848" y="2926080"/>
            <a:ext cx="3200400" cy="2743200"/>
          </a:xfrm>
          <a:prstGeom prst="rect">
            <a:avLst/>
          </a:prstGeom>
          <a:noFill/>
          <a:ln/>
        </p:spPr>
        <p:txBody>
          <a:bodyPr wrap="square" lIns="0" tIns="0" rIns="0" bIns="0" rtlCol="0" anchor="t"/>
          <a:lstStyle/>
          <a:p>
            <a:pPr indent="0" marL="0">
              <a:buNone/>
            </a:pPr>
            <a:r>
              <a:rPr lang="en-US" sz="1050" b="1" dirty="0">
                <a:solidFill>
                  <a:srgbClr val="00381F"/>
                </a:solidFill>
                <a:latin typeface="Calibri" pitchFamily="34" charset="0"/>
                <a:ea typeface="Calibri" pitchFamily="34" charset="-122"/>
                <a:cs typeface="Calibri" pitchFamily="34" charset="-120"/>
              </a:rPr>
              <a:t>What: </a:t>
            </a:r>
            <a:pPr indent="0" marL="0">
              <a:buNone/>
            </a:pPr>
            <a:r>
              <a:rPr lang="en-US" sz="1050" dirty="0">
                <a:solidFill>
                  <a:srgbClr val="1A1A1A"/>
                </a:solidFill>
                <a:latin typeface="Calibri" pitchFamily="34" charset="0"/>
                <a:ea typeface="Calibri" pitchFamily="34" charset="-122"/>
                <a:cs typeface="Calibri" pitchFamily="34" charset="-120"/>
              </a:rPr>
              <a:t>Classifies children under five: Normal, MAM, or SAM.</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00381F"/>
                </a:solidFill>
                <a:latin typeface="Calibri" pitchFamily="34" charset="0"/>
                <a:ea typeface="Calibri" pitchFamily="34" charset="-122"/>
                <a:cs typeface="Calibri" pitchFamily="34" charset="-120"/>
              </a:rPr>
              <a:t>How: </a:t>
            </a:r>
            <a:pPr indent="0" marL="0">
              <a:buNone/>
            </a:pPr>
            <a:r>
              <a:rPr lang="en-US" sz="1050" dirty="0">
                <a:solidFill>
                  <a:srgbClr val="1A1A1A"/>
                </a:solidFill>
                <a:latin typeface="Calibri" pitchFamily="34" charset="0"/>
                <a:ea typeface="Calibri" pitchFamily="34" charset="-122"/>
                <a:cs typeface="Calibri" pitchFamily="34" charset="-120"/>
              </a:rPr>
              <a:t>Age, weight, height, MUAC used to calculate WHO Z-scores.</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00381F"/>
                </a:solidFill>
                <a:latin typeface="Calibri" pitchFamily="34" charset="0"/>
                <a:ea typeface="Calibri" pitchFamily="34" charset="-122"/>
                <a:cs typeface="Calibri" pitchFamily="34" charset="-120"/>
              </a:rPr>
              <a:t>Why: </a:t>
            </a:r>
            <a:pPr indent="0" marL="0">
              <a:buNone/>
            </a:pPr>
            <a:r>
              <a:rPr lang="en-US" sz="1050" dirty="0">
                <a:solidFill>
                  <a:srgbClr val="1A1A1A"/>
                </a:solidFill>
                <a:latin typeface="Calibri" pitchFamily="34" charset="0"/>
                <a:ea typeface="Calibri" pitchFamily="34" charset="-122"/>
                <a:cs typeface="Calibri" pitchFamily="34" charset="-120"/>
              </a:rPr>
              <a:t>SAM/MAM cases receive prompt nutritional intervention.</a:t>
            </a:r>
            <a:endParaRPr lang="en-US" sz="1050" dirty="0"/>
          </a:p>
        </p:txBody>
      </p:sp>
      <p:sp>
        <p:nvSpPr>
          <p:cNvPr id="18" name="Shape 16"/>
          <p:cNvSpPr/>
          <p:nvPr/>
        </p:nvSpPr>
        <p:spPr>
          <a:xfrm>
            <a:off x="8083296" y="2011680"/>
            <a:ext cx="3566160" cy="3840480"/>
          </a:xfrm>
          <a:prstGeom prst="roundRect">
            <a:avLst>
              <a:gd name="adj" fmla="val 2308"/>
            </a:avLst>
          </a:prstGeom>
          <a:solidFill>
            <a:srgbClr val="FFFFFF"/>
          </a:solidFill>
          <a:ln w="12700">
            <a:solidFill>
              <a:srgbClr val="DCE5E0"/>
            </a:solidFill>
            <a:prstDash val="solid"/>
          </a:ln>
          <a:effectLst>
            <a:outerShdw sx="100000" sy="100000" kx="0" ky="0" algn="bl" rotWithShape="0" blurRad="88900" dist="38100" dir="2700000">
              <a:srgbClr val="1A1A1A">
                <a:alpha val="12000"/>
              </a:srgbClr>
            </a:outerShdw>
          </a:effectLst>
        </p:spPr>
      </p:sp>
      <p:sp>
        <p:nvSpPr>
          <p:cNvPr id="19" name="Shape 17"/>
          <p:cNvSpPr/>
          <p:nvPr/>
        </p:nvSpPr>
        <p:spPr>
          <a:xfrm>
            <a:off x="8083296" y="2011680"/>
            <a:ext cx="3566160" cy="777240"/>
          </a:xfrm>
          <a:prstGeom prst="roundRect">
            <a:avLst>
              <a:gd name="adj" fmla="val 10588"/>
            </a:avLst>
          </a:prstGeom>
          <a:solidFill>
            <a:srgbClr val="CE1126"/>
          </a:solidFill>
          <a:ln/>
        </p:spPr>
      </p:sp>
      <p:sp>
        <p:nvSpPr>
          <p:cNvPr id="20" name="Shape 18"/>
          <p:cNvSpPr/>
          <p:nvPr/>
        </p:nvSpPr>
        <p:spPr>
          <a:xfrm>
            <a:off x="8083296" y="2395728"/>
            <a:ext cx="3566160" cy="393192"/>
          </a:xfrm>
          <a:prstGeom prst="rect">
            <a:avLst/>
          </a:prstGeom>
          <a:solidFill>
            <a:srgbClr val="CE1126"/>
          </a:solidFill>
          <a:ln/>
        </p:spPr>
      </p:sp>
      <p:sp>
        <p:nvSpPr>
          <p:cNvPr id="21" name="Text 19"/>
          <p:cNvSpPr/>
          <p:nvPr/>
        </p:nvSpPr>
        <p:spPr>
          <a:xfrm>
            <a:off x="8266176" y="2103120"/>
            <a:ext cx="3200400" cy="274320"/>
          </a:xfrm>
          <a:prstGeom prst="rect">
            <a:avLst/>
          </a:prstGeom>
          <a:noFill/>
          <a:ln/>
        </p:spPr>
        <p:txBody>
          <a:bodyPr wrap="square" lIns="0" tIns="0" rIns="0" bIns="0" rtlCol="0" anchor="ctr"/>
          <a:lstStyle/>
          <a:p>
            <a:pPr indent="0" marL="0">
              <a:buNone/>
            </a:pPr>
            <a:r>
              <a:rPr lang="en-US" sz="1100" b="1" spc="100" kern="0" dirty="0">
                <a:solidFill>
                  <a:srgbClr val="FCD116"/>
                </a:solidFill>
                <a:latin typeface="Calibri" pitchFamily="34" charset="0"/>
                <a:ea typeface="Calibri" pitchFamily="34" charset="-122"/>
                <a:cs typeface="Calibri" pitchFamily="34" charset="-120"/>
              </a:rPr>
              <a:t>Module 3</a:t>
            </a:r>
            <a:endParaRPr lang="en-US" sz="1100" dirty="0"/>
          </a:p>
        </p:txBody>
      </p:sp>
      <p:sp>
        <p:nvSpPr>
          <p:cNvPr id="22" name="Text 20"/>
          <p:cNvSpPr/>
          <p:nvPr/>
        </p:nvSpPr>
        <p:spPr>
          <a:xfrm>
            <a:off x="8266176" y="2359152"/>
            <a:ext cx="3200400" cy="42062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Sickle Cell Disease Screening</a:t>
            </a:r>
            <a:endParaRPr lang="en-US" sz="1450" dirty="0"/>
          </a:p>
        </p:txBody>
      </p:sp>
      <p:sp>
        <p:nvSpPr>
          <p:cNvPr id="23" name="Text 21"/>
          <p:cNvSpPr/>
          <p:nvPr/>
        </p:nvSpPr>
        <p:spPr>
          <a:xfrm>
            <a:off x="8266176" y="2926080"/>
            <a:ext cx="3200400" cy="2743200"/>
          </a:xfrm>
          <a:prstGeom prst="rect">
            <a:avLst/>
          </a:prstGeom>
          <a:noFill/>
          <a:ln/>
        </p:spPr>
        <p:txBody>
          <a:bodyPr wrap="square" lIns="0" tIns="0" rIns="0" bIns="0" rtlCol="0" anchor="t"/>
          <a:lstStyle/>
          <a:p>
            <a:pPr indent="0" marL="0">
              <a:buNone/>
            </a:pPr>
            <a:r>
              <a:rPr lang="en-US" sz="1050" b="1" dirty="0">
                <a:solidFill>
                  <a:srgbClr val="CE1126"/>
                </a:solidFill>
                <a:latin typeface="Calibri" pitchFamily="34" charset="0"/>
                <a:ea typeface="Calibri" pitchFamily="34" charset="-122"/>
                <a:cs typeface="Calibri" pitchFamily="34" charset="-120"/>
              </a:rPr>
              <a:t>What: </a:t>
            </a:r>
            <a:pPr indent="0" marL="0">
              <a:buNone/>
            </a:pPr>
            <a:r>
              <a:rPr lang="en-US" sz="1050" dirty="0">
                <a:solidFill>
                  <a:srgbClr val="1A1A1A"/>
                </a:solidFill>
                <a:latin typeface="Calibri" pitchFamily="34" charset="0"/>
                <a:ea typeface="Calibri" pitchFamily="34" charset="-122"/>
                <a:cs typeface="Calibri" pitchFamily="34" charset="-120"/>
              </a:rPr>
              <a:t>Screens using clinical signs and symptoms.</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CE1126"/>
                </a:solidFill>
                <a:latin typeface="Calibri" pitchFamily="34" charset="0"/>
                <a:ea typeface="Calibri" pitchFamily="34" charset="-122"/>
                <a:cs typeface="Calibri" pitchFamily="34" charset="-120"/>
              </a:rPr>
              <a:t>How: </a:t>
            </a:r>
            <a:pPr indent="0" marL="0">
              <a:buNone/>
            </a:pPr>
            <a:r>
              <a:rPr lang="en-US" sz="1050" dirty="0">
                <a:solidFill>
                  <a:srgbClr val="1A1A1A"/>
                </a:solidFill>
                <a:latin typeface="Calibri" pitchFamily="34" charset="0"/>
                <a:ea typeface="Calibri" pitchFamily="34" charset="-122"/>
                <a:cs typeface="Calibri" pitchFamily="34" charset="-120"/>
              </a:rPr>
              <a:t>Joint pain, jaundice, pale palms, dactylitis, infections, family history assessed.</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CE1126"/>
                </a:solidFill>
                <a:latin typeface="Calibri" pitchFamily="34" charset="0"/>
                <a:ea typeface="Calibri" pitchFamily="34" charset="-122"/>
                <a:cs typeface="Calibri" pitchFamily="34" charset="-120"/>
              </a:rPr>
              <a:t>Why: </a:t>
            </a:r>
            <a:pPr indent="0" marL="0">
              <a:buNone/>
            </a:pPr>
            <a:r>
              <a:rPr lang="en-US" sz="1050" dirty="0">
                <a:solidFill>
                  <a:srgbClr val="1A1A1A"/>
                </a:solidFill>
                <a:latin typeface="Calibri" pitchFamily="34" charset="0"/>
                <a:ea typeface="Calibri" pitchFamily="34" charset="-122"/>
                <a:cs typeface="Calibri" pitchFamily="34" charset="-120"/>
              </a:rPr>
              <a:t>Ghana has one of the highest SCD burdens in the world.</a:t>
            </a:r>
            <a:endParaRPr lang="en-US" sz="105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ANC Risk Screening — How It Works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The Antenatal Care module provides a clear, actionable risk assessment that guides the CHW's next steps.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1554480"/>
                <a:gridCol w="4572000"/>
                <a:gridCol w="496519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Risk Level</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Clinical Meaning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Recommended Action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significant risk factors; pregnancy progressing normally.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Continue routine ANC; schedule next visit per national guidelines.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Some risk factors present (e.g. elevated BP, limited ANC visits).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Follow-up within 7 days; additional health education; monitor closely.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Significant risk indicators identified; needs urgent attention.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Refer to nearest facility within 24 hours — facility alerted by SMS.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Emergency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Life-threatening condition detected.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Call ambulance (dial 193); SMS alerts sent to facility and family elder.</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7" name="Text 4"/>
          <p:cNvSpPr/>
          <p:nvPr/>
        </p:nvSpPr>
        <p:spPr>
          <a:xfrm>
            <a:off x="548640" y="4160520"/>
            <a:ext cx="11064240" cy="32004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Hybrid Approach: AI Prediction + Clinical Safety Net = Patient Safety</a:t>
            </a:r>
            <a:endParaRPr lang="en-US" sz="1300" dirty="0"/>
          </a:p>
        </p:txBody>
      </p:sp>
      <p:sp>
        <p:nvSpPr>
          <p:cNvPr id="8" name="Shape 5"/>
          <p:cNvSpPr/>
          <p:nvPr/>
        </p:nvSpPr>
        <p:spPr>
          <a:xfrm>
            <a:off x="548640" y="4572000"/>
            <a:ext cx="3611880" cy="1600200"/>
          </a:xfrm>
          <a:prstGeom prst="roundRect">
            <a:avLst>
              <a:gd name="adj" fmla="val 4571"/>
            </a:avLst>
          </a:prstGeom>
          <a:solidFill>
            <a:srgbClr val="F4F8F5"/>
          </a:solidFill>
          <a:ln/>
          <a:effectLst>
            <a:outerShdw sx="100000" sy="100000" kx="0" ky="0" algn="bl" rotWithShape="0" blurRad="88900" dist="38100" dir="2700000">
              <a:srgbClr val="1A1A1A">
                <a:alpha val="12000"/>
              </a:srgbClr>
            </a:outerShdw>
          </a:effectLst>
        </p:spPr>
      </p:sp>
      <p:sp>
        <p:nvSpPr>
          <p:cNvPr id="9" name="Text 6"/>
          <p:cNvSpPr/>
          <p:nvPr/>
        </p:nvSpPr>
        <p:spPr>
          <a:xfrm>
            <a:off x="713232" y="4709160"/>
            <a:ext cx="3282696" cy="36576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1. AI Prediction</a:t>
            </a:r>
            <a:endParaRPr lang="en-US" sz="1250" dirty="0"/>
          </a:p>
        </p:txBody>
      </p:sp>
      <p:sp>
        <p:nvSpPr>
          <p:cNvPr id="10" name="Text 7"/>
          <p:cNvSpPr/>
          <p:nvPr/>
        </p:nvSpPr>
        <p:spPr>
          <a:xfrm>
            <a:off x="713232" y="5102352"/>
            <a:ext cx="3282696" cy="9601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ML model processes vitals/symptoms and calculates a risk score &amp; level.</a:t>
            </a:r>
            <a:endParaRPr lang="en-US" sz="1050" dirty="0"/>
          </a:p>
        </p:txBody>
      </p:sp>
      <p:sp>
        <p:nvSpPr>
          <p:cNvPr id="11" name="Shape 8"/>
          <p:cNvSpPr/>
          <p:nvPr/>
        </p:nvSpPr>
        <p:spPr>
          <a:xfrm>
            <a:off x="4288536" y="4572000"/>
            <a:ext cx="3611880" cy="1600200"/>
          </a:xfrm>
          <a:prstGeom prst="roundRect">
            <a:avLst>
              <a:gd name="adj" fmla="val 4571"/>
            </a:avLst>
          </a:prstGeom>
          <a:solidFill>
            <a:srgbClr val="F4F8F5"/>
          </a:solidFill>
          <a:ln/>
          <a:effectLst>
            <a:outerShdw sx="100000" sy="100000" kx="0" ky="0" algn="bl" rotWithShape="0" blurRad="88900" dist="38100" dir="2700000">
              <a:srgbClr val="1A1A1A">
                <a:alpha val="12000"/>
              </a:srgbClr>
            </a:outerShdw>
          </a:effectLst>
        </p:spPr>
      </p:sp>
      <p:sp>
        <p:nvSpPr>
          <p:cNvPr id="12" name="Text 9"/>
          <p:cNvSpPr/>
          <p:nvPr/>
        </p:nvSpPr>
        <p:spPr>
          <a:xfrm>
            <a:off x="4453128" y="4709160"/>
            <a:ext cx="3282696" cy="36576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2. Safety Net Check</a:t>
            </a:r>
            <a:endParaRPr lang="en-US" sz="1250" dirty="0"/>
          </a:p>
        </p:txBody>
      </p:sp>
      <p:sp>
        <p:nvSpPr>
          <p:cNvPr id="13" name="Text 10"/>
          <p:cNvSpPr/>
          <p:nvPr/>
        </p:nvSpPr>
        <p:spPr>
          <a:xfrm>
            <a:off x="4453128" y="5102352"/>
            <a:ext cx="3282696" cy="9601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Danger signs (high BP, convulsions, headache+blurred vision, bleeding) checked.</a:t>
            </a:r>
            <a:endParaRPr lang="en-US" sz="1050" dirty="0"/>
          </a:p>
        </p:txBody>
      </p:sp>
      <p:sp>
        <p:nvSpPr>
          <p:cNvPr id="14" name="Shape 11"/>
          <p:cNvSpPr/>
          <p:nvPr/>
        </p:nvSpPr>
        <p:spPr>
          <a:xfrm>
            <a:off x="8028432" y="4572000"/>
            <a:ext cx="3611880" cy="1600200"/>
          </a:xfrm>
          <a:prstGeom prst="roundRect">
            <a:avLst>
              <a:gd name="adj" fmla="val 4571"/>
            </a:avLst>
          </a:prstGeom>
          <a:solidFill>
            <a:srgbClr val="F4F8F5"/>
          </a:solidFill>
          <a:ln/>
          <a:effectLst>
            <a:outerShdw sx="100000" sy="100000" kx="0" ky="0" algn="bl" rotWithShape="0" blurRad="88900" dist="38100" dir="2700000">
              <a:srgbClr val="1A1A1A">
                <a:alpha val="12000"/>
              </a:srgbClr>
            </a:outerShdw>
          </a:effectLst>
        </p:spPr>
      </p:sp>
      <p:sp>
        <p:nvSpPr>
          <p:cNvPr id="15" name="Text 12"/>
          <p:cNvSpPr/>
          <p:nvPr/>
        </p:nvSpPr>
        <p:spPr>
          <a:xfrm>
            <a:off x="8193024" y="4709160"/>
            <a:ext cx="3282696" cy="36576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3. Final Result</a:t>
            </a:r>
            <a:endParaRPr lang="en-US" sz="1250" dirty="0"/>
          </a:p>
        </p:txBody>
      </p:sp>
      <p:sp>
        <p:nvSpPr>
          <p:cNvPr id="16" name="Text 13"/>
          <p:cNvSpPr/>
          <p:nvPr/>
        </p:nvSpPr>
        <p:spPr>
          <a:xfrm>
            <a:off x="8193024" y="5102352"/>
            <a:ext cx="3282696" cy="9601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If a danger sign triggers, risk is raised to High/Emergency — never lowered.</a:t>
            </a:r>
            <a:endParaRPr lang="en-US" sz="1050" dirty="0"/>
          </a:p>
        </p:txBody>
      </p:sp>
      <p:sp>
        <p:nvSpPr>
          <p:cNvPr id="17"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18" name="Text 1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PATIENT SAFETY</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Clinical Safety Net</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45720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The safety net runs after the AI prediction and overrides it whenever danger signs are present — ensuring patient safety is never compromised.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914400"/>
        </p:xfrm>
        <a:graphic>
          <a:graphicData uri="http://schemas.openxmlformats.org/drawingml/2006/table">
            <a:tbl>
              <a:tblPr/>
              <a:tblGrid>
                <a:gridCol w="2743200"/>
                <a:gridCol w="2743200"/>
                <a:gridCol w="560527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Clinical Indicator</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CE1126"/>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Action Taken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CE1126"/>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This Rule Exists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CE1126"/>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BP ≥ 160/110 mmHg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Forced to Emergency (score ≥ 80)</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Severe hypertension is a leading cause of maternal mortality — stroke, seizures, abruption risk.</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Convulsions (Seizures)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Forced to Emergency (score ≥ 90)</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 sign of eclampsia — a life-threatening emergency requiring immediate intervention.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Headache + Blurred Vision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Forced to High Risk (score ≥ 75)</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Classic warning sign that pre-eclampsia may be progressing to a severe stage.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Vaginal Bleeding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Forced to High Risk (score ≥ 70)</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Can indicate placenta previa or abruption — both obstetric emergencies.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7" name="Shape 4"/>
          <p:cNvSpPr/>
          <p:nvPr/>
        </p:nvSpPr>
        <p:spPr>
          <a:xfrm>
            <a:off x="548640" y="5989320"/>
            <a:ext cx="11091672" cy="502920"/>
          </a:xfrm>
          <a:prstGeom prst="roundRect">
            <a:avLst>
              <a:gd name="adj" fmla="val 12727"/>
            </a:avLst>
          </a:prstGeom>
          <a:solidFill>
            <a:srgbClr val="00381F"/>
          </a:solidFill>
          <a:ln/>
        </p:spPr>
      </p:sp>
      <p:sp>
        <p:nvSpPr>
          <p:cNvPr id="8" name="Text 5"/>
          <p:cNvSpPr/>
          <p:nvPr/>
        </p:nvSpPr>
        <p:spPr>
          <a:xfrm>
            <a:off x="822960" y="5989320"/>
            <a:ext cx="105156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Result: No emergency case is ever missed.</a:t>
            </a:r>
            <a:endParaRPr lang="en-US" sz="130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NutriCheck — How It Works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Screens children under five for malnutrition using World Health Organization growth standards.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103120"/>
                <a:gridCol w="4480560"/>
                <a:gridCol w="450799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Classification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Clinical Meaning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Recommended Action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Normal</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Growth metrics fall within healthy range for age/sex.</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Routine growth monitoring; dietary advice; regular check-ups.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MAM (Moderate)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Low weight-for-age or MUAC below normal threshold.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Enroll in supplementary feeding; weekly monitoring; caregiver education.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SAM (Severe)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Severely malnourished — high risk of death; clinical emergency.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Immediate referral to therapeutic feeding/stabilization center; SMS alert sent.</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3794760"/>
            <a:ext cx="5486400" cy="27432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Uses WHO Child Growth Standards:</a:t>
            </a:r>
            <a:endParaRPr lang="en-US" sz="1250" dirty="0"/>
          </a:p>
        </p:txBody>
      </p:sp>
      <p:sp>
        <p:nvSpPr>
          <p:cNvPr id="8" name="Shape 5"/>
          <p:cNvSpPr/>
          <p:nvPr/>
        </p:nvSpPr>
        <p:spPr>
          <a:xfrm>
            <a:off x="548640" y="4160520"/>
            <a:ext cx="361188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9" name="Text 6"/>
          <p:cNvSpPr/>
          <p:nvPr/>
        </p:nvSpPr>
        <p:spPr>
          <a:xfrm>
            <a:off x="713232" y="4270248"/>
            <a:ext cx="3282696" cy="365760"/>
          </a:xfrm>
          <a:prstGeom prst="rect">
            <a:avLst/>
          </a:prstGeom>
          <a:noFill/>
          <a:ln/>
        </p:spPr>
        <p:txBody>
          <a:bodyPr wrap="square" lIns="0" tIns="0" rIns="0" bIns="0" rtlCol="0" anchor="ctr"/>
          <a:lstStyle/>
          <a:p>
            <a:pPr indent="0" marL="0">
              <a:buNone/>
            </a:pPr>
            <a:r>
              <a:rPr lang="en-US" sz="1800" b="1" dirty="0">
                <a:solidFill>
                  <a:srgbClr val="006B3F"/>
                </a:solidFill>
                <a:latin typeface="Cambria" pitchFamily="34" charset="0"/>
                <a:ea typeface="Cambria" pitchFamily="34" charset="-122"/>
                <a:cs typeface="Cambria" pitchFamily="34" charset="-120"/>
              </a:rPr>
              <a:t>WAZ</a:t>
            </a:r>
            <a:endParaRPr lang="en-US" sz="1800" dirty="0"/>
          </a:p>
        </p:txBody>
      </p:sp>
      <p:sp>
        <p:nvSpPr>
          <p:cNvPr id="10" name="Text 7"/>
          <p:cNvSpPr/>
          <p:nvPr/>
        </p:nvSpPr>
        <p:spPr>
          <a:xfrm>
            <a:off x="713232" y="4663440"/>
            <a:ext cx="3282696" cy="25603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Weight-for-Age</a:t>
            </a:r>
            <a:endParaRPr lang="en-US" sz="1100" dirty="0"/>
          </a:p>
        </p:txBody>
      </p:sp>
      <p:sp>
        <p:nvSpPr>
          <p:cNvPr id="11" name="Text 8"/>
          <p:cNvSpPr/>
          <p:nvPr/>
        </p:nvSpPr>
        <p:spPr>
          <a:xfrm>
            <a:off x="713232" y="4937760"/>
            <a:ext cx="3282696" cy="41148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Is the child underweight for their age?</a:t>
            </a:r>
            <a:endParaRPr lang="en-US" sz="1000" dirty="0"/>
          </a:p>
        </p:txBody>
      </p:sp>
      <p:sp>
        <p:nvSpPr>
          <p:cNvPr id="12" name="Shape 9"/>
          <p:cNvSpPr/>
          <p:nvPr/>
        </p:nvSpPr>
        <p:spPr>
          <a:xfrm>
            <a:off x="4288536" y="4160520"/>
            <a:ext cx="361188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13" name="Text 10"/>
          <p:cNvSpPr/>
          <p:nvPr/>
        </p:nvSpPr>
        <p:spPr>
          <a:xfrm>
            <a:off x="4453128" y="4270248"/>
            <a:ext cx="3282696" cy="365760"/>
          </a:xfrm>
          <a:prstGeom prst="rect">
            <a:avLst/>
          </a:prstGeom>
          <a:noFill/>
          <a:ln/>
        </p:spPr>
        <p:txBody>
          <a:bodyPr wrap="square" lIns="0" tIns="0" rIns="0" bIns="0" rtlCol="0" anchor="ctr"/>
          <a:lstStyle/>
          <a:p>
            <a:pPr indent="0" marL="0">
              <a:buNone/>
            </a:pPr>
            <a:r>
              <a:rPr lang="en-US" sz="1800" b="1" dirty="0">
                <a:solidFill>
                  <a:srgbClr val="006B3F"/>
                </a:solidFill>
                <a:latin typeface="Cambria" pitchFamily="34" charset="0"/>
                <a:ea typeface="Cambria" pitchFamily="34" charset="-122"/>
                <a:cs typeface="Cambria" pitchFamily="34" charset="-120"/>
              </a:rPr>
              <a:t>HAZ</a:t>
            </a:r>
            <a:endParaRPr lang="en-US" sz="1800" dirty="0"/>
          </a:p>
        </p:txBody>
      </p:sp>
      <p:sp>
        <p:nvSpPr>
          <p:cNvPr id="14" name="Text 11"/>
          <p:cNvSpPr/>
          <p:nvPr/>
        </p:nvSpPr>
        <p:spPr>
          <a:xfrm>
            <a:off x="4453128" y="4663440"/>
            <a:ext cx="3282696" cy="25603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Height-for-Age</a:t>
            </a:r>
            <a:endParaRPr lang="en-US" sz="1100" dirty="0"/>
          </a:p>
        </p:txBody>
      </p:sp>
      <p:sp>
        <p:nvSpPr>
          <p:cNvPr id="15" name="Text 12"/>
          <p:cNvSpPr/>
          <p:nvPr/>
        </p:nvSpPr>
        <p:spPr>
          <a:xfrm>
            <a:off x="4453128" y="4937760"/>
            <a:ext cx="3282696" cy="41148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Is the child stunted for their age?</a:t>
            </a:r>
            <a:endParaRPr lang="en-US" sz="1000" dirty="0"/>
          </a:p>
        </p:txBody>
      </p:sp>
      <p:sp>
        <p:nvSpPr>
          <p:cNvPr id="16" name="Shape 13"/>
          <p:cNvSpPr/>
          <p:nvPr/>
        </p:nvSpPr>
        <p:spPr>
          <a:xfrm>
            <a:off x="8028432" y="4160520"/>
            <a:ext cx="361188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17" name="Text 14"/>
          <p:cNvSpPr/>
          <p:nvPr/>
        </p:nvSpPr>
        <p:spPr>
          <a:xfrm>
            <a:off x="8193024" y="4270248"/>
            <a:ext cx="3282696" cy="365760"/>
          </a:xfrm>
          <a:prstGeom prst="rect">
            <a:avLst/>
          </a:prstGeom>
          <a:noFill/>
          <a:ln/>
        </p:spPr>
        <p:txBody>
          <a:bodyPr wrap="square" lIns="0" tIns="0" rIns="0" bIns="0" rtlCol="0" anchor="ctr"/>
          <a:lstStyle/>
          <a:p>
            <a:pPr indent="0" marL="0">
              <a:buNone/>
            </a:pPr>
            <a:r>
              <a:rPr lang="en-US" sz="1800" b="1" dirty="0">
                <a:solidFill>
                  <a:srgbClr val="006B3F"/>
                </a:solidFill>
                <a:latin typeface="Cambria" pitchFamily="34" charset="0"/>
                <a:ea typeface="Cambria" pitchFamily="34" charset="-122"/>
                <a:cs typeface="Cambria" pitchFamily="34" charset="-120"/>
              </a:rPr>
              <a:t>WHZ</a:t>
            </a:r>
            <a:endParaRPr lang="en-US" sz="1800" dirty="0"/>
          </a:p>
        </p:txBody>
      </p:sp>
      <p:sp>
        <p:nvSpPr>
          <p:cNvPr id="18" name="Text 15"/>
          <p:cNvSpPr/>
          <p:nvPr/>
        </p:nvSpPr>
        <p:spPr>
          <a:xfrm>
            <a:off x="8193024" y="4663440"/>
            <a:ext cx="3282696" cy="25603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Weight-for-Height</a:t>
            </a:r>
            <a:endParaRPr lang="en-US" sz="1100" dirty="0"/>
          </a:p>
        </p:txBody>
      </p:sp>
      <p:sp>
        <p:nvSpPr>
          <p:cNvPr id="19" name="Text 16"/>
          <p:cNvSpPr/>
          <p:nvPr/>
        </p:nvSpPr>
        <p:spPr>
          <a:xfrm>
            <a:off x="8193024" y="4937760"/>
            <a:ext cx="3282696" cy="41148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Is the child wasted for their height?</a:t>
            </a:r>
            <a:endParaRPr lang="en-US" sz="1000" dirty="0"/>
          </a:p>
        </p:txBody>
      </p:sp>
      <p:sp>
        <p:nvSpPr>
          <p:cNvPr id="20" name="Text 17"/>
          <p:cNvSpPr/>
          <p:nvPr/>
        </p:nvSpPr>
        <p:spPr>
          <a:xfrm>
            <a:off x="548640" y="5623560"/>
            <a:ext cx="11091672" cy="365760"/>
          </a:xfrm>
          <a:prstGeom prst="rect">
            <a:avLst/>
          </a:prstGeom>
          <a:noFill/>
          <a:ln/>
        </p:spPr>
        <p:txBody>
          <a:bodyPr wrap="square" lIns="0" tIns="0" rIns="0" bIns="0" rtlCol="0" anchor="ctr"/>
          <a:lstStyle/>
          <a:p>
            <a:pPr indent="0" marL="0">
              <a:buNone/>
            </a:pPr>
            <a:r>
              <a:rPr lang="en-US" sz="1100" i="1" dirty="0">
                <a:solidFill>
                  <a:srgbClr val="5B6B62"/>
                </a:solidFill>
                <a:latin typeface="Calibri" pitchFamily="34" charset="0"/>
                <a:ea typeface="Calibri" pitchFamily="34" charset="-122"/>
                <a:cs typeface="Calibri" pitchFamily="34" charset="-120"/>
              </a:rPr>
              <a:t>Calculation: CHW enters age, weight, height &amp; MUAC  →  App computes WAZ / HAZ / WHZ  →  AI classifies nutrition status</a:t>
            </a:r>
            <a:endParaRPr lang="en-US" sz="1100" dirty="0"/>
          </a:p>
        </p:txBody>
      </p:sp>
      <p:sp>
        <p:nvSpPr>
          <p:cNvPr id="21"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22"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Sickle Cell Disease Screening</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45720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Ghana has one of the highest burdens of Sickle Cell Disease in the world. Early detection is crucial for management and preventing childhood mortality.</a:t>
            </a:r>
            <a:endParaRPr lang="en-US" sz="1200" dirty="0"/>
          </a:p>
        </p:txBody>
      </p:sp>
      <p:sp>
        <p:nvSpPr>
          <p:cNvPr id="6" name="Shape 4"/>
          <p:cNvSpPr/>
          <p:nvPr/>
        </p:nvSpPr>
        <p:spPr>
          <a:xfrm>
            <a:off x="548640" y="2057400"/>
            <a:ext cx="356616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7" name="Shape 5"/>
          <p:cNvSpPr/>
          <p:nvPr/>
        </p:nvSpPr>
        <p:spPr>
          <a:xfrm>
            <a:off x="713232" y="2203704"/>
            <a:ext cx="182880" cy="182880"/>
          </a:xfrm>
          <a:prstGeom prst="ellipse">
            <a:avLst/>
          </a:prstGeom>
          <a:solidFill>
            <a:srgbClr val="CE1126"/>
          </a:solidFill>
          <a:ln/>
        </p:spPr>
      </p:sp>
      <p:sp>
        <p:nvSpPr>
          <p:cNvPr id="8" name="Text 6"/>
          <p:cNvSpPr/>
          <p:nvPr/>
        </p:nvSpPr>
        <p:spPr>
          <a:xfrm>
            <a:off x="713232" y="2423160"/>
            <a:ext cx="3236976"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Joint / Bone Pain</a:t>
            </a:r>
            <a:endParaRPr lang="en-US" sz="1200" dirty="0"/>
          </a:p>
        </p:txBody>
      </p:sp>
      <p:sp>
        <p:nvSpPr>
          <p:cNvPr id="9" name="Text 7"/>
          <p:cNvSpPr/>
          <p:nvPr/>
        </p:nvSpPr>
        <p:spPr>
          <a:xfrm>
            <a:off x="713232" y="2679192"/>
            <a:ext cx="3236976" cy="521208"/>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Often the first symptom; painful crises are a hallmark of SCD.</a:t>
            </a:r>
            <a:endParaRPr lang="en-US" sz="950" dirty="0"/>
          </a:p>
        </p:txBody>
      </p:sp>
      <p:sp>
        <p:nvSpPr>
          <p:cNvPr id="10" name="Shape 8"/>
          <p:cNvSpPr/>
          <p:nvPr/>
        </p:nvSpPr>
        <p:spPr>
          <a:xfrm>
            <a:off x="4315968" y="2057400"/>
            <a:ext cx="356616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11" name="Shape 9"/>
          <p:cNvSpPr/>
          <p:nvPr/>
        </p:nvSpPr>
        <p:spPr>
          <a:xfrm>
            <a:off x="4480560" y="2203704"/>
            <a:ext cx="182880" cy="182880"/>
          </a:xfrm>
          <a:prstGeom prst="ellipse">
            <a:avLst/>
          </a:prstGeom>
          <a:solidFill>
            <a:srgbClr val="CE1126"/>
          </a:solidFill>
          <a:ln/>
        </p:spPr>
      </p:sp>
      <p:sp>
        <p:nvSpPr>
          <p:cNvPr id="12" name="Text 10"/>
          <p:cNvSpPr/>
          <p:nvPr/>
        </p:nvSpPr>
        <p:spPr>
          <a:xfrm>
            <a:off x="4480560" y="2423160"/>
            <a:ext cx="3236976"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Jaundice</a:t>
            </a:r>
            <a:endParaRPr lang="en-US" sz="1200" dirty="0"/>
          </a:p>
        </p:txBody>
      </p:sp>
      <p:sp>
        <p:nvSpPr>
          <p:cNvPr id="13" name="Text 11"/>
          <p:cNvSpPr/>
          <p:nvPr/>
        </p:nvSpPr>
        <p:spPr>
          <a:xfrm>
            <a:off x="4480560" y="2679192"/>
            <a:ext cx="3236976" cy="521208"/>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Yellowing of eyes/skin from red blood cell breakdown — sign of active disease.</a:t>
            </a:r>
            <a:endParaRPr lang="en-US" sz="950" dirty="0"/>
          </a:p>
        </p:txBody>
      </p:sp>
      <p:sp>
        <p:nvSpPr>
          <p:cNvPr id="14" name="Shape 12"/>
          <p:cNvSpPr/>
          <p:nvPr/>
        </p:nvSpPr>
        <p:spPr>
          <a:xfrm>
            <a:off x="8083296" y="2057400"/>
            <a:ext cx="356616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15" name="Shape 13"/>
          <p:cNvSpPr/>
          <p:nvPr/>
        </p:nvSpPr>
        <p:spPr>
          <a:xfrm>
            <a:off x="8247888" y="2203704"/>
            <a:ext cx="182880" cy="182880"/>
          </a:xfrm>
          <a:prstGeom prst="ellipse">
            <a:avLst/>
          </a:prstGeom>
          <a:solidFill>
            <a:srgbClr val="CE1126"/>
          </a:solidFill>
          <a:ln/>
        </p:spPr>
      </p:sp>
      <p:sp>
        <p:nvSpPr>
          <p:cNvPr id="16" name="Text 14"/>
          <p:cNvSpPr/>
          <p:nvPr/>
        </p:nvSpPr>
        <p:spPr>
          <a:xfrm>
            <a:off x="8247888" y="2423160"/>
            <a:ext cx="3236976"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Pale Palms / Conjunctiva</a:t>
            </a:r>
            <a:endParaRPr lang="en-US" sz="1200" dirty="0"/>
          </a:p>
        </p:txBody>
      </p:sp>
      <p:sp>
        <p:nvSpPr>
          <p:cNvPr id="17" name="Text 15"/>
          <p:cNvSpPr/>
          <p:nvPr/>
        </p:nvSpPr>
        <p:spPr>
          <a:xfrm>
            <a:off x="8247888" y="2679192"/>
            <a:ext cx="3236976" cy="521208"/>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Sign of anemia, a constant feature of SCD; needs monitoring.</a:t>
            </a:r>
            <a:endParaRPr lang="en-US" sz="950" dirty="0"/>
          </a:p>
        </p:txBody>
      </p:sp>
      <p:sp>
        <p:nvSpPr>
          <p:cNvPr id="18" name="Shape 16"/>
          <p:cNvSpPr/>
          <p:nvPr/>
        </p:nvSpPr>
        <p:spPr>
          <a:xfrm>
            <a:off x="548640" y="3474720"/>
            <a:ext cx="356616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19" name="Shape 17"/>
          <p:cNvSpPr/>
          <p:nvPr/>
        </p:nvSpPr>
        <p:spPr>
          <a:xfrm>
            <a:off x="713232" y="3621024"/>
            <a:ext cx="182880" cy="182880"/>
          </a:xfrm>
          <a:prstGeom prst="ellipse">
            <a:avLst/>
          </a:prstGeom>
          <a:solidFill>
            <a:srgbClr val="CE1126"/>
          </a:solidFill>
          <a:ln/>
        </p:spPr>
      </p:sp>
      <p:sp>
        <p:nvSpPr>
          <p:cNvPr id="20" name="Text 18"/>
          <p:cNvSpPr/>
          <p:nvPr/>
        </p:nvSpPr>
        <p:spPr>
          <a:xfrm>
            <a:off x="713232" y="3840480"/>
            <a:ext cx="3236976"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Dactylitis</a:t>
            </a:r>
            <a:endParaRPr lang="en-US" sz="1200" dirty="0"/>
          </a:p>
        </p:txBody>
      </p:sp>
      <p:sp>
        <p:nvSpPr>
          <p:cNvPr id="21" name="Text 19"/>
          <p:cNvSpPr/>
          <p:nvPr/>
        </p:nvSpPr>
        <p:spPr>
          <a:xfrm>
            <a:off x="713232" y="4096512"/>
            <a:ext cx="3236976" cy="521208"/>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Swelling of hands/feet — often the first sign of SCD in infants.</a:t>
            </a:r>
            <a:endParaRPr lang="en-US" sz="950" dirty="0"/>
          </a:p>
        </p:txBody>
      </p:sp>
      <p:sp>
        <p:nvSpPr>
          <p:cNvPr id="22" name="Shape 20"/>
          <p:cNvSpPr/>
          <p:nvPr/>
        </p:nvSpPr>
        <p:spPr>
          <a:xfrm>
            <a:off x="4315968" y="3474720"/>
            <a:ext cx="356616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23" name="Shape 21"/>
          <p:cNvSpPr/>
          <p:nvPr/>
        </p:nvSpPr>
        <p:spPr>
          <a:xfrm>
            <a:off x="4480560" y="3621024"/>
            <a:ext cx="182880" cy="182880"/>
          </a:xfrm>
          <a:prstGeom prst="ellipse">
            <a:avLst/>
          </a:prstGeom>
          <a:solidFill>
            <a:srgbClr val="CE1126"/>
          </a:solidFill>
          <a:ln/>
        </p:spPr>
      </p:sp>
      <p:sp>
        <p:nvSpPr>
          <p:cNvPr id="24" name="Text 22"/>
          <p:cNvSpPr/>
          <p:nvPr/>
        </p:nvSpPr>
        <p:spPr>
          <a:xfrm>
            <a:off x="4480560" y="3840480"/>
            <a:ext cx="3236976"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Frequent Infections</a:t>
            </a:r>
            <a:endParaRPr lang="en-US" sz="1200" dirty="0"/>
          </a:p>
        </p:txBody>
      </p:sp>
      <p:sp>
        <p:nvSpPr>
          <p:cNvPr id="25" name="Text 23"/>
          <p:cNvSpPr/>
          <p:nvPr/>
        </p:nvSpPr>
        <p:spPr>
          <a:xfrm>
            <a:off x="4480560" y="4096512"/>
            <a:ext cx="3236976" cy="521208"/>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SCD patients are more susceptible; a leading cause of death.</a:t>
            </a:r>
            <a:endParaRPr lang="en-US" sz="950" dirty="0"/>
          </a:p>
        </p:txBody>
      </p:sp>
      <p:sp>
        <p:nvSpPr>
          <p:cNvPr id="26" name="Shape 24"/>
          <p:cNvSpPr/>
          <p:nvPr/>
        </p:nvSpPr>
        <p:spPr>
          <a:xfrm>
            <a:off x="8083296" y="3474720"/>
            <a:ext cx="3566160" cy="1234440"/>
          </a:xfrm>
          <a:prstGeom prst="roundRect">
            <a:avLst>
              <a:gd name="adj" fmla="val 5926"/>
            </a:avLst>
          </a:prstGeom>
          <a:solidFill>
            <a:srgbClr val="F4F8F5"/>
          </a:solidFill>
          <a:ln/>
          <a:effectLst>
            <a:outerShdw sx="100000" sy="100000" kx="0" ky="0" algn="bl" rotWithShape="0" blurRad="88900" dist="38100" dir="2700000">
              <a:srgbClr val="1A1A1A">
                <a:alpha val="12000"/>
              </a:srgbClr>
            </a:outerShdw>
          </a:effectLst>
        </p:spPr>
      </p:sp>
      <p:sp>
        <p:nvSpPr>
          <p:cNvPr id="27" name="Shape 25"/>
          <p:cNvSpPr/>
          <p:nvPr/>
        </p:nvSpPr>
        <p:spPr>
          <a:xfrm>
            <a:off x="8247888" y="3621024"/>
            <a:ext cx="182880" cy="182880"/>
          </a:xfrm>
          <a:prstGeom prst="ellipse">
            <a:avLst/>
          </a:prstGeom>
          <a:solidFill>
            <a:srgbClr val="CE1126"/>
          </a:solidFill>
          <a:ln/>
        </p:spPr>
      </p:sp>
      <p:sp>
        <p:nvSpPr>
          <p:cNvPr id="28" name="Text 26"/>
          <p:cNvSpPr/>
          <p:nvPr/>
        </p:nvSpPr>
        <p:spPr>
          <a:xfrm>
            <a:off x="8247888" y="3840480"/>
            <a:ext cx="3236976"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Family History</a:t>
            </a:r>
            <a:endParaRPr lang="en-US" sz="1200" dirty="0"/>
          </a:p>
        </p:txBody>
      </p:sp>
      <p:sp>
        <p:nvSpPr>
          <p:cNvPr id="29" name="Text 27"/>
          <p:cNvSpPr/>
          <p:nvPr/>
        </p:nvSpPr>
        <p:spPr>
          <a:xfrm>
            <a:off x="8247888" y="4096512"/>
            <a:ext cx="3236976" cy="521208"/>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SCD is genetic — family history raises likelihood significantly.</a:t>
            </a:r>
            <a:endParaRPr lang="en-US" sz="950" dirty="0"/>
          </a:p>
        </p:txBody>
      </p:sp>
      <p:sp>
        <p:nvSpPr>
          <p:cNvPr id="30" name="Shape 28"/>
          <p:cNvSpPr/>
          <p:nvPr/>
        </p:nvSpPr>
        <p:spPr>
          <a:xfrm>
            <a:off x="548640" y="6035040"/>
            <a:ext cx="11091672" cy="457200"/>
          </a:xfrm>
          <a:prstGeom prst="roundRect">
            <a:avLst>
              <a:gd name="adj" fmla="val 14000"/>
            </a:avLst>
          </a:prstGeom>
          <a:solidFill>
            <a:srgbClr val="FCD116"/>
          </a:solidFill>
          <a:ln/>
        </p:spPr>
      </p:sp>
      <p:sp>
        <p:nvSpPr>
          <p:cNvPr id="31" name="Text 29"/>
          <p:cNvSpPr/>
          <p:nvPr/>
        </p:nvSpPr>
        <p:spPr>
          <a:xfrm>
            <a:off x="822960" y="6035040"/>
            <a:ext cx="10515600" cy="45720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Future Enhancement: AI-powered blood smear image analysis for instant phenotype prediction.</a:t>
            </a:r>
            <a:endParaRPr lang="en-US" sz="1150" dirty="0"/>
          </a:p>
        </p:txBody>
      </p:sp>
      <p:sp>
        <p:nvSpPr>
          <p:cNvPr id="32" name="Text 3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33" name="Text 3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Data Powering AnteScan</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AnteScan is built on real, nationally representative Ghanaian datasets — ensuring the AI understands Ghana's specific health patterns.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3017520"/>
                <a:gridCol w="2194560"/>
                <a:gridCol w="1554480"/>
                <a:gridCol w="432511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Records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It Is Used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MICS6 Women (wm.sav)</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UNICEF / GSS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14,609</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Trains the ANC Risk Model (6,705 clean records used).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MICS6 Children (ch.sav)</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UNICEF / GSS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8,903</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Trains the NutriCheck Model (8,879 clean records used).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GHBR8CFL (DHS Births 2022)</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DHS Program / GSS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34,595</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Used for feature validation.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GHKR8CFL (DHS Kids 2022)</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DHS Program / GSS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~3,000</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Reference data — child health, vaccination, anthropometry.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7" name="Shape 4"/>
          <p:cNvSpPr/>
          <p:nvPr/>
        </p:nvSpPr>
        <p:spPr>
          <a:xfrm>
            <a:off x="548640" y="4251960"/>
            <a:ext cx="2697480" cy="777240"/>
          </a:xfrm>
          <a:prstGeom prst="roundRect">
            <a:avLst>
              <a:gd name="adj" fmla="val 9412"/>
            </a:avLst>
          </a:prstGeom>
          <a:solidFill>
            <a:srgbClr val="F4F8F5"/>
          </a:solidFill>
          <a:ln w="9525">
            <a:solidFill>
              <a:srgbClr val="006B3F"/>
            </a:solidFill>
            <a:prstDash val="solid"/>
          </a:ln>
        </p:spPr>
      </p:sp>
      <p:sp>
        <p:nvSpPr>
          <p:cNvPr id="8" name="Text 5"/>
          <p:cNvSpPr/>
          <p:nvPr/>
        </p:nvSpPr>
        <p:spPr>
          <a:xfrm>
            <a:off x="658368" y="4251960"/>
            <a:ext cx="2478024" cy="777240"/>
          </a:xfrm>
          <a:prstGeom prst="rect">
            <a:avLst/>
          </a:prstGeom>
          <a:noFill/>
          <a:ln/>
        </p:spPr>
        <p:txBody>
          <a:bodyPr wrap="square" lIns="0" tIns="0" rIns="0" bIns="0" rtlCol="0" anchor="ctr"/>
          <a:lstStyle/>
          <a:p>
            <a:pPr algn="ctr" indent="0" marL="0">
              <a:buNone/>
            </a:pPr>
            <a:r>
              <a:rPr lang="en-US" sz="1000" b="1" dirty="0">
                <a:solidFill>
                  <a:srgbClr val="006B3F"/>
                </a:solidFill>
                <a:latin typeface="Calibri" pitchFamily="34" charset="0"/>
                <a:ea typeface="Calibri" pitchFamily="34" charset="-122"/>
                <a:cs typeface="Calibri" pitchFamily="34" charset="-120"/>
              </a:rPr>
              <a:t>Real, nationally representative Ghanaian data</a:t>
            </a:r>
            <a:endParaRPr lang="en-US" sz="1000" dirty="0"/>
          </a:p>
        </p:txBody>
      </p:sp>
      <p:sp>
        <p:nvSpPr>
          <p:cNvPr id="9" name="Shape 6"/>
          <p:cNvSpPr/>
          <p:nvPr/>
        </p:nvSpPr>
        <p:spPr>
          <a:xfrm>
            <a:off x="3410712" y="4251960"/>
            <a:ext cx="2697480" cy="777240"/>
          </a:xfrm>
          <a:prstGeom prst="roundRect">
            <a:avLst>
              <a:gd name="adj" fmla="val 9412"/>
            </a:avLst>
          </a:prstGeom>
          <a:solidFill>
            <a:srgbClr val="F4F8F5"/>
          </a:solidFill>
          <a:ln w="9525">
            <a:solidFill>
              <a:srgbClr val="006B3F"/>
            </a:solidFill>
            <a:prstDash val="solid"/>
          </a:ln>
        </p:spPr>
      </p:sp>
      <p:sp>
        <p:nvSpPr>
          <p:cNvPr id="10" name="Text 7"/>
          <p:cNvSpPr/>
          <p:nvPr/>
        </p:nvSpPr>
        <p:spPr>
          <a:xfrm>
            <a:off x="3520440" y="4251960"/>
            <a:ext cx="2478024" cy="777240"/>
          </a:xfrm>
          <a:prstGeom prst="rect">
            <a:avLst/>
          </a:prstGeom>
          <a:noFill/>
          <a:ln/>
        </p:spPr>
        <p:txBody>
          <a:bodyPr wrap="square" lIns="0" tIns="0" rIns="0" bIns="0" rtlCol="0" anchor="ctr"/>
          <a:lstStyle/>
          <a:p>
            <a:pPr algn="ctr" indent="0" marL="0">
              <a:buNone/>
            </a:pPr>
            <a:r>
              <a:rPr lang="en-US" sz="1000" b="1" dirty="0">
                <a:solidFill>
                  <a:srgbClr val="006B3F"/>
                </a:solidFill>
                <a:latin typeface="Calibri" pitchFamily="34" charset="0"/>
                <a:ea typeface="Calibri" pitchFamily="34" charset="-122"/>
                <a:cs typeface="Calibri" pitchFamily="34" charset="-120"/>
              </a:rPr>
              <a:t>Anonymised — no personal information</a:t>
            </a:r>
            <a:endParaRPr lang="en-US" sz="1000" dirty="0"/>
          </a:p>
        </p:txBody>
      </p:sp>
      <p:sp>
        <p:nvSpPr>
          <p:cNvPr id="11" name="Shape 8"/>
          <p:cNvSpPr/>
          <p:nvPr/>
        </p:nvSpPr>
        <p:spPr>
          <a:xfrm>
            <a:off x="6272784" y="4251960"/>
            <a:ext cx="2697480" cy="777240"/>
          </a:xfrm>
          <a:prstGeom prst="roundRect">
            <a:avLst>
              <a:gd name="adj" fmla="val 9412"/>
            </a:avLst>
          </a:prstGeom>
          <a:solidFill>
            <a:srgbClr val="F4F8F5"/>
          </a:solidFill>
          <a:ln w="9525">
            <a:solidFill>
              <a:srgbClr val="006B3F"/>
            </a:solidFill>
            <a:prstDash val="solid"/>
          </a:ln>
        </p:spPr>
      </p:sp>
      <p:sp>
        <p:nvSpPr>
          <p:cNvPr id="12" name="Text 9"/>
          <p:cNvSpPr/>
          <p:nvPr/>
        </p:nvSpPr>
        <p:spPr>
          <a:xfrm>
            <a:off x="6382512" y="4251960"/>
            <a:ext cx="2478024" cy="777240"/>
          </a:xfrm>
          <a:prstGeom prst="rect">
            <a:avLst/>
          </a:prstGeom>
          <a:noFill/>
          <a:ln/>
        </p:spPr>
        <p:txBody>
          <a:bodyPr wrap="square" lIns="0" tIns="0" rIns="0" bIns="0" rtlCol="0" anchor="ctr"/>
          <a:lstStyle/>
          <a:p>
            <a:pPr algn="ctr" indent="0" marL="0">
              <a:buNone/>
            </a:pPr>
            <a:r>
              <a:rPr lang="en-US" sz="1000" b="1" dirty="0">
                <a:solidFill>
                  <a:srgbClr val="006B3F"/>
                </a:solidFill>
                <a:latin typeface="Calibri" pitchFamily="34" charset="0"/>
                <a:ea typeface="Calibri" pitchFamily="34" charset="-122"/>
                <a:cs typeface="Calibri" pitchFamily="34" charset="-120"/>
              </a:rPr>
              <a:t>Obtained through legitimate channels</a:t>
            </a:r>
            <a:endParaRPr lang="en-US" sz="1000" dirty="0"/>
          </a:p>
        </p:txBody>
      </p:sp>
      <p:sp>
        <p:nvSpPr>
          <p:cNvPr id="13" name="Shape 10"/>
          <p:cNvSpPr/>
          <p:nvPr/>
        </p:nvSpPr>
        <p:spPr>
          <a:xfrm>
            <a:off x="9134856" y="4251960"/>
            <a:ext cx="2697480" cy="777240"/>
          </a:xfrm>
          <a:prstGeom prst="roundRect">
            <a:avLst>
              <a:gd name="adj" fmla="val 9412"/>
            </a:avLst>
          </a:prstGeom>
          <a:solidFill>
            <a:srgbClr val="F4F8F5"/>
          </a:solidFill>
          <a:ln w="9525">
            <a:solidFill>
              <a:srgbClr val="006B3F"/>
            </a:solidFill>
            <a:prstDash val="solid"/>
          </a:ln>
        </p:spPr>
      </p:sp>
      <p:sp>
        <p:nvSpPr>
          <p:cNvPr id="14" name="Text 11"/>
          <p:cNvSpPr/>
          <p:nvPr/>
        </p:nvSpPr>
        <p:spPr>
          <a:xfrm>
            <a:off x="9244584" y="4251960"/>
            <a:ext cx="2478024" cy="777240"/>
          </a:xfrm>
          <a:prstGeom prst="rect">
            <a:avLst/>
          </a:prstGeom>
          <a:noFill/>
          <a:ln/>
        </p:spPr>
        <p:txBody>
          <a:bodyPr wrap="square" lIns="0" tIns="0" rIns="0" bIns="0" rtlCol="0" anchor="ctr"/>
          <a:lstStyle/>
          <a:p>
            <a:pPr algn="ctr" indent="0" marL="0">
              <a:buNone/>
            </a:pPr>
            <a:r>
              <a:rPr lang="en-US" sz="1000" b="1" dirty="0">
                <a:solidFill>
                  <a:srgbClr val="006B3F"/>
                </a:solidFill>
                <a:latin typeface="Calibri" pitchFamily="34" charset="0"/>
                <a:ea typeface="Calibri" pitchFamily="34" charset="-122"/>
                <a:cs typeface="Calibri" pitchFamily="34" charset="-120"/>
              </a:rPr>
              <a:t>Used under proper research terms</a:t>
            </a:r>
            <a:endParaRPr lang="en-US" sz="1000" dirty="0"/>
          </a:p>
        </p:txBody>
      </p:sp>
      <p:sp>
        <p:nvSpPr>
          <p:cNvPr id="15" name="Text 1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FEATURE ENGINEERING</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Data Features Matter Most</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Each model uses specific features that are clinically relevant to accurate risk prediction.</a:t>
            </a:r>
            <a:endParaRPr lang="en-US" sz="1200" dirty="0"/>
          </a:p>
        </p:txBody>
      </p:sp>
      <p:sp>
        <p:nvSpPr>
          <p:cNvPr id="6" name="Text 4"/>
          <p:cNvSpPr/>
          <p:nvPr/>
        </p:nvSpPr>
        <p:spPr>
          <a:xfrm>
            <a:off x="548640" y="1874520"/>
            <a:ext cx="5486400" cy="27432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Antenatal Care Model Features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5440680" cy="914400"/>
        </p:xfrm>
        <a:graphic>
          <a:graphicData uri="http://schemas.openxmlformats.org/drawingml/2006/table">
            <a:tbl>
              <a:tblPr/>
              <a:tblGrid>
                <a:gridCol w="822960"/>
                <a:gridCol w="2011680"/>
                <a:gridCol w="2606040"/>
              </a:tblGrid>
              <a:tr h="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Code</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Why It Matters</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WB4</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ANC visits</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More visits → better outcomes, lower mortality.</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WB6A</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Place of delivery</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Facility birth indicates access to emergency obstetric care.</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CM17</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Children ever born</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High parity (5+) is a known risk factor.</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CM11</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Parity (target)</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Converted into 4 risk classes: Low/Moderate/High/Emergency.</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8" name="Text 5"/>
          <p:cNvSpPr/>
          <p:nvPr/>
        </p:nvSpPr>
        <p:spPr>
          <a:xfrm>
            <a:off x="6172200" y="1874520"/>
            <a:ext cx="5486400" cy="274320"/>
          </a:xfrm>
          <a:prstGeom prst="rect">
            <a:avLst/>
          </a:prstGeom>
          <a:noFill/>
          <a:ln/>
        </p:spPr>
        <p:txBody>
          <a:bodyPr wrap="square" lIns="0" tIns="0" rIns="0" bIns="0" rtlCol="0" anchor="ctr"/>
          <a:lstStyle/>
          <a:p>
            <a:pPr indent="0" marL="0">
              <a:buNone/>
            </a:pPr>
            <a:r>
              <a:rPr lang="en-US" sz="1300" b="1" dirty="0">
                <a:solidFill>
                  <a:srgbClr val="00381F"/>
                </a:solidFill>
                <a:latin typeface="Calibri" pitchFamily="34" charset="0"/>
                <a:ea typeface="Calibri" pitchFamily="34" charset="-122"/>
                <a:cs typeface="Calibri" pitchFamily="34" charset="-120"/>
              </a:rPr>
              <a:t>NutriCheck Model Features</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172200" y="2194560"/>
          <a:ext cx="5468112" cy="914400"/>
        </p:xfrm>
        <a:graphic>
          <a:graphicData uri="http://schemas.openxmlformats.org/drawingml/2006/table">
            <a:tbl>
              <a:tblPr/>
              <a:tblGrid>
                <a:gridCol w="822960"/>
                <a:gridCol w="2011680"/>
                <a:gridCol w="2633472"/>
              </a:tblGrid>
              <a:tr h="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Code</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Why It Matters</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CAGE</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Child age (months)</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Essential for calculating WHO Z-scores accurately.</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CDOI</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Breastfeeding duration</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Longer duration correlates with better nutrition.</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AN3</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Mother's ANC visits</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Maternal care quality links to child health outcomes.</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WAZ2</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Weight-for-age (target)</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Converted into 3 classes: Normal/MAM/SAM.</a:t>
                      </a:r>
                      <a:endParaRPr lang="en-US" sz="9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10"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11"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Why Random Forest?</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We selected Random Forest for both classification tasks — like a panel of 150 expert doctors voting on a decision.</a:t>
            </a:r>
            <a:endParaRPr lang="en-US" sz="1200" dirty="0"/>
          </a:p>
        </p:txBody>
      </p:sp>
      <p:sp>
        <p:nvSpPr>
          <p:cNvPr id="6" name="Text 4"/>
          <p:cNvSpPr/>
          <p:nvPr/>
        </p:nvSpPr>
        <p:spPr>
          <a:xfrm>
            <a:off x="548640" y="1874520"/>
            <a:ext cx="5486400" cy="27432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How Random Forest Works</a:t>
            </a:r>
            <a:endParaRPr lang="en-US" sz="1300" dirty="0"/>
          </a:p>
        </p:txBody>
      </p:sp>
      <p:sp>
        <p:nvSpPr>
          <p:cNvPr id="7" name="Shape 5"/>
          <p:cNvSpPr/>
          <p:nvPr/>
        </p:nvSpPr>
        <p:spPr>
          <a:xfrm>
            <a:off x="548640" y="2240280"/>
            <a:ext cx="347472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8" name="Shape 6"/>
          <p:cNvSpPr/>
          <p:nvPr/>
        </p:nvSpPr>
        <p:spPr>
          <a:xfrm>
            <a:off x="713232" y="2386584"/>
            <a:ext cx="365760" cy="365760"/>
          </a:xfrm>
          <a:prstGeom prst="ellipse">
            <a:avLst/>
          </a:prstGeom>
          <a:solidFill>
            <a:srgbClr val="006B3F"/>
          </a:solidFill>
          <a:ln/>
        </p:spPr>
      </p:sp>
      <p:sp>
        <p:nvSpPr>
          <p:cNvPr id="9" name="Text 7"/>
          <p:cNvSpPr/>
          <p:nvPr/>
        </p:nvSpPr>
        <p:spPr>
          <a:xfrm>
            <a:off x="713232" y="2386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88720" y="2386584"/>
            <a:ext cx="2651760" cy="36576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Create Trees</a:t>
            </a:r>
            <a:endParaRPr lang="en-US" sz="1200" dirty="0"/>
          </a:p>
        </p:txBody>
      </p:sp>
      <p:sp>
        <p:nvSpPr>
          <p:cNvPr id="11" name="Text 9"/>
          <p:cNvSpPr/>
          <p:nvPr/>
        </p:nvSpPr>
        <p:spPr>
          <a:xfrm>
            <a:off x="713232" y="2862072"/>
            <a:ext cx="3145536" cy="6858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150 decision trees, each trained on a different data subset.</a:t>
            </a:r>
            <a:endParaRPr lang="en-US" sz="1000" dirty="0"/>
          </a:p>
        </p:txBody>
      </p:sp>
      <p:sp>
        <p:nvSpPr>
          <p:cNvPr id="12" name="Shape 10"/>
          <p:cNvSpPr/>
          <p:nvPr/>
        </p:nvSpPr>
        <p:spPr>
          <a:xfrm>
            <a:off x="4160520" y="2240280"/>
            <a:ext cx="347472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3" name="Shape 11"/>
          <p:cNvSpPr/>
          <p:nvPr/>
        </p:nvSpPr>
        <p:spPr>
          <a:xfrm>
            <a:off x="4325112" y="2386584"/>
            <a:ext cx="365760" cy="365760"/>
          </a:xfrm>
          <a:prstGeom prst="ellipse">
            <a:avLst/>
          </a:prstGeom>
          <a:solidFill>
            <a:srgbClr val="006B3F"/>
          </a:solidFill>
          <a:ln/>
        </p:spPr>
      </p:sp>
      <p:sp>
        <p:nvSpPr>
          <p:cNvPr id="14" name="Text 12"/>
          <p:cNvSpPr/>
          <p:nvPr/>
        </p:nvSpPr>
        <p:spPr>
          <a:xfrm>
            <a:off x="4325112" y="2386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800600" y="2386584"/>
            <a:ext cx="2651760" cy="36576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Each Tree Predicts</a:t>
            </a:r>
            <a:endParaRPr lang="en-US" sz="1200" dirty="0"/>
          </a:p>
        </p:txBody>
      </p:sp>
      <p:sp>
        <p:nvSpPr>
          <p:cNvPr id="16" name="Text 14"/>
          <p:cNvSpPr/>
          <p:nvPr/>
        </p:nvSpPr>
        <p:spPr>
          <a:xfrm>
            <a:off x="4325112" y="2862072"/>
            <a:ext cx="3145536" cy="6858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Every tree gives its own prediction for the patient.</a:t>
            </a:r>
            <a:endParaRPr lang="en-US" sz="1000" dirty="0"/>
          </a:p>
        </p:txBody>
      </p:sp>
      <p:sp>
        <p:nvSpPr>
          <p:cNvPr id="17" name="Shape 15"/>
          <p:cNvSpPr/>
          <p:nvPr/>
        </p:nvSpPr>
        <p:spPr>
          <a:xfrm>
            <a:off x="7772400" y="2240280"/>
            <a:ext cx="347472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8" name="Shape 16"/>
          <p:cNvSpPr/>
          <p:nvPr/>
        </p:nvSpPr>
        <p:spPr>
          <a:xfrm>
            <a:off x="7936992" y="2386584"/>
            <a:ext cx="365760" cy="365760"/>
          </a:xfrm>
          <a:prstGeom prst="ellipse">
            <a:avLst/>
          </a:prstGeom>
          <a:solidFill>
            <a:srgbClr val="006B3F"/>
          </a:solidFill>
          <a:ln/>
        </p:spPr>
      </p:sp>
      <p:sp>
        <p:nvSpPr>
          <p:cNvPr id="19" name="Text 17"/>
          <p:cNvSpPr/>
          <p:nvPr/>
        </p:nvSpPr>
        <p:spPr>
          <a:xfrm>
            <a:off x="7936992" y="2386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412480" y="2386584"/>
            <a:ext cx="2651760" cy="36576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Vote</a:t>
            </a:r>
            <a:endParaRPr lang="en-US" sz="1200" dirty="0"/>
          </a:p>
        </p:txBody>
      </p:sp>
      <p:sp>
        <p:nvSpPr>
          <p:cNvPr id="21" name="Text 19"/>
          <p:cNvSpPr/>
          <p:nvPr/>
        </p:nvSpPr>
        <p:spPr>
          <a:xfrm>
            <a:off x="7936992" y="2862072"/>
            <a:ext cx="3145536" cy="6858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The prediction with the most votes wins — the majority diagnosis.</a:t>
            </a:r>
            <a:endParaRPr lang="en-US" sz="1000" dirty="0"/>
          </a:p>
        </p:txBody>
      </p:sp>
      <p:sp>
        <p:nvSpPr>
          <p:cNvPr id="22" name="Text 20"/>
          <p:cNvSpPr/>
          <p:nvPr/>
        </p:nvSpPr>
        <p:spPr>
          <a:xfrm>
            <a:off x="548640" y="3931920"/>
            <a:ext cx="7315200" cy="27432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Why Random Forest Is the Right Choice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1672" cy="914400"/>
        </p:xfrm>
        <a:graphic>
          <a:graphicData uri="http://schemas.openxmlformats.org/drawingml/2006/table">
            <a:tbl>
              <a:tblPr/>
              <a:tblGrid>
                <a:gridCol w="2377440"/>
                <a:gridCol w="871423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Reason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Robustness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Resilient to overfitting; generalizes well to new, unseen data.</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Interpretability</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Feature importance is easily extracted for clinical understanding.</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Handles Complexity</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Captures non-linear interactions (e.g. high parity + low ANC visits).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Works on Tabular Data</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Excels at spreadsheet-like health data, unlike deep learning.</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24" name="Text 2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25" name="Text 2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How We Prepared the Data</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Five preprocessing steps ensure the model is accurate and reliable.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286000"/>
                <a:gridCol w="4572000"/>
                <a:gridCol w="423367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We Did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Why We Did It</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 Feature Selection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Selected only clinically relevant features (e.g. WB4, WB6A, CM17; CAGE, CDOI, AN3).</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Excluded irrelevant/duplicate columns — simpler, more accurate model.</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 Handling Missing Data</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Removed records missing the target; used median imputation elsewhere.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Ensures data integrity while preserving central tendency.</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 Target Engineering</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Converted parity → 4 risk classes; WAZ2 → 3 nutrition classes.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Makes results easy for a CHW to act on directly.</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 Feature Normalisation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Applied StandardScaler (mean 0, std 1) to continuous features.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Prevents features on larger scales from dominating the model.</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5. Train/Test Split</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Split data 80% training / 20% testing.</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Tests the model on unseen data to confirm real learning, not memorization.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Antenatal Care Risk Model — Results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2004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Evaluated on the 20% test set representing 1,341 women.</a:t>
            </a:r>
            <a:endParaRPr lang="en-US" sz="1200" dirty="0"/>
          </a:p>
        </p:txBody>
      </p:sp>
      <p:sp>
        <p:nvSpPr>
          <p:cNvPr id="6" name="Shape 4"/>
          <p:cNvSpPr/>
          <p:nvPr/>
        </p:nvSpPr>
        <p:spPr>
          <a:xfrm>
            <a:off x="548640"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7" name="Text 5"/>
          <p:cNvSpPr/>
          <p:nvPr/>
        </p:nvSpPr>
        <p:spPr>
          <a:xfrm>
            <a:off x="548640" y="1920240"/>
            <a:ext cx="2084832" cy="548640"/>
          </a:xfrm>
          <a:prstGeom prst="rect">
            <a:avLst/>
          </a:prstGeom>
          <a:noFill/>
          <a:ln/>
        </p:spPr>
        <p:txBody>
          <a:bodyPr wrap="square" lIns="0" tIns="0" rIns="0" bIns="0" rtlCol="0" anchor="ctr"/>
          <a:lstStyle/>
          <a:p>
            <a:pPr algn="ctr" indent="0" marL="0">
              <a:buNone/>
            </a:pPr>
            <a:r>
              <a:rPr lang="en-US" sz="2400" b="1" dirty="0">
                <a:solidFill>
                  <a:srgbClr val="006B3F"/>
                </a:solidFill>
                <a:latin typeface="Cambria" pitchFamily="34" charset="0"/>
                <a:ea typeface="Cambria" pitchFamily="34" charset="-122"/>
                <a:cs typeface="Cambria" pitchFamily="34" charset="-120"/>
              </a:rPr>
              <a:t>51.5%</a:t>
            </a:r>
            <a:endParaRPr lang="en-US" sz="2400" dirty="0"/>
          </a:p>
        </p:txBody>
      </p:sp>
      <p:sp>
        <p:nvSpPr>
          <p:cNvPr id="8" name="Text 6"/>
          <p:cNvSpPr/>
          <p:nvPr/>
        </p:nvSpPr>
        <p:spPr>
          <a:xfrm>
            <a:off x="548640"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Accuracy</a:t>
            </a:r>
            <a:endParaRPr lang="en-US" sz="1050" dirty="0"/>
          </a:p>
        </p:txBody>
      </p:sp>
      <p:sp>
        <p:nvSpPr>
          <p:cNvPr id="9" name="Shape 7"/>
          <p:cNvSpPr/>
          <p:nvPr/>
        </p:nvSpPr>
        <p:spPr>
          <a:xfrm>
            <a:off x="2752344"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10" name="Text 8"/>
          <p:cNvSpPr/>
          <p:nvPr/>
        </p:nvSpPr>
        <p:spPr>
          <a:xfrm>
            <a:off x="2752344" y="1920240"/>
            <a:ext cx="2084832" cy="548640"/>
          </a:xfrm>
          <a:prstGeom prst="rect">
            <a:avLst/>
          </a:prstGeom>
          <a:noFill/>
          <a:ln/>
        </p:spPr>
        <p:txBody>
          <a:bodyPr wrap="square" lIns="0" tIns="0" rIns="0" bIns="0" rtlCol="0" anchor="ctr"/>
          <a:lstStyle/>
          <a:p>
            <a:pPr algn="ctr" indent="0" marL="0">
              <a:buNone/>
            </a:pPr>
            <a:r>
              <a:rPr lang="en-US" sz="2400" b="1" dirty="0">
                <a:solidFill>
                  <a:srgbClr val="006B3F"/>
                </a:solidFill>
                <a:latin typeface="Cambria" pitchFamily="34" charset="0"/>
                <a:ea typeface="Cambria" pitchFamily="34" charset="-122"/>
                <a:cs typeface="Cambria" pitchFamily="34" charset="-120"/>
              </a:rPr>
              <a:t>52.4%</a:t>
            </a:r>
            <a:endParaRPr lang="en-US" sz="2400" dirty="0"/>
          </a:p>
        </p:txBody>
      </p:sp>
      <p:sp>
        <p:nvSpPr>
          <p:cNvPr id="11" name="Text 9"/>
          <p:cNvSpPr/>
          <p:nvPr/>
        </p:nvSpPr>
        <p:spPr>
          <a:xfrm>
            <a:off x="2752344"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Precision</a:t>
            </a:r>
            <a:endParaRPr lang="en-US" sz="1050" dirty="0"/>
          </a:p>
        </p:txBody>
      </p:sp>
      <p:sp>
        <p:nvSpPr>
          <p:cNvPr id="12" name="Shape 10"/>
          <p:cNvSpPr/>
          <p:nvPr/>
        </p:nvSpPr>
        <p:spPr>
          <a:xfrm>
            <a:off x="4956048"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13" name="Text 11"/>
          <p:cNvSpPr/>
          <p:nvPr/>
        </p:nvSpPr>
        <p:spPr>
          <a:xfrm>
            <a:off x="4956048" y="1920240"/>
            <a:ext cx="2084832" cy="548640"/>
          </a:xfrm>
          <a:prstGeom prst="rect">
            <a:avLst/>
          </a:prstGeom>
          <a:noFill/>
          <a:ln/>
        </p:spPr>
        <p:txBody>
          <a:bodyPr wrap="square" lIns="0" tIns="0" rIns="0" bIns="0" rtlCol="0" anchor="ctr"/>
          <a:lstStyle/>
          <a:p>
            <a:pPr algn="ctr" indent="0" marL="0">
              <a:buNone/>
            </a:pPr>
            <a:r>
              <a:rPr lang="en-US" sz="2400" b="1" dirty="0">
                <a:solidFill>
                  <a:srgbClr val="006B3F"/>
                </a:solidFill>
                <a:latin typeface="Cambria" pitchFamily="34" charset="0"/>
                <a:ea typeface="Cambria" pitchFamily="34" charset="-122"/>
                <a:cs typeface="Cambria" pitchFamily="34" charset="-120"/>
              </a:rPr>
              <a:t>51.5%</a:t>
            </a:r>
            <a:endParaRPr lang="en-US" sz="2400" dirty="0"/>
          </a:p>
        </p:txBody>
      </p:sp>
      <p:sp>
        <p:nvSpPr>
          <p:cNvPr id="14" name="Text 12"/>
          <p:cNvSpPr/>
          <p:nvPr/>
        </p:nvSpPr>
        <p:spPr>
          <a:xfrm>
            <a:off x="4956048"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Recall</a:t>
            </a:r>
            <a:endParaRPr lang="en-US" sz="1050" dirty="0"/>
          </a:p>
        </p:txBody>
      </p:sp>
      <p:sp>
        <p:nvSpPr>
          <p:cNvPr id="15" name="Shape 13"/>
          <p:cNvSpPr/>
          <p:nvPr/>
        </p:nvSpPr>
        <p:spPr>
          <a:xfrm>
            <a:off x="7159752"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16" name="Text 14"/>
          <p:cNvSpPr/>
          <p:nvPr/>
        </p:nvSpPr>
        <p:spPr>
          <a:xfrm>
            <a:off x="7159752" y="1920240"/>
            <a:ext cx="2084832" cy="548640"/>
          </a:xfrm>
          <a:prstGeom prst="rect">
            <a:avLst/>
          </a:prstGeom>
          <a:noFill/>
          <a:ln/>
        </p:spPr>
        <p:txBody>
          <a:bodyPr wrap="square" lIns="0" tIns="0" rIns="0" bIns="0" rtlCol="0" anchor="ctr"/>
          <a:lstStyle/>
          <a:p>
            <a:pPr algn="ctr" indent="0" marL="0">
              <a:buNone/>
            </a:pPr>
            <a:r>
              <a:rPr lang="en-US" sz="2400" b="1" dirty="0">
                <a:solidFill>
                  <a:srgbClr val="006B3F"/>
                </a:solidFill>
                <a:latin typeface="Cambria" pitchFamily="34" charset="0"/>
                <a:ea typeface="Cambria" pitchFamily="34" charset="-122"/>
                <a:cs typeface="Cambria" pitchFamily="34" charset="-120"/>
              </a:rPr>
              <a:t>51.8%</a:t>
            </a:r>
            <a:endParaRPr lang="en-US" sz="2400" dirty="0"/>
          </a:p>
        </p:txBody>
      </p:sp>
      <p:sp>
        <p:nvSpPr>
          <p:cNvPr id="17" name="Text 15"/>
          <p:cNvSpPr/>
          <p:nvPr/>
        </p:nvSpPr>
        <p:spPr>
          <a:xfrm>
            <a:off x="7159752"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F1-Score</a:t>
            </a:r>
            <a:endParaRPr lang="en-US" sz="1050" dirty="0"/>
          </a:p>
        </p:txBody>
      </p:sp>
      <p:sp>
        <p:nvSpPr>
          <p:cNvPr id="18" name="Shape 16"/>
          <p:cNvSpPr/>
          <p:nvPr/>
        </p:nvSpPr>
        <p:spPr>
          <a:xfrm>
            <a:off x="9363456" y="1828800"/>
            <a:ext cx="2084832" cy="1051560"/>
          </a:xfrm>
          <a:prstGeom prst="roundRect">
            <a:avLst>
              <a:gd name="adj" fmla="val 6957"/>
            </a:avLst>
          </a:prstGeom>
          <a:solidFill>
            <a:srgbClr val="006B3F"/>
          </a:solidFill>
          <a:ln/>
          <a:effectLst>
            <a:outerShdw sx="100000" sy="100000" kx="0" ky="0" algn="bl" rotWithShape="0" blurRad="88900" dist="38100" dir="2700000">
              <a:srgbClr val="1A1A1A">
                <a:alpha val="12000"/>
              </a:srgbClr>
            </a:outerShdw>
          </a:effectLst>
        </p:spPr>
      </p:sp>
      <p:sp>
        <p:nvSpPr>
          <p:cNvPr id="19" name="Text 17"/>
          <p:cNvSpPr/>
          <p:nvPr/>
        </p:nvSpPr>
        <p:spPr>
          <a:xfrm>
            <a:off x="9363456" y="1920240"/>
            <a:ext cx="2084832" cy="548640"/>
          </a:xfrm>
          <a:prstGeom prst="rect">
            <a:avLst/>
          </a:prstGeom>
          <a:noFill/>
          <a:ln/>
        </p:spPr>
        <p:txBody>
          <a:bodyPr wrap="square" lIns="0" tIns="0" rIns="0" bIns="0" rtlCol="0" anchor="ctr"/>
          <a:lstStyle/>
          <a:p>
            <a:pPr algn="ctr" indent="0" marL="0">
              <a:buNone/>
            </a:pPr>
            <a:r>
              <a:rPr lang="en-US" sz="2400" b="1" dirty="0">
                <a:solidFill>
                  <a:srgbClr val="FCD116"/>
                </a:solidFill>
                <a:latin typeface="Cambria" pitchFamily="34" charset="0"/>
                <a:ea typeface="Cambria" pitchFamily="34" charset="-122"/>
                <a:cs typeface="Cambria" pitchFamily="34" charset="-120"/>
              </a:rPr>
              <a:t>78.2%</a:t>
            </a:r>
            <a:endParaRPr lang="en-US" sz="2400" dirty="0"/>
          </a:p>
        </p:txBody>
      </p:sp>
      <p:sp>
        <p:nvSpPr>
          <p:cNvPr id="20" name="Text 18"/>
          <p:cNvSpPr/>
          <p:nvPr/>
        </p:nvSpPr>
        <p:spPr>
          <a:xfrm>
            <a:off x="9363456" y="2487168"/>
            <a:ext cx="2084832" cy="3200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ROC-AUC</a:t>
            </a:r>
            <a:endParaRPr lang="en-US" sz="1050" dirty="0"/>
          </a:p>
        </p:txBody>
      </p:sp>
      <p:sp>
        <p:nvSpPr>
          <p:cNvPr id="21" name="Text 19"/>
          <p:cNvSpPr/>
          <p:nvPr/>
        </p:nvSpPr>
        <p:spPr>
          <a:xfrm>
            <a:off x="548640" y="3063240"/>
            <a:ext cx="3429000" cy="1554480"/>
          </a:xfrm>
          <a:prstGeom prst="rect">
            <a:avLst/>
          </a:prstGeom>
          <a:noFill/>
          <a:ln/>
        </p:spPr>
        <p:txBody>
          <a:bodyPr wrap="square" lIns="0" tIns="0" rIns="0" bIns="0" rtlCol="0" anchor="ctr"/>
          <a:lstStyle/>
          <a:p>
            <a:pPr indent="0" marL="0">
              <a:buNone/>
            </a:pPr>
            <a:r>
              <a:rPr lang="en-US" sz="1200" b="1" dirty="0">
                <a:solidFill>
                  <a:srgbClr val="006B3F"/>
                </a:solidFill>
                <a:latin typeface="Calibri" pitchFamily="34" charset="0"/>
                <a:ea typeface="Calibri" pitchFamily="34" charset="-122"/>
                <a:cs typeface="Calibri" pitchFamily="34" charset="-120"/>
              </a:rPr>
              <a:t>R² = 46.9%</a:t>
            </a:r>
            <a:endParaRPr lang="en-US" sz="1200" dirty="0"/>
          </a:p>
          <a:p>
            <a:pPr indent="0" marL="0">
              <a:buNone/>
            </a:pPr>
            <a:r>
              <a:rPr lang="en-US" sz="1000" dirty="0">
                <a:solidFill>
                  <a:srgbClr val="5B6B62"/>
                </a:solidFill>
                <a:latin typeface="Calibri" pitchFamily="34" charset="0"/>
                <a:ea typeface="Calibri" pitchFamily="34" charset="-122"/>
                <a:cs typeface="Calibri" pitchFamily="34" charset="-120"/>
              </a:rPr>
              <a:t>Model explains ~half the variance in the risk score.</a:t>
            </a:r>
            <a:endParaRPr lang="en-US" sz="12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006B3F"/>
                </a:solidFill>
                <a:latin typeface="Calibri" pitchFamily="34" charset="0"/>
                <a:ea typeface="Calibri" pitchFamily="34" charset="-122"/>
                <a:cs typeface="Calibri" pitchFamily="34" charset="-120"/>
              </a:rPr>
              <a:t>MAE = 18.64 points</a:t>
            </a:r>
            <a:endParaRPr lang="en-US" sz="1200" dirty="0"/>
          </a:p>
          <a:p>
            <a:pPr indent="0" marL="0">
              <a:buNone/>
            </a:pPr>
            <a:r>
              <a:rPr lang="en-US" sz="1000" dirty="0">
                <a:solidFill>
                  <a:srgbClr val="5B6B62"/>
                </a:solidFill>
                <a:latin typeface="Calibri" pitchFamily="34" charset="0"/>
                <a:ea typeface="Calibri" pitchFamily="34" charset="-122"/>
                <a:cs typeface="Calibri" pitchFamily="34" charset="-120"/>
              </a:rPr>
              <a:t>Predictions off by ~19 points on a 0-100 risk scale.</a:t>
            </a:r>
            <a:endParaRPr lang="en-US" sz="1200" dirty="0"/>
          </a:p>
        </p:txBody>
      </p:sp>
      <p:sp>
        <p:nvSpPr>
          <p:cNvPr id="22" name="Shape 20"/>
          <p:cNvSpPr/>
          <p:nvPr/>
        </p:nvSpPr>
        <p:spPr>
          <a:xfrm>
            <a:off x="4160520" y="3063240"/>
            <a:ext cx="9144" cy="1554480"/>
          </a:xfrm>
          <a:prstGeom prst="rect">
            <a:avLst/>
          </a:prstGeom>
          <a:noFill/>
          <a:ln w="12700">
            <a:solidFill>
              <a:srgbClr val="DCE5E0"/>
            </a:solidFill>
            <a:prstDash val="solid"/>
          </a:ln>
        </p:spPr>
      </p:sp>
      <p:sp>
        <p:nvSpPr>
          <p:cNvPr id="23" name="Text 21"/>
          <p:cNvSpPr/>
          <p:nvPr/>
        </p:nvSpPr>
        <p:spPr>
          <a:xfrm>
            <a:off x="4434840" y="3063240"/>
            <a:ext cx="3657600" cy="274320"/>
          </a:xfrm>
          <a:prstGeom prst="rect">
            <a:avLst/>
          </a:prstGeom>
          <a:noFill/>
          <a:ln/>
        </p:spPr>
        <p:txBody>
          <a:bodyPr wrap="square" lIns="0" tIns="0" rIns="0" bIns="0" rtlCol="0" anchor="ctr"/>
          <a:lstStyle/>
          <a:p>
            <a:pPr indent="0" marL="0">
              <a:buNone/>
            </a:pPr>
            <a:r>
              <a:rPr lang="en-US" sz="1200" b="1" dirty="0">
                <a:solidFill>
                  <a:srgbClr val="006B3F"/>
                </a:solidFill>
                <a:latin typeface="Calibri" pitchFamily="34" charset="0"/>
                <a:ea typeface="Calibri" pitchFamily="34" charset="-122"/>
                <a:cs typeface="Calibri" pitchFamily="34" charset="-120"/>
              </a:rPr>
              <a:t>Feature Importance</a:t>
            </a:r>
            <a:endParaRPr lang="en-US" sz="1200" dirty="0"/>
          </a:p>
        </p:txBody>
      </p:sp>
      <p:sp>
        <p:nvSpPr>
          <p:cNvPr id="24" name="Text 22"/>
          <p:cNvSpPr/>
          <p:nvPr/>
        </p:nvSpPr>
        <p:spPr>
          <a:xfrm>
            <a:off x="4434840" y="3429000"/>
            <a:ext cx="2103120" cy="2743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Place of Delivery</a:t>
            </a:r>
            <a:endParaRPr lang="en-US" sz="1050" dirty="0"/>
          </a:p>
        </p:txBody>
      </p:sp>
      <p:sp>
        <p:nvSpPr>
          <p:cNvPr id="25" name="Shape 23"/>
          <p:cNvSpPr/>
          <p:nvPr/>
        </p:nvSpPr>
        <p:spPr>
          <a:xfrm>
            <a:off x="6583680" y="3474720"/>
            <a:ext cx="2011680" cy="182880"/>
          </a:xfrm>
          <a:prstGeom prst="rect">
            <a:avLst/>
          </a:prstGeom>
          <a:solidFill>
            <a:srgbClr val="006B3F"/>
          </a:solidFill>
          <a:ln/>
        </p:spPr>
      </p:sp>
      <p:sp>
        <p:nvSpPr>
          <p:cNvPr id="26" name="Text 24"/>
          <p:cNvSpPr/>
          <p:nvPr/>
        </p:nvSpPr>
        <p:spPr>
          <a:xfrm>
            <a:off x="8641080" y="3429000"/>
            <a:ext cx="548640" cy="274320"/>
          </a:xfrm>
          <a:prstGeom prst="rect">
            <a:avLst/>
          </a:prstGeom>
          <a:noFill/>
          <a:ln/>
        </p:spPr>
        <p:txBody>
          <a:bodyPr wrap="square" lIns="0" tIns="0" rIns="0" bIns="0" rtlCol="0" anchor="ctr"/>
          <a:lstStyle/>
          <a:p>
            <a:pPr indent="0" marL="0">
              <a:buNone/>
            </a:pPr>
            <a:r>
              <a:rPr lang="en-US" sz="1050" b="1" dirty="0">
                <a:solidFill>
                  <a:srgbClr val="006B3F"/>
                </a:solidFill>
                <a:latin typeface="Calibri" pitchFamily="34" charset="0"/>
                <a:ea typeface="Calibri" pitchFamily="34" charset="-122"/>
                <a:cs typeface="Calibri" pitchFamily="34" charset="-120"/>
              </a:rPr>
              <a:t>46%</a:t>
            </a:r>
            <a:endParaRPr lang="en-US" sz="1050" dirty="0"/>
          </a:p>
        </p:txBody>
      </p:sp>
      <p:sp>
        <p:nvSpPr>
          <p:cNvPr id="27" name="Text 25"/>
          <p:cNvSpPr/>
          <p:nvPr/>
        </p:nvSpPr>
        <p:spPr>
          <a:xfrm>
            <a:off x="4434840" y="3813048"/>
            <a:ext cx="2103120" cy="2743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ANC Visits</a:t>
            </a:r>
            <a:endParaRPr lang="en-US" sz="1050" dirty="0"/>
          </a:p>
        </p:txBody>
      </p:sp>
      <p:sp>
        <p:nvSpPr>
          <p:cNvPr id="28" name="Shape 26"/>
          <p:cNvSpPr/>
          <p:nvPr/>
        </p:nvSpPr>
        <p:spPr>
          <a:xfrm>
            <a:off x="6583680" y="3858768"/>
            <a:ext cx="1530626" cy="182880"/>
          </a:xfrm>
          <a:prstGeom prst="rect">
            <a:avLst/>
          </a:prstGeom>
          <a:solidFill>
            <a:srgbClr val="006B3F"/>
          </a:solidFill>
          <a:ln/>
        </p:spPr>
      </p:sp>
      <p:sp>
        <p:nvSpPr>
          <p:cNvPr id="29" name="Text 27"/>
          <p:cNvSpPr/>
          <p:nvPr/>
        </p:nvSpPr>
        <p:spPr>
          <a:xfrm>
            <a:off x="8641080" y="3813048"/>
            <a:ext cx="548640" cy="274320"/>
          </a:xfrm>
          <a:prstGeom prst="rect">
            <a:avLst/>
          </a:prstGeom>
          <a:noFill/>
          <a:ln/>
        </p:spPr>
        <p:txBody>
          <a:bodyPr wrap="square" lIns="0" tIns="0" rIns="0" bIns="0" rtlCol="0" anchor="ctr"/>
          <a:lstStyle/>
          <a:p>
            <a:pPr indent="0" marL="0">
              <a:buNone/>
            </a:pPr>
            <a:r>
              <a:rPr lang="en-US" sz="1050" b="1" dirty="0">
                <a:solidFill>
                  <a:srgbClr val="006B3F"/>
                </a:solidFill>
                <a:latin typeface="Calibri" pitchFamily="34" charset="0"/>
                <a:ea typeface="Calibri" pitchFamily="34" charset="-122"/>
                <a:cs typeface="Calibri" pitchFamily="34" charset="-120"/>
              </a:rPr>
              <a:t>35%</a:t>
            </a:r>
            <a:endParaRPr lang="en-US" sz="1050" dirty="0"/>
          </a:p>
        </p:txBody>
      </p:sp>
      <p:sp>
        <p:nvSpPr>
          <p:cNvPr id="30" name="Text 28"/>
          <p:cNvSpPr/>
          <p:nvPr/>
        </p:nvSpPr>
        <p:spPr>
          <a:xfrm>
            <a:off x="4434840" y="4197096"/>
            <a:ext cx="2103120" cy="2743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Children Ever Born</a:t>
            </a:r>
            <a:endParaRPr lang="en-US" sz="1050" dirty="0"/>
          </a:p>
        </p:txBody>
      </p:sp>
      <p:sp>
        <p:nvSpPr>
          <p:cNvPr id="31" name="Shape 29"/>
          <p:cNvSpPr/>
          <p:nvPr/>
        </p:nvSpPr>
        <p:spPr>
          <a:xfrm>
            <a:off x="6583680" y="4242816"/>
            <a:ext cx="830911" cy="182880"/>
          </a:xfrm>
          <a:prstGeom prst="rect">
            <a:avLst/>
          </a:prstGeom>
          <a:solidFill>
            <a:srgbClr val="006B3F"/>
          </a:solidFill>
          <a:ln/>
        </p:spPr>
      </p:sp>
      <p:sp>
        <p:nvSpPr>
          <p:cNvPr id="32" name="Text 30"/>
          <p:cNvSpPr/>
          <p:nvPr/>
        </p:nvSpPr>
        <p:spPr>
          <a:xfrm>
            <a:off x="8641080" y="4197096"/>
            <a:ext cx="548640" cy="274320"/>
          </a:xfrm>
          <a:prstGeom prst="rect">
            <a:avLst/>
          </a:prstGeom>
          <a:noFill/>
          <a:ln/>
        </p:spPr>
        <p:txBody>
          <a:bodyPr wrap="square" lIns="0" tIns="0" rIns="0" bIns="0" rtlCol="0" anchor="ctr"/>
          <a:lstStyle/>
          <a:p>
            <a:pPr indent="0" marL="0">
              <a:buNone/>
            </a:pPr>
            <a:r>
              <a:rPr lang="en-US" sz="1050" b="1" dirty="0">
                <a:solidFill>
                  <a:srgbClr val="006B3F"/>
                </a:solidFill>
                <a:latin typeface="Calibri" pitchFamily="34" charset="0"/>
                <a:ea typeface="Calibri" pitchFamily="34" charset="-122"/>
                <a:cs typeface="Calibri" pitchFamily="34" charset="-120"/>
              </a:rPr>
              <a:t>19%</a:t>
            </a:r>
            <a:endParaRPr lang="en-US" sz="1050" dirty="0"/>
          </a:p>
        </p:txBody>
      </p:sp>
      <p:sp>
        <p:nvSpPr>
          <p:cNvPr id="33" name="Text 31"/>
          <p:cNvSpPr/>
          <p:nvPr/>
        </p:nvSpPr>
        <p:spPr>
          <a:xfrm>
            <a:off x="548640" y="4892040"/>
            <a:ext cx="11091672" cy="457200"/>
          </a:xfrm>
          <a:prstGeom prst="rect">
            <a:avLst/>
          </a:prstGeom>
          <a:noFill/>
          <a:ln/>
        </p:spPr>
        <p:txBody>
          <a:bodyPr wrap="square" lIns="0" tIns="0" rIns="0" bIns="0" rtlCol="0" anchor="ctr"/>
          <a:lstStyle/>
          <a:p>
            <a:pPr indent="0" marL="0">
              <a:buNone/>
            </a:pPr>
            <a:r>
              <a:rPr lang="en-US" sz="1150" i="1" dirty="0">
                <a:solidFill>
                  <a:srgbClr val="5B6B62"/>
                </a:solidFill>
                <a:latin typeface="Calibri" pitchFamily="34" charset="0"/>
                <a:ea typeface="Calibri" pitchFamily="34" charset="-122"/>
                <a:cs typeface="Calibri" pitchFamily="34" charset="-120"/>
              </a:rPr>
              <a:t>Model correctly identifies risk level about half the time — a strong ROC-AUC of 78.2% shows it reliably separates Low from Emergency cases.</a:t>
            </a:r>
            <a:endParaRPr lang="en-US" sz="1150" dirty="0"/>
          </a:p>
        </p:txBody>
      </p:sp>
      <p:sp>
        <p:nvSpPr>
          <p:cNvPr id="34" name="Text 3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35" name="Text 3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ANC Model — Where It Gets Confused</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The confusion matrix shows exactly where the model's predictions diverge from actual outcomes.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280160" y="1920240"/>
          <a:ext cx="6035040" cy="914400"/>
        </p:xfrm>
        <a:graphic>
          <a:graphicData uri="http://schemas.openxmlformats.org/drawingml/2006/table">
            <a:tbl>
              <a:tblPr/>
              <a:tblGrid>
                <a:gridCol w="1828800"/>
                <a:gridCol w="1051560"/>
                <a:gridCol w="1051560"/>
                <a:gridCol w="1051560"/>
                <a:gridCol w="1051560"/>
              </a:tblGrid>
              <a:tr h="5029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Actual \ Predicted</a:t>
                      </a:r>
                      <a:endParaRPr lang="en-US" sz="11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Emergency</a:t>
                      </a:r>
                      <a:endParaRPr lang="en-US" sz="11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502920">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318</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Moderate</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Emergency</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bl>
          </a:graphicData>
        </a:graphic>
      </p:graphicFrame>
      <p:sp>
        <p:nvSpPr>
          <p:cNvPr id="7" name="Text 4"/>
          <p:cNvSpPr/>
          <p:nvPr/>
        </p:nvSpPr>
        <p:spPr>
          <a:xfrm>
            <a:off x="7635240" y="1920240"/>
            <a:ext cx="4023360" cy="27432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Key Observations</a:t>
            </a:r>
            <a:endParaRPr lang="en-US" sz="1250" dirty="0"/>
          </a:p>
        </p:txBody>
      </p:sp>
      <p:sp>
        <p:nvSpPr>
          <p:cNvPr id="8" name="Text 5"/>
          <p:cNvSpPr/>
          <p:nvPr/>
        </p:nvSpPr>
        <p:spPr>
          <a:xfrm>
            <a:off x="7635240" y="2286000"/>
            <a:ext cx="4023360" cy="274320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Best at: </a:t>
            </a:r>
            <a:endParaRPr lang="en-US" sz="1100" dirty="0"/>
          </a:p>
          <a:p>
            <a:pPr indent="0" marL="0">
              <a:buNone/>
            </a:pPr>
            <a:r>
              <a:rPr lang="en-US" sz="1050" dirty="0">
                <a:solidFill>
                  <a:srgbClr val="5B6B62"/>
                </a:solidFill>
                <a:latin typeface="Calibri" pitchFamily="34" charset="0"/>
                <a:ea typeface="Calibri" pitchFamily="34" charset="-122"/>
                <a:cs typeface="Calibri" pitchFamily="34" charset="-120"/>
              </a:rPr>
              <a:t>Low and Moderate risk cases.</a:t>
            </a:r>
            <a:endParaRPr lang="en-US" sz="11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00000"/>
                </a:solidFill>
                <a:latin typeface="Calibri" pitchFamily="34" charset="0"/>
                <a:ea typeface="Calibri" pitchFamily="34" charset="-122"/>
                <a:cs typeface="Calibri" pitchFamily="34" charset="-120"/>
              </a:rPr>
              <a:t>Struggles with: </a:t>
            </a:r>
            <a:endParaRPr lang="en-US" sz="1100" dirty="0"/>
          </a:p>
          <a:p>
            <a:pPr indent="0" marL="0">
              <a:buNone/>
            </a:pPr>
            <a:r>
              <a:rPr lang="en-US" sz="1050" dirty="0">
                <a:solidFill>
                  <a:srgbClr val="5B6B62"/>
                </a:solidFill>
                <a:latin typeface="Calibri" pitchFamily="34" charset="0"/>
                <a:ea typeface="Calibri" pitchFamily="34" charset="-122"/>
                <a:cs typeface="Calibri" pitchFamily="34" charset="-120"/>
              </a:rPr>
              <a:t>Emergency cases — only 46 of 116 caught.</a:t>
            </a:r>
            <a:endParaRPr lang="en-US" sz="11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00000"/>
                </a:solidFill>
                <a:latin typeface="Calibri" pitchFamily="34" charset="0"/>
                <a:ea typeface="Calibri" pitchFamily="34" charset="-122"/>
                <a:cs typeface="Calibri" pitchFamily="34" charset="-120"/>
              </a:rPr>
              <a:t>Most errors: </a:t>
            </a:r>
            <a:endParaRPr lang="en-US" sz="1100" dirty="0"/>
          </a:p>
          <a:p>
            <a:pPr indent="0" marL="0">
              <a:buNone/>
            </a:pPr>
            <a:r>
              <a:rPr lang="en-US" sz="1050" dirty="0">
                <a:solidFill>
                  <a:srgbClr val="5B6B62"/>
                </a:solidFill>
                <a:latin typeface="Calibri" pitchFamily="34" charset="0"/>
                <a:ea typeface="Calibri" pitchFamily="34" charset="-122"/>
                <a:cs typeface="Calibri" pitchFamily="34" charset="-120"/>
              </a:rPr>
              <a:t>Between adjacent risk levels — clinically acceptable.</a:t>
            </a:r>
            <a:endParaRPr lang="en-US" sz="1100" dirty="0"/>
          </a:p>
        </p:txBody>
      </p:sp>
      <p:sp>
        <p:nvSpPr>
          <p:cNvPr id="9" name="Shape 6"/>
          <p:cNvSpPr/>
          <p:nvPr/>
        </p:nvSpPr>
        <p:spPr>
          <a:xfrm>
            <a:off x="548640" y="5623560"/>
            <a:ext cx="11091672" cy="822960"/>
          </a:xfrm>
          <a:prstGeom prst="roundRect">
            <a:avLst>
              <a:gd name="adj" fmla="val 8889"/>
            </a:avLst>
          </a:prstGeom>
          <a:solidFill>
            <a:srgbClr val="F4F8F5"/>
          </a:solidFill>
          <a:ln/>
          <a:effectLst>
            <a:outerShdw sx="100000" sy="100000" kx="0" ky="0" algn="bl" rotWithShape="0" blurRad="88900" dist="38100" dir="2700000">
              <a:srgbClr val="1A1A1A">
                <a:alpha val="12000"/>
              </a:srgbClr>
            </a:outerShdw>
          </a:effectLst>
        </p:spPr>
      </p:sp>
      <p:sp>
        <p:nvSpPr>
          <p:cNvPr id="10" name="Text 7"/>
          <p:cNvSpPr/>
          <p:nvPr/>
        </p:nvSpPr>
        <p:spPr>
          <a:xfrm>
            <a:off x="822960" y="5623560"/>
            <a:ext cx="10515600" cy="8229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What This Means: the model is useful and can guide clinical decisions, but should not be used alone — the clinical safety net ensures emergencies are still caught.</a:t>
            </a:r>
            <a:endParaRPr lang="en-US" sz="1100" dirty="0"/>
          </a:p>
        </p:txBody>
      </p:sp>
      <p:sp>
        <p:nvSpPr>
          <p:cNvPr id="11" name="Text 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12"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NutriCheck Malnutrition Model — Results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2004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Evaluated on the 20% test set representing 1,776 children.</a:t>
            </a:r>
            <a:endParaRPr lang="en-US" sz="1200" dirty="0"/>
          </a:p>
        </p:txBody>
      </p:sp>
      <p:sp>
        <p:nvSpPr>
          <p:cNvPr id="6" name="Shape 4"/>
          <p:cNvSpPr/>
          <p:nvPr/>
        </p:nvSpPr>
        <p:spPr>
          <a:xfrm>
            <a:off x="548640"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7" name="Text 5"/>
          <p:cNvSpPr/>
          <p:nvPr/>
        </p:nvSpPr>
        <p:spPr>
          <a:xfrm>
            <a:off x="548640" y="1920240"/>
            <a:ext cx="2084832" cy="548640"/>
          </a:xfrm>
          <a:prstGeom prst="rect">
            <a:avLst/>
          </a:prstGeom>
          <a:noFill/>
          <a:ln/>
        </p:spPr>
        <p:txBody>
          <a:bodyPr wrap="square" lIns="0" tIns="0" rIns="0" bIns="0" rtlCol="0" anchor="ctr"/>
          <a:lstStyle/>
          <a:p>
            <a:pPr algn="ctr" indent="0" marL="0">
              <a:buNone/>
            </a:pPr>
            <a:r>
              <a:rPr lang="en-US" sz="2400" b="1" dirty="0">
                <a:solidFill>
                  <a:srgbClr val="00381F"/>
                </a:solidFill>
                <a:latin typeface="Cambria" pitchFamily="34" charset="0"/>
                <a:ea typeface="Cambria" pitchFamily="34" charset="-122"/>
                <a:cs typeface="Cambria" pitchFamily="34" charset="-120"/>
              </a:rPr>
              <a:t>87.3%</a:t>
            </a:r>
            <a:endParaRPr lang="en-US" sz="2400" dirty="0"/>
          </a:p>
        </p:txBody>
      </p:sp>
      <p:sp>
        <p:nvSpPr>
          <p:cNvPr id="8" name="Text 6"/>
          <p:cNvSpPr/>
          <p:nvPr/>
        </p:nvSpPr>
        <p:spPr>
          <a:xfrm>
            <a:off x="548640"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Accuracy</a:t>
            </a:r>
            <a:endParaRPr lang="en-US" sz="1050" dirty="0"/>
          </a:p>
        </p:txBody>
      </p:sp>
      <p:sp>
        <p:nvSpPr>
          <p:cNvPr id="9" name="Shape 7"/>
          <p:cNvSpPr/>
          <p:nvPr/>
        </p:nvSpPr>
        <p:spPr>
          <a:xfrm>
            <a:off x="2752344"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10" name="Text 8"/>
          <p:cNvSpPr/>
          <p:nvPr/>
        </p:nvSpPr>
        <p:spPr>
          <a:xfrm>
            <a:off x="2752344" y="1920240"/>
            <a:ext cx="2084832" cy="548640"/>
          </a:xfrm>
          <a:prstGeom prst="rect">
            <a:avLst/>
          </a:prstGeom>
          <a:noFill/>
          <a:ln/>
        </p:spPr>
        <p:txBody>
          <a:bodyPr wrap="square" lIns="0" tIns="0" rIns="0" bIns="0" rtlCol="0" anchor="ctr"/>
          <a:lstStyle/>
          <a:p>
            <a:pPr algn="ctr" indent="0" marL="0">
              <a:buNone/>
            </a:pPr>
            <a:r>
              <a:rPr lang="en-US" sz="2400" b="1" dirty="0">
                <a:solidFill>
                  <a:srgbClr val="00381F"/>
                </a:solidFill>
                <a:latin typeface="Cambria" pitchFamily="34" charset="0"/>
                <a:ea typeface="Cambria" pitchFamily="34" charset="-122"/>
                <a:cs typeface="Cambria" pitchFamily="34" charset="-120"/>
              </a:rPr>
              <a:t>77.9%</a:t>
            </a:r>
            <a:endParaRPr lang="en-US" sz="2400" dirty="0"/>
          </a:p>
        </p:txBody>
      </p:sp>
      <p:sp>
        <p:nvSpPr>
          <p:cNvPr id="11" name="Text 9"/>
          <p:cNvSpPr/>
          <p:nvPr/>
        </p:nvSpPr>
        <p:spPr>
          <a:xfrm>
            <a:off x="2752344"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Precision</a:t>
            </a:r>
            <a:endParaRPr lang="en-US" sz="1050" dirty="0"/>
          </a:p>
        </p:txBody>
      </p:sp>
      <p:sp>
        <p:nvSpPr>
          <p:cNvPr id="12" name="Shape 10"/>
          <p:cNvSpPr/>
          <p:nvPr/>
        </p:nvSpPr>
        <p:spPr>
          <a:xfrm>
            <a:off x="4956048"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13" name="Text 11"/>
          <p:cNvSpPr/>
          <p:nvPr/>
        </p:nvSpPr>
        <p:spPr>
          <a:xfrm>
            <a:off x="4956048" y="1920240"/>
            <a:ext cx="2084832" cy="548640"/>
          </a:xfrm>
          <a:prstGeom prst="rect">
            <a:avLst/>
          </a:prstGeom>
          <a:noFill/>
          <a:ln/>
        </p:spPr>
        <p:txBody>
          <a:bodyPr wrap="square" lIns="0" tIns="0" rIns="0" bIns="0" rtlCol="0" anchor="ctr"/>
          <a:lstStyle/>
          <a:p>
            <a:pPr algn="ctr" indent="0" marL="0">
              <a:buNone/>
            </a:pPr>
            <a:r>
              <a:rPr lang="en-US" sz="2400" b="1" dirty="0">
                <a:solidFill>
                  <a:srgbClr val="00381F"/>
                </a:solidFill>
                <a:latin typeface="Cambria" pitchFamily="34" charset="0"/>
                <a:ea typeface="Cambria" pitchFamily="34" charset="-122"/>
                <a:cs typeface="Cambria" pitchFamily="34" charset="-120"/>
              </a:rPr>
              <a:t>87.3%</a:t>
            </a:r>
            <a:endParaRPr lang="en-US" sz="2400" dirty="0"/>
          </a:p>
        </p:txBody>
      </p:sp>
      <p:sp>
        <p:nvSpPr>
          <p:cNvPr id="14" name="Text 12"/>
          <p:cNvSpPr/>
          <p:nvPr/>
        </p:nvSpPr>
        <p:spPr>
          <a:xfrm>
            <a:off x="4956048"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Recall</a:t>
            </a:r>
            <a:endParaRPr lang="en-US" sz="1050" dirty="0"/>
          </a:p>
        </p:txBody>
      </p:sp>
      <p:sp>
        <p:nvSpPr>
          <p:cNvPr id="15" name="Shape 13"/>
          <p:cNvSpPr/>
          <p:nvPr/>
        </p:nvSpPr>
        <p:spPr>
          <a:xfrm>
            <a:off x="7159752" y="1828800"/>
            <a:ext cx="2084832" cy="1051560"/>
          </a:xfrm>
          <a:prstGeom prst="roundRect">
            <a:avLst>
              <a:gd name="adj" fmla="val 6957"/>
            </a:avLst>
          </a:prstGeom>
          <a:solidFill>
            <a:srgbClr val="F4F8F5"/>
          </a:solidFill>
          <a:ln/>
          <a:effectLst>
            <a:outerShdw sx="100000" sy="100000" kx="0" ky="0" algn="bl" rotWithShape="0" blurRad="88900" dist="38100" dir="2700000">
              <a:srgbClr val="1A1A1A">
                <a:alpha val="12000"/>
              </a:srgbClr>
            </a:outerShdw>
          </a:effectLst>
        </p:spPr>
      </p:sp>
      <p:sp>
        <p:nvSpPr>
          <p:cNvPr id="16" name="Text 14"/>
          <p:cNvSpPr/>
          <p:nvPr/>
        </p:nvSpPr>
        <p:spPr>
          <a:xfrm>
            <a:off x="7159752" y="1920240"/>
            <a:ext cx="2084832" cy="548640"/>
          </a:xfrm>
          <a:prstGeom prst="rect">
            <a:avLst/>
          </a:prstGeom>
          <a:noFill/>
          <a:ln/>
        </p:spPr>
        <p:txBody>
          <a:bodyPr wrap="square" lIns="0" tIns="0" rIns="0" bIns="0" rtlCol="0" anchor="ctr"/>
          <a:lstStyle/>
          <a:p>
            <a:pPr algn="ctr" indent="0" marL="0">
              <a:buNone/>
            </a:pPr>
            <a:r>
              <a:rPr lang="en-US" sz="2400" b="1" dirty="0">
                <a:solidFill>
                  <a:srgbClr val="00381F"/>
                </a:solidFill>
                <a:latin typeface="Cambria" pitchFamily="34" charset="0"/>
                <a:ea typeface="Cambria" pitchFamily="34" charset="-122"/>
                <a:cs typeface="Cambria" pitchFamily="34" charset="-120"/>
              </a:rPr>
              <a:t>81.8%</a:t>
            </a:r>
            <a:endParaRPr lang="en-US" sz="2400" dirty="0"/>
          </a:p>
        </p:txBody>
      </p:sp>
      <p:sp>
        <p:nvSpPr>
          <p:cNvPr id="17" name="Text 15"/>
          <p:cNvSpPr/>
          <p:nvPr/>
        </p:nvSpPr>
        <p:spPr>
          <a:xfrm>
            <a:off x="7159752" y="2487168"/>
            <a:ext cx="2084832" cy="32004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F1-Score</a:t>
            </a:r>
            <a:endParaRPr lang="en-US" sz="1050" dirty="0"/>
          </a:p>
        </p:txBody>
      </p:sp>
      <p:sp>
        <p:nvSpPr>
          <p:cNvPr id="18" name="Shape 16"/>
          <p:cNvSpPr/>
          <p:nvPr/>
        </p:nvSpPr>
        <p:spPr>
          <a:xfrm>
            <a:off x="9363456" y="1828800"/>
            <a:ext cx="2084832" cy="1051560"/>
          </a:xfrm>
          <a:prstGeom prst="roundRect">
            <a:avLst>
              <a:gd name="adj" fmla="val 6957"/>
            </a:avLst>
          </a:prstGeom>
          <a:solidFill>
            <a:srgbClr val="CE1126"/>
          </a:solidFill>
          <a:ln/>
          <a:effectLst>
            <a:outerShdw sx="100000" sy="100000" kx="0" ky="0" algn="bl" rotWithShape="0" blurRad="88900" dist="38100" dir="2700000">
              <a:srgbClr val="1A1A1A">
                <a:alpha val="12000"/>
              </a:srgbClr>
            </a:outerShdw>
          </a:effectLst>
        </p:spPr>
      </p:sp>
      <p:sp>
        <p:nvSpPr>
          <p:cNvPr id="19" name="Text 17"/>
          <p:cNvSpPr/>
          <p:nvPr/>
        </p:nvSpPr>
        <p:spPr>
          <a:xfrm>
            <a:off x="9363456" y="1920240"/>
            <a:ext cx="2084832"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55.4%</a:t>
            </a:r>
            <a:endParaRPr lang="en-US" sz="2400" dirty="0"/>
          </a:p>
        </p:txBody>
      </p:sp>
      <p:sp>
        <p:nvSpPr>
          <p:cNvPr id="20" name="Text 18"/>
          <p:cNvSpPr/>
          <p:nvPr/>
        </p:nvSpPr>
        <p:spPr>
          <a:xfrm>
            <a:off x="9363456" y="2487168"/>
            <a:ext cx="2084832" cy="3200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ROC-AUC</a:t>
            </a:r>
            <a:endParaRPr lang="en-US" sz="1050" dirty="0"/>
          </a:p>
        </p:txBody>
      </p:sp>
      <p:sp>
        <p:nvSpPr>
          <p:cNvPr id="21" name="Text 19"/>
          <p:cNvSpPr/>
          <p:nvPr/>
        </p:nvSpPr>
        <p:spPr>
          <a:xfrm>
            <a:off x="548640" y="3063240"/>
            <a:ext cx="3429000" cy="1554480"/>
          </a:xfrm>
          <a:prstGeom prst="rect">
            <a:avLst/>
          </a:prstGeom>
          <a:noFill/>
          <a:ln/>
        </p:spPr>
        <p:txBody>
          <a:bodyPr wrap="square" lIns="0" tIns="0" rIns="0" bIns="0" rtlCol="0" anchor="ctr"/>
          <a:lstStyle/>
          <a:p>
            <a:pPr indent="0" marL="0">
              <a:buNone/>
            </a:pPr>
            <a:r>
              <a:rPr lang="en-US" sz="1200" b="1" dirty="0">
                <a:solidFill>
                  <a:srgbClr val="CE1126"/>
                </a:solidFill>
                <a:latin typeface="Calibri" pitchFamily="34" charset="0"/>
                <a:ea typeface="Calibri" pitchFamily="34" charset="-122"/>
                <a:cs typeface="Calibri" pitchFamily="34" charset="-120"/>
              </a:rPr>
              <a:t>R² = -4.3%</a:t>
            </a:r>
            <a:endParaRPr lang="en-US" sz="1200" dirty="0"/>
          </a:p>
          <a:p>
            <a:pPr indent="0" marL="0">
              <a:buNone/>
            </a:pPr>
            <a:r>
              <a:rPr lang="en-US" sz="1000" dirty="0">
                <a:solidFill>
                  <a:srgbClr val="5B6B62"/>
                </a:solidFill>
                <a:latin typeface="Calibri" pitchFamily="34" charset="0"/>
                <a:ea typeface="Calibri" pitchFamily="34" charset="-122"/>
                <a:cs typeface="Calibri" pitchFamily="34" charset="-120"/>
              </a:rPr>
              <a:t>Negative — the risk score is essentially not useful.</a:t>
            </a:r>
            <a:endParaRPr lang="en-US" sz="12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00381F"/>
                </a:solidFill>
                <a:latin typeface="Calibri" pitchFamily="34" charset="0"/>
                <a:ea typeface="Calibri" pitchFamily="34" charset="-122"/>
                <a:cs typeface="Calibri" pitchFamily="34" charset="-120"/>
              </a:rPr>
              <a:t>MAE = 12.89 points</a:t>
            </a:r>
            <a:endParaRPr lang="en-US" sz="1200" dirty="0"/>
          </a:p>
          <a:p>
            <a:pPr indent="0" marL="0">
              <a:buNone/>
            </a:pPr>
            <a:r>
              <a:rPr lang="en-US" sz="1000" dirty="0">
                <a:solidFill>
                  <a:srgbClr val="5B6B62"/>
                </a:solidFill>
                <a:latin typeface="Calibri" pitchFamily="34" charset="0"/>
                <a:ea typeface="Calibri" pitchFamily="34" charset="-122"/>
                <a:cs typeface="Calibri" pitchFamily="34" charset="-120"/>
              </a:rPr>
              <a:t>Average error ~13 points, but the negative R² shows guessing.</a:t>
            </a:r>
            <a:endParaRPr lang="en-US" sz="1200" dirty="0"/>
          </a:p>
        </p:txBody>
      </p:sp>
      <p:sp>
        <p:nvSpPr>
          <p:cNvPr id="22" name="Shape 20"/>
          <p:cNvSpPr/>
          <p:nvPr/>
        </p:nvSpPr>
        <p:spPr>
          <a:xfrm>
            <a:off x="4160520" y="3063240"/>
            <a:ext cx="9144" cy="1554480"/>
          </a:xfrm>
          <a:prstGeom prst="rect">
            <a:avLst/>
          </a:prstGeom>
          <a:noFill/>
          <a:ln w="12700">
            <a:solidFill>
              <a:srgbClr val="DCE5E0"/>
            </a:solidFill>
            <a:prstDash val="solid"/>
          </a:ln>
        </p:spPr>
      </p:sp>
      <p:sp>
        <p:nvSpPr>
          <p:cNvPr id="23" name="Text 21"/>
          <p:cNvSpPr/>
          <p:nvPr/>
        </p:nvSpPr>
        <p:spPr>
          <a:xfrm>
            <a:off x="4434840" y="3063240"/>
            <a:ext cx="3657600" cy="274320"/>
          </a:xfrm>
          <a:prstGeom prst="rect">
            <a:avLst/>
          </a:prstGeom>
          <a:noFill/>
          <a:ln/>
        </p:spPr>
        <p:txBody>
          <a:bodyPr wrap="square" lIns="0" tIns="0" rIns="0" bIns="0" rtlCol="0" anchor="ctr"/>
          <a:lstStyle/>
          <a:p>
            <a:pPr indent="0" marL="0">
              <a:buNone/>
            </a:pPr>
            <a:r>
              <a:rPr lang="en-US" sz="1200" b="1" dirty="0">
                <a:solidFill>
                  <a:srgbClr val="00381F"/>
                </a:solidFill>
                <a:latin typeface="Calibri" pitchFamily="34" charset="0"/>
                <a:ea typeface="Calibri" pitchFamily="34" charset="-122"/>
                <a:cs typeface="Calibri" pitchFamily="34" charset="-120"/>
              </a:rPr>
              <a:t>Feature Importance</a:t>
            </a:r>
            <a:endParaRPr lang="en-US" sz="1200" dirty="0"/>
          </a:p>
        </p:txBody>
      </p:sp>
      <p:sp>
        <p:nvSpPr>
          <p:cNvPr id="24" name="Text 22"/>
          <p:cNvSpPr/>
          <p:nvPr/>
        </p:nvSpPr>
        <p:spPr>
          <a:xfrm>
            <a:off x="4434840" y="3429000"/>
            <a:ext cx="2103120" cy="2743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ANC Visits</a:t>
            </a:r>
            <a:endParaRPr lang="en-US" sz="1050" dirty="0"/>
          </a:p>
        </p:txBody>
      </p:sp>
      <p:sp>
        <p:nvSpPr>
          <p:cNvPr id="25" name="Shape 23"/>
          <p:cNvSpPr/>
          <p:nvPr/>
        </p:nvSpPr>
        <p:spPr>
          <a:xfrm>
            <a:off x="6583680" y="3474720"/>
            <a:ext cx="2011680" cy="182880"/>
          </a:xfrm>
          <a:prstGeom prst="rect">
            <a:avLst/>
          </a:prstGeom>
          <a:solidFill>
            <a:srgbClr val="00381F"/>
          </a:solidFill>
          <a:ln/>
        </p:spPr>
      </p:sp>
      <p:sp>
        <p:nvSpPr>
          <p:cNvPr id="26" name="Text 24"/>
          <p:cNvSpPr/>
          <p:nvPr/>
        </p:nvSpPr>
        <p:spPr>
          <a:xfrm>
            <a:off x="8641080" y="3429000"/>
            <a:ext cx="548640" cy="274320"/>
          </a:xfrm>
          <a:prstGeom prst="rect">
            <a:avLst/>
          </a:prstGeom>
          <a:noFill/>
          <a:ln/>
        </p:spPr>
        <p:txBody>
          <a:bodyPr wrap="square" lIns="0" tIns="0" rIns="0" bIns="0" rtlCol="0" anchor="ctr"/>
          <a:lstStyle/>
          <a:p>
            <a:pPr indent="0" marL="0">
              <a:buNone/>
            </a:pPr>
            <a:r>
              <a:rPr lang="en-US" sz="1050" b="1" dirty="0">
                <a:solidFill>
                  <a:srgbClr val="00381F"/>
                </a:solidFill>
                <a:latin typeface="Calibri" pitchFamily="34" charset="0"/>
                <a:ea typeface="Calibri" pitchFamily="34" charset="-122"/>
                <a:cs typeface="Calibri" pitchFamily="34" charset="-120"/>
              </a:rPr>
              <a:t>38%</a:t>
            </a:r>
            <a:endParaRPr lang="en-US" sz="1050" dirty="0"/>
          </a:p>
        </p:txBody>
      </p:sp>
      <p:sp>
        <p:nvSpPr>
          <p:cNvPr id="27" name="Text 25"/>
          <p:cNvSpPr/>
          <p:nvPr/>
        </p:nvSpPr>
        <p:spPr>
          <a:xfrm>
            <a:off x="4434840" y="3813048"/>
            <a:ext cx="2103120" cy="2743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Child Age</a:t>
            </a:r>
            <a:endParaRPr lang="en-US" sz="1050" dirty="0"/>
          </a:p>
        </p:txBody>
      </p:sp>
      <p:sp>
        <p:nvSpPr>
          <p:cNvPr id="28" name="Shape 26"/>
          <p:cNvSpPr/>
          <p:nvPr/>
        </p:nvSpPr>
        <p:spPr>
          <a:xfrm>
            <a:off x="6583680" y="3858768"/>
            <a:ext cx="1694046" cy="182880"/>
          </a:xfrm>
          <a:prstGeom prst="rect">
            <a:avLst/>
          </a:prstGeom>
          <a:solidFill>
            <a:srgbClr val="00381F"/>
          </a:solidFill>
          <a:ln/>
        </p:spPr>
      </p:sp>
      <p:sp>
        <p:nvSpPr>
          <p:cNvPr id="29" name="Text 27"/>
          <p:cNvSpPr/>
          <p:nvPr/>
        </p:nvSpPr>
        <p:spPr>
          <a:xfrm>
            <a:off x="8641080" y="3813048"/>
            <a:ext cx="548640" cy="274320"/>
          </a:xfrm>
          <a:prstGeom prst="rect">
            <a:avLst/>
          </a:prstGeom>
          <a:noFill/>
          <a:ln/>
        </p:spPr>
        <p:txBody>
          <a:bodyPr wrap="square" lIns="0" tIns="0" rIns="0" bIns="0" rtlCol="0" anchor="ctr"/>
          <a:lstStyle/>
          <a:p>
            <a:pPr indent="0" marL="0">
              <a:buNone/>
            </a:pPr>
            <a:r>
              <a:rPr lang="en-US" sz="1050" b="1" dirty="0">
                <a:solidFill>
                  <a:srgbClr val="00381F"/>
                </a:solidFill>
                <a:latin typeface="Calibri" pitchFamily="34" charset="0"/>
                <a:ea typeface="Calibri" pitchFamily="34" charset="-122"/>
                <a:cs typeface="Calibri" pitchFamily="34" charset="-120"/>
              </a:rPr>
              <a:t>32%</a:t>
            </a:r>
            <a:endParaRPr lang="en-US" sz="1050" dirty="0"/>
          </a:p>
        </p:txBody>
      </p:sp>
      <p:sp>
        <p:nvSpPr>
          <p:cNvPr id="30" name="Text 28"/>
          <p:cNvSpPr/>
          <p:nvPr/>
        </p:nvSpPr>
        <p:spPr>
          <a:xfrm>
            <a:off x="4434840" y="4197096"/>
            <a:ext cx="2103120" cy="27432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Breastfeeding Duration</a:t>
            </a:r>
            <a:endParaRPr lang="en-US" sz="1050" dirty="0"/>
          </a:p>
        </p:txBody>
      </p:sp>
      <p:sp>
        <p:nvSpPr>
          <p:cNvPr id="31" name="Shape 29"/>
          <p:cNvSpPr/>
          <p:nvPr/>
        </p:nvSpPr>
        <p:spPr>
          <a:xfrm>
            <a:off x="6583680" y="4242816"/>
            <a:ext cx="1588168" cy="182880"/>
          </a:xfrm>
          <a:prstGeom prst="rect">
            <a:avLst/>
          </a:prstGeom>
          <a:solidFill>
            <a:srgbClr val="00381F"/>
          </a:solidFill>
          <a:ln/>
        </p:spPr>
      </p:sp>
      <p:sp>
        <p:nvSpPr>
          <p:cNvPr id="32" name="Text 30"/>
          <p:cNvSpPr/>
          <p:nvPr/>
        </p:nvSpPr>
        <p:spPr>
          <a:xfrm>
            <a:off x="8641080" y="4197096"/>
            <a:ext cx="548640" cy="274320"/>
          </a:xfrm>
          <a:prstGeom prst="rect">
            <a:avLst/>
          </a:prstGeom>
          <a:noFill/>
          <a:ln/>
        </p:spPr>
        <p:txBody>
          <a:bodyPr wrap="square" lIns="0" tIns="0" rIns="0" bIns="0" rtlCol="0" anchor="ctr"/>
          <a:lstStyle/>
          <a:p>
            <a:pPr indent="0" marL="0">
              <a:buNone/>
            </a:pPr>
            <a:r>
              <a:rPr lang="en-US" sz="1050" b="1" dirty="0">
                <a:solidFill>
                  <a:srgbClr val="00381F"/>
                </a:solidFill>
                <a:latin typeface="Calibri" pitchFamily="34" charset="0"/>
                <a:ea typeface="Calibri" pitchFamily="34" charset="-122"/>
                <a:cs typeface="Calibri" pitchFamily="34" charset="-120"/>
              </a:rPr>
              <a:t>30%</a:t>
            </a:r>
            <a:endParaRPr lang="en-US" sz="1050" dirty="0"/>
          </a:p>
        </p:txBody>
      </p:sp>
      <p:sp>
        <p:nvSpPr>
          <p:cNvPr id="33" name="Shape 31"/>
          <p:cNvSpPr/>
          <p:nvPr/>
        </p:nvSpPr>
        <p:spPr>
          <a:xfrm>
            <a:off x="548640" y="4892040"/>
            <a:ext cx="11091672" cy="594360"/>
          </a:xfrm>
          <a:prstGeom prst="roundRect">
            <a:avLst>
              <a:gd name="adj" fmla="val 10769"/>
            </a:avLst>
          </a:prstGeom>
          <a:solidFill>
            <a:srgbClr val="CE1126"/>
          </a:solidFill>
          <a:ln/>
        </p:spPr>
      </p:sp>
      <p:sp>
        <p:nvSpPr>
          <p:cNvPr id="34" name="Text 32"/>
          <p:cNvSpPr/>
          <p:nvPr/>
        </p:nvSpPr>
        <p:spPr>
          <a:xfrm>
            <a:off x="822960" y="4892040"/>
            <a:ext cx="10515600" cy="5943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High accuracy is misleading here — the ROC-AUC of 55.4% reveals the model struggles to distinguish MAM from SAM (see next slide).</a:t>
            </a:r>
            <a:endParaRPr lang="en-US" sz="1150" dirty="0"/>
          </a:p>
        </p:txBody>
      </p:sp>
      <p:sp>
        <p:nvSpPr>
          <p:cNvPr id="35" name="Text 3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36" name="Text 3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NutriCheck — The Class Imbalance Problem</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The model is excellent at identifying Normal children but fails to identify MAM and SAM.</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4937760" cy="914400"/>
        </p:xfrm>
        <a:graphic>
          <a:graphicData uri="http://schemas.openxmlformats.org/drawingml/2006/table">
            <a:tbl>
              <a:tblPr/>
              <a:tblGrid>
                <a:gridCol w="1828800"/>
                <a:gridCol w="1033272"/>
                <a:gridCol w="1033272"/>
                <a:gridCol w="1033272"/>
              </a:tblGrid>
              <a:tr h="56692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Actual \ Predicted</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Normal</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MAM</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SAM</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r>
              <a:tr h="566928">
                <a:tc>
                  <a:txBody>
                    <a:bodyPr/>
                    <a:lstStyle/>
                    <a:p>
                      <a:pPr algn="ctr" indent="0" marL="0">
                        <a:buNone/>
                      </a:pPr>
                      <a:r>
                        <a:rPr lang="en-US" sz="1250" b="1" dirty="0">
                          <a:solidFill>
                            <a:srgbClr val="1A1A1A"/>
                          </a:solidFill>
                          <a:latin typeface="Calibri" pitchFamily="34" charset="0"/>
                          <a:ea typeface="Calibri" pitchFamily="34" charset="-122"/>
                          <a:cs typeface="Calibri" pitchFamily="34" charset="-120"/>
                        </a:rPr>
                        <a:t>Normal</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1,544</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566928">
                <a:tc>
                  <a:txBody>
                    <a:bodyPr/>
                    <a:lstStyle/>
                    <a:p>
                      <a:pPr algn="ctr" indent="0" marL="0">
                        <a:buNone/>
                      </a:pPr>
                      <a:r>
                        <a:rPr lang="en-US" sz="1250" b="1" dirty="0">
                          <a:solidFill>
                            <a:srgbClr val="1A1A1A"/>
                          </a:solidFill>
                          <a:latin typeface="Calibri" pitchFamily="34" charset="0"/>
                          <a:ea typeface="Calibri" pitchFamily="34" charset="-122"/>
                          <a:cs typeface="Calibri" pitchFamily="34" charset="-120"/>
                        </a:rPr>
                        <a:t>MAM</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190</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BE3E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51</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566928">
                <a:tc>
                  <a:txBody>
                    <a:bodyPr/>
                    <a:lstStyle/>
                    <a:p>
                      <a:pPr algn="ctr" indent="0" marL="0">
                        <a:buNone/>
                      </a:pPr>
                      <a:r>
                        <a:rPr lang="en-US" sz="1250" b="1" dirty="0">
                          <a:solidFill>
                            <a:srgbClr val="1A1A1A"/>
                          </a:solidFill>
                          <a:latin typeface="Calibri" pitchFamily="34" charset="0"/>
                          <a:ea typeface="Calibri" pitchFamily="34" charset="-122"/>
                          <a:cs typeface="Calibri" pitchFamily="34" charset="-120"/>
                        </a:rPr>
                        <a:t>SAM</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35</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BE3E1"/>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r>
            </a:tbl>
          </a:graphicData>
        </a:graphic>
      </p:graphicFrame>
      <p:sp>
        <p:nvSpPr>
          <p:cNvPr id="7" name="Text 4"/>
          <p:cNvSpPr/>
          <p:nvPr/>
        </p:nvSpPr>
        <p:spPr>
          <a:xfrm>
            <a:off x="5943600" y="1920240"/>
            <a:ext cx="5669280" cy="274320"/>
          </a:xfrm>
          <a:prstGeom prst="rect">
            <a:avLst/>
          </a:prstGeom>
          <a:noFill/>
          <a:ln/>
        </p:spPr>
        <p:txBody>
          <a:bodyPr wrap="square" lIns="0" tIns="0" rIns="0" bIns="0" rtlCol="0" anchor="ctr"/>
          <a:lstStyle/>
          <a:p>
            <a:pPr indent="0" marL="0">
              <a:buNone/>
            </a:pPr>
            <a:r>
              <a:rPr lang="en-US" sz="1250" b="1" dirty="0">
                <a:solidFill>
                  <a:srgbClr val="CE1126"/>
                </a:solidFill>
                <a:latin typeface="Calibri" pitchFamily="34" charset="0"/>
                <a:ea typeface="Calibri" pitchFamily="34" charset="-122"/>
                <a:cs typeface="Calibri" pitchFamily="34" charset="-120"/>
              </a:rPr>
              <a:t>Class Imbalance in Training Data</a:t>
            </a:r>
            <a:endParaRPr lang="en-US" sz="1250" dirty="0"/>
          </a:p>
        </p:txBody>
      </p:sp>
      <p:sp>
        <p:nvSpPr>
          <p:cNvPr id="8" name="Text 5"/>
          <p:cNvSpPr/>
          <p:nvPr/>
        </p:nvSpPr>
        <p:spPr>
          <a:xfrm>
            <a:off x="5943600" y="2331720"/>
            <a:ext cx="118872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Normal</a:t>
            </a:r>
            <a:endParaRPr lang="en-US" sz="1100" dirty="0"/>
          </a:p>
        </p:txBody>
      </p:sp>
      <p:sp>
        <p:nvSpPr>
          <p:cNvPr id="9" name="Shape 6"/>
          <p:cNvSpPr/>
          <p:nvPr/>
        </p:nvSpPr>
        <p:spPr>
          <a:xfrm>
            <a:off x="7178040" y="2386584"/>
            <a:ext cx="4114800" cy="219456"/>
          </a:xfrm>
          <a:prstGeom prst="rect">
            <a:avLst/>
          </a:prstGeom>
          <a:solidFill>
            <a:srgbClr val="006B3F"/>
          </a:solidFill>
          <a:ln/>
        </p:spPr>
      </p:sp>
      <p:sp>
        <p:nvSpPr>
          <p:cNvPr id="10" name="Text 7"/>
          <p:cNvSpPr/>
          <p:nvPr/>
        </p:nvSpPr>
        <p:spPr>
          <a:xfrm>
            <a:off x="11338560" y="2331720"/>
            <a:ext cx="5486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87.7%</a:t>
            </a:r>
            <a:endParaRPr lang="en-US" sz="1100" dirty="0"/>
          </a:p>
        </p:txBody>
      </p:sp>
      <p:sp>
        <p:nvSpPr>
          <p:cNvPr id="11" name="Text 8"/>
          <p:cNvSpPr/>
          <p:nvPr/>
        </p:nvSpPr>
        <p:spPr>
          <a:xfrm>
            <a:off x="5943600" y="2788920"/>
            <a:ext cx="118872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MAM</a:t>
            </a:r>
            <a:endParaRPr lang="en-US" sz="1100" dirty="0"/>
          </a:p>
        </p:txBody>
      </p:sp>
      <p:sp>
        <p:nvSpPr>
          <p:cNvPr id="12" name="Shape 9"/>
          <p:cNvSpPr/>
          <p:nvPr/>
        </p:nvSpPr>
        <p:spPr>
          <a:xfrm>
            <a:off x="7178040" y="2843784"/>
            <a:ext cx="459807" cy="219456"/>
          </a:xfrm>
          <a:prstGeom prst="rect">
            <a:avLst/>
          </a:prstGeom>
          <a:solidFill>
            <a:srgbClr val="FCD116"/>
          </a:solidFill>
          <a:ln/>
        </p:spPr>
      </p:sp>
      <p:sp>
        <p:nvSpPr>
          <p:cNvPr id="13" name="Text 10"/>
          <p:cNvSpPr/>
          <p:nvPr/>
        </p:nvSpPr>
        <p:spPr>
          <a:xfrm>
            <a:off x="11338560" y="2788920"/>
            <a:ext cx="5486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9.8%</a:t>
            </a:r>
            <a:endParaRPr lang="en-US" sz="1100" dirty="0"/>
          </a:p>
        </p:txBody>
      </p:sp>
      <p:sp>
        <p:nvSpPr>
          <p:cNvPr id="14" name="Text 11"/>
          <p:cNvSpPr/>
          <p:nvPr/>
        </p:nvSpPr>
        <p:spPr>
          <a:xfrm>
            <a:off x="5943600" y="3246120"/>
            <a:ext cx="118872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SAM</a:t>
            </a:r>
            <a:endParaRPr lang="en-US" sz="1100" dirty="0"/>
          </a:p>
        </p:txBody>
      </p:sp>
      <p:sp>
        <p:nvSpPr>
          <p:cNvPr id="15" name="Shape 12"/>
          <p:cNvSpPr/>
          <p:nvPr/>
        </p:nvSpPr>
        <p:spPr>
          <a:xfrm>
            <a:off x="7178040" y="3300984"/>
            <a:ext cx="117298" cy="219456"/>
          </a:xfrm>
          <a:prstGeom prst="rect">
            <a:avLst/>
          </a:prstGeom>
          <a:solidFill>
            <a:srgbClr val="CE1126"/>
          </a:solidFill>
          <a:ln/>
        </p:spPr>
      </p:sp>
      <p:sp>
        <p:nvSpPr>
          <p:cNvPr id="16" name="Text 13"/>
          <p:cNvSpPr/>
          <p:nvPr/>
        </p:nvSpPr>
        <p:spPr>
          <a:xfrm>
            <a:off x="11338560" y="3246120"/>
            <a:ext cx="5486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2.5%</a:t>
            </a:r>
            <a:endParaRPr lang="en-US" sz="1100" dirty="0"/>
          </a:p>
        </p:txBody>
      </p:sp>
      <p:sp>
        <p:nvSpPr>
          <p:cNvPr id="17" name="Text 14"/>
          <p:cNvSpPr/>
          <p:nvPr/>
        </p:nvSpPr>
        <p:spPr>
          <a:xfrm>
            <a:off x="5943600" y="3886200"/>
            <a:ext cx="5669280" cy="822960"/>
          </a:xfrm>
          <a:prstGeom prst="rect">
            <a:avLst/>
          </a:prstGeom>
          <a:noFill/>
          <a:ln/>
        </p:spPr>
        <p:txBody>
          <a:bodyPr wrap="square" lIns="0" tIns="0" rIns="0" bIns="0" rtlCol="0" anchor="ctr"/>
          <a:lstStyle/>
          <a:p>
            <a:pPr indent="0" marL="0">
              <a:buNone/>
            </a:pPr>
            <a:r>
              <a:rPr lang="en-US" sz="1050" dirty="0">
                <a:solidFill>
                  <a:srgbClr val="5B6B62"/>
                </a:solidFill>
                <a:latin typeface="Calibri" pitchFamily="34" charset="0"/>
                <a:ea typeface="Calibri" pitchFamily="34" charset="-122"/>
                <a:cs typeface="Calibri" pitchFamily="34" charset="-120"/>
              </a:rPr>
              <a:t>The model saw so few MAM/SAM examples that it learned predicting "Normal" is almost always safe — missing 79% of MAM and 100% of SAM cases.</a:t>
            </a:r>
            <a:endParaRPr lang="en-US" sz="1050" dirty="0"/>
          </a:p>
        </p:txBody>
      </p:sp>
      <p:sp>
        <p:nvSpPr>
          <p:cNvPr id="18" name="Shape 15"/>
          <p:cNvSpPr/>
          <p:nvPr/>
        </p:nvSpPr>
        <p:spPr>
          <a:xfrm>
            <a:off x="548640" y="5623560"/>
            <a:ext cx="11091672" cy="822960"/>
          </a:xfrm>
          <a:prstGeom prst="roundRect">
            <a:avLst>
              <a:gd name="adj" fmla="val 8889"/>
            </a:avLst>
          </a:prstGeom>
          <a:solidFill>
            <a:srgbClr val="CE1126"/>
          </a:solidFill>
          <a:ln/>
        </p:spPr>
      </p:sp>
      <p:sp>
        <p:nvSpPr>
          <p:cNvPr id="19" name="Text 16"/>
          <p:cNvSpPr/>
          <p:nvPr/>
        </p:nvSpPr>
        <p:spPr>
          <a:xfrm>
            <a:off x="822960" y="5623560"/>
            <a:ext cx="10515600" cy="8229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This Means: the model is not yet ready for clinical use. We need SMOTE to create synthetic MAM/SAM examples and correct this imbalance.</a:t>
            </a:r>
            <a:endParaRPr lang="en-US" sz="1150" dirty="0"/>
          </a:p>
        </p:txBody>
      </p:sp>
      <p:sp>
        <p:nvSpPr>
          <p:cNvPr id="20"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21"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ENGINEERING</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How AnteScan Works — System Architecture</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Shape 3"/>
          <p:cNvSpPr/>
          <p:nvPr/>
        </p:nvSpPr>
        <p:spPr>
          <a:xfrm>
            <a:off x="548640" y="1508760"/>
            <a:ext cx="11091672" cy="795528"/>
          </a:xfrm>
          <a:prstGeom prst="roundRect">
            <a:avLst>
              <a:gd name="adj" fmla="val 8046"/>
            </a:avLst>
          </a:prstGeom>
          <a:solidFill>
            <a:srgbClr val="006B3F"/>
          </a:solidFill>
          <a:ln/>
        </p:spPr>
      </p:sp>
      <p:sp>
        <p:nvSpPr>
          <p:cNvPr id="6" name="Text 4"/>
          <p:cNvSpPr/>
          <p:nvPr/>
        </p:nvSpPr>
        <p:spPr>
          <a:xfrm>
            <a:off x="777240" y="1581912"/>
            <a:ext cx="30175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User Interface</a:t>
            </a:r>
            <a:endParaRPr lang="en-US" sz="1350" dirty="0"/>
          </a:p>
        </p:txBody>
      </p:sp>
      <p:sp>
        <p:nvSpPr>
          <p:cNvPr id="7" name="Text 5"/>
          <p:cNvSpPr/>
          <p:nvPr/>
        </p:nvSpPr>
        <p:spPr>
          <a:xfrm>
            <a:off x="777240" y="1911096"/>
            <a:ext cx="3017520" cy="32004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React PWA — works on any smartphone or desktop</a:t>
            </a:r>
            <a:endParaRPr lang="en-US" sz="900" dirty="0"/>
          </a:p>
        </p:txBody>
      </p:sp>
      <p:sp>
        <p:nvSpPr>
          <p:cNvPr id="8" name="Text 6"/>
          <p:cNvSpPr/>
          <p:nvPr/>
        </p:nvSpPr>
        <p:spPr>
          <a:xfrm>
            <a:off x="3931920" y="1508760"/>
            <a:ext cx="7543800" cy="7955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CHW Mobile Portal   •   Admin Web Dashboard   •   JWT Login / Auth</a:t>
            </a:r>
            <a:endParaRPr lang="en-US" sz="1000" dirty="0"/>
          </a:p>
        </p:txBody>
      </p:sp>
      <p:sp>
        <p:nvSpPr>
          <p:cNvPr id="9" name="Shape 7"/>
          <p:cNvSpPr/>
          <p:nvPr/>
        </p:nvSpPr>
        <p:spPr>
          <a:xfrm>
            <a:off x="548640" y="2359152"/>
            <a:ext cx="11091672" cy="795528"/>
          </a:xfrm>
          <a:prstGeom prst="roundRect">
            <a:avLst>
              <a:gd name="adj" fmla="val 8046"/>
            </a:avLst>
          </a:prstGeom>
          <a:solidFill>
            <a:srgbClr val="00381F"/>
          </a:solidFill>
          <a:ln/>
        </p:spPr>
      </p:sp>
      <p:sp>
        <p:nvSpPr>
          <p:cNvPr id="10" name="Text 8"/>
          <p:cNvSpPr/>
          <p:nvPr/>
        </p:nvSpPr>
        <p:spPr>
          <a:xfrm>
            <a:off x="777240" y="2432304"/>
            <a:ext cx="30175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Offline Data Storage</a:t>
            </a:r>
            <a:endParaRPr lang="en-US" sz="1350" dirty="0"/>
          </a:p>
        </p:txBody>
      </p:sp>
      <p:sp>
        <p:nvSpPr>
          <p:cNvPr id="11" name="Text 9"/>
          <p:cNvSpPr/>
          <p:nvPr/>
        </p:nvSpPr>
        <p:spPr>
          <a:xfrm>
            <a:off x="777240" y="2761488"/>
            <a:ext cx="3017520" cy="32004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IndexedDB — saves patient data &amp; screenings locally</a:t>
            </a:r>
            <a:endParaRPr lang="en-US" sz="900" dirty="0"/>
          </a:p>
        </p:txBody>
      </p:sp>
      <p:sp>
        <p:nvSpPr>
          <p:cNvPr id="12" name="Text 10"/>
          <p:cNvSpPr/>
          <p:nvPr/>
        </p:nvSpPr>
        <p:spPr>
          <a:xfrm>
            <a:off x="3931920" y="2359152"/>
            <a:ext cx="7543800" cy="7955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Local-first persistence   •   No connectivity required</a:t>
            </a:r>
            <a:endParaRPr lang="en-US" sz="1000" dirty="0"/>
          </a:p>
        </p:txBody>
      </p:sp>
      <p:sp>
        <p:nvSpPr>
          <p:cNvPr id="13" name="Shape 11"/>
          <p:cNvSpPr/>
          <p:nvPr/>
        </p:nvSpPr>
        <p:spPr>
          <a:xfrm>
            <a:off x="548640" y="3209544"/>
            <a:ext cx="11091672" cy="795528"/>
          </a:xfrm>
          <a:prstGeom prst="roundRect">
            <a:avLst>
              <a:gd name="adj" fmla="val 8046"/>
            </a:avLst>
          </a:prstGeom>
          <a:solidFill>
            <a:srgbClr val="FCD116"/>
          </a:solidFill>
          <a:ln/>
        </p:spPr>
      </p:sp>
      <p:sp>
        <p:nvSpPr>
          <p:cNvPr id="14" name="Text 12"/>
          <p:cNvSpPr/>
          <p:nvPr/>
        </p:nvSpPr>
        <p:spPr>
          <a:xfrm>
            <a:off x="777240" y="3282696"/>
            <a:ext cx="301752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Background Sync</a:t>
            </a:r>
            <a:endParaRPr lang="en-US" sz="1350" dirty="0"/>
          </a:p>
        </p:txBody>
      </p:sp>
      <p:sp>
        <p:nvSpPr>
          <p:cNvPr id="15" name="Text 13"/>
          <p:cNvSpPr/>
          <p:nvPr/>
        </p:nvSpPr>
        <p:spPr>
          <a:xfrm>
            <a:off x="777240" y="3611880"/>
            <a:ext cx="3017520" cy="320040"/>
          </a:xfrm>
          <a:prstGeom prst="rect">
            <a:avLst/>
          </a:prstGeom>
          <a:noFill/>
          <a:ln/>
        </p:spPr>
        <p:txBody>
          <a:bodyPr wrap="square" lIns="0" tIns="0" rIns="0" bIns="0" rtlCol="0" anchor="ctr"/>
          <a:lstStyle/>
          <a:p>
            <a:pPr indent="0" marL="0">
              <a:buNone/>
            </a:pPr>
            <a:r>
              <a:rPr lang="en-US" sz="900" i="1" dirty="0">
                <a:solidFill>
                  <a:srgbClr val="1A1A1A"/>
                </a:solidFill>
                <a:latin typeface="Calibri" pitchFamily="34" charset="0"/>
                <a:ea typeface="Calibri" pitchFamily="34" charset="-122"/>
                <a:cs typeface="Calibri" pitchFamily="34" charset="-120"/>
              </a:rPr>
              <a:t>Syncs offline data to server when internet returns</a:t>
            </a:r>
            <a:endParaRPr lang="en-US" sz="900" dirty="0"/>
          </a:p>
        </p:txBody>
      </p:sp>
      <p:sp>
        <p:nvSpPr>
          <p:cNvPr id="16" name="Text 14"/>
          <p:cNvSpPr/>
          <p:nvPr/>
        </p:nvSpPr>
        <p:spPr>
          <a:xfrm>
            <a:off x="3931920" y="3209544"/>
            <a:ext cx="7543800" cy="79552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Automatic, no manual uploads</a:t>
            </a:r>
            <a:endParaRPr lang="en-US" sz="1000" dirty="0"/>
          </a:p>
        </p:txBody>
      </p:sp>
      <p:sp>
        <p:nvSpPr>
          <p:cNvPr id="17" name="Shape 15"/>
          <p:cNvSpPr/>
          <p:nvPr/>
        </p:nvSpPr>
        <p:spPr>
          <a:xfrm>
            <a:off x="548640" y="4059936"/>
            <a:ext cx="11091672" cy="795528"/>
          </a:xfrm>
          <a:prstGeom prst="roundRect">
            <a:avLst>
              <a:gd name="adj" fmla="val 8046"/>
            </a:avLst>
          </a:prstGeom>
          <a:solidFill>
            <a:srgbClr val="006B3F"/>
          </a:solidFill>
          <a:ln/>
        </p:spPr>
      </p:sp>
      <p:sp>
        <p:nvSpPr>
          <p:cNvPr id="18" name="Text 16"/>
          <p:cNvSpPr/>
          <p:nvPr/>
        </p:nvSpPr>
        <p:spPr>
          <a:xfrm>
            <a:off x="777240" y="4133088"/>
            <a:ext cx="30175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Backend API</a:t>
            </a:r>
            <a:endParaRPr lang="en-US" sz="1350" dirty="0"/>
          </a:p>
        </p:txBody>
      </p:sp>
      <p:sp>
        <p:nvSpPr>
          <p:cNvPr id="19" name="Text 17"/>
          <p:cNvSpPr/>
          <p:nvPr/>
        </p:nvSpPr>
        <p:spPr>
          <a:xfrm>
            <a:off x="777240" y="4462272"/>
            <a:ext cx="3017520" cy="32004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Flask 3.0 (Python)</a:t>
            </a:r>
            <a:endParaRPr lang="en-US" sz="900" dirty="0"/>
          </a:p>
        </p:txBody>
      </p:sp>
      <p:sp>
        <p:nvSpPr>
          <p:cNvPr id="20" name="Text 18"/>
          <p:cNvSpPr/>
          <p:nvPr/>
        </p:nvSpPr>
        <p:spPr>
          <a:xfrm>
            <a:off x="3931920" y="4059936"/>
            <a:ext cx="7543800" cy="7955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Auth · Patients · Screenings   •   Referrals · Alerts · SMS Gateway   •   Admin / Audit Log</a:t>
            </a:r>
            <a:endParaRPr lang="en-US" sz="1000" dirty="0"/>
          </a:p>
        </p:txBody>
      </p:sp>
      <p:sp>
        <p:nvSpPr>
          <p:cNvPr id="21" name="Shape 19"/>
          <p:cNvSpPr/>
          <p:nvPr/>
        </p:nvSpPr>
        <p:spPr>
          <a:xfrm>
            <a:off x="548640" y="4910328"/>
            <a:ext cx="11091672" cy="795528"/>
          </a:xfrm>
          <a:prstGeom prst="roundRect">
            <a:avLst>
              <a:gd name="adj" fmla="val 8046"/>
            </a:avLst>
          </a:prstGeom>
          <a:solidFill>
            <a:srgbClr val="00381F"/>
          </a:solidFill>
          <a:ln/>
        </p:spPr>
      </p:sp>
      <p:sp>
        <p:nvSpPr>
          <p:cNvPr id="22" name="Text 20"/>
          <p:cNvSpPr/>
          <p:nvPr/>
        </p:nvSpPr>
        <p:spPr>
          <a:xfrm>
            <a:off x="777240" y="4983480"/>
            <a:ext cx="30175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Machine Learning Layer</a:t>
            </a:r>
            <a:endParaRPr lang="en-US" sz="1350" dirty="0"/>
          </a:p>
        </p:txBody>
      </p:sp>
      <p:sp>
        <p:nvSpPr>
          <p:cNvPr id="23" name="Text 21"/>
          <p:cNvSpPr/>
          <p:nvPr/>
        </p:nvSpPr>
        <p:spPr>
          <a:xfrm>
            <a:off x="777240" y="5312664"/>
            <a:ext cx="3017520" cy="32004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Random Forest models + rule-based override</a:t>
            </a:r>
            <a:endParaRPr lang="en-US" sz="900" dirty="0"/>
          </a:p>
        </p:txBody>
      </p:sp>
      <p:sp>
        <p:nvSpPr>
          <p:cNvPr id="24" name="Text 22"/>
          <p:cNvSpPr/>
          <p:nvPr/>
        </p:nvSpPr>
        <p:spPr>
          <a:xfrm>
            <a:off x="3931920" y="4910328"/>
            <a:ext cx="7543800" cy="7955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ANC Risk Model   •   NutriCheck Model   •   Clinical Safety Net</a:t>
            </a:r>
            <a:endParaRPr lang="en-US" sz="1000" dirty="0"/>
          </a:p>
        </p:txBody>
      </p:sp>
      <p:sp>
        <p:nvSpPr>
          <p:cNvPr id="25" name="Shape 23"/>
          <p:cNvSpPr/>
          <p:nvPr/>
        </p:nvSpPr>
        <p:spPr>
          <a:xfrm>
            <a:off x="548640" y="5760720"/>
            <a:ext cx="11091672" cy="795528"/>
          </a:xfrm>
          <a:prstGeom prst="roundRect">
            <a:avLst>
              <a:gd name="adj" fmla="val 8046"/>
            </a:avLst>
          </a:prstGeom>
          <a:solidFill>
            <a:srgbClr val="CE1126"/>
          </a:solidFill>
          <a:ln/>
        </p:spPr>
      </p:sp>
      <p:sp>
        <p:nvSpPr>
          <p:cNvPr id="26" name="Text 24"/>
          <p:cNvSpPr/>
          <p:nvPr/>
        </p:nvSpPr>
        <p:spPr>
          <a:xfrm>
            <a:off x="777240" y="5833872"/>
            <a:ext cx="30175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Database</a:t>
            </a:r>
            <a:endParaRPr lang="en-US" sz="1350" dirty="0"/>
          </a:p>
        </p:txBody>
      </p:sp>
      <p:sp>
        <p:nvSpPr>
          <p:cNvPr id="27" name="Text 25"/>
          <p:cNvSpPr/>
          <p:nvPr/>
        </p:nvSpPr>
        <p:spPr>
          <a:xfrm>
            <a:off x="777240" y="6163056"/>
            <a:ext cx="3017520" cy="32004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SQLite (Dev) / PostgreSQL (Prod)</a:t>
            </a:r>
            <a:endParaRPr lang="en-US" sz="900" dirty="0"/>
          </a:p>
        </p:txBody>
      </p:sp>
      <p:sp>
        <p:nvSpPr>
          <p:cNvPr id="28" name="Text 26"/>
          <p:cNvSpPr/>
          <p:nvPr/>
        </p:nvSpPr>
        <p:spPr>
          <a:xfrm>
            <a:off x="3931920" y="5760720"/>
            <a:ext cx="7543800" cy="7955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Users · Patients · Screenings · Referrals · Alerts</a:t>
            </a:r>
            <a:endParaRPr lang="en-US" sz="1000" dirty="0"/>
          </a:p>
        </p:txBody>
      </p:sp>
      <p:sp>
        <p:nvSpPr>
          <p:cNvPr id="29" name="Text 2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30" name="Text 2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ENGINEERING</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We Used to Build AnteScan</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A modern, proven technology stack that is reliable, scalable, and well-supported.</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103120"/>
                <a:gridCol w="3200400"/>
                <a:gridCol w="57881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Layer</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We Chose It</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Frontend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React 18, Tailwind CSS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Industry-standard UI framework with rapid, consistent styling.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Offline Storage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IndexedDB, Service Workers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Standard browser APIs for local data and offline caching.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Backend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Flask 3.0 (Python)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Lightweight and integrates naturally with Python ML models.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Database ORM</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SQLAlchemy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Safe, Pythonic database access; easy to switch databases.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Authentication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JWT (JSON Web Tokens)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Secure, stateless, widely supported auth standard.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Machine Learning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scikit-learn, joblib</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Comprehensive ML library with efficient model persistence.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SMS Gateway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Africa's Talking API</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Market leader in Africa for reliable, cost-effective SMS.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Database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SQLite (Dev) / PostgreSQL (Prod)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Simple for local dev; robust and scalable for production.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7" name="Text 4"/>
          <p:cNvSpPr/>
          <p:nvPr/>
        </p:nvSpPr>
        <p:spPr>
          <a:xfrm>
            <a:off x="548640" y="6035040"/>
            <a:ext cx="11091672" cy="320040"/>
          </a:xfrm>
          <a:prstGeom prst="rect">
            <a:avLst/>
          </a:prstGeom>
          <a:noFill/>
          <a:ln/>
        </p:spPr>
        <p:txBody>
          <a:bodyPr wrap="square" lIns="0" tIns="0" rIns="0" bIns="0" rtlCol="0" anchor="ctr"/>
          <a:lstStyle/>
          <a:p>
            <a:pPr indent="0" marL="0">
              <a:buNone/>
            </a:pPr>
            <a:r>
              <a:rPr lang="en-US" sz="1150" b="1" i="1" dirty="0">
                <a:solidFill>
                  <a:srgbClr val="006B3F"/>
                </a:solidFill>
                <a:latin typeface="Calibri" pitchFamily="34" charset="0"/>
                <a:ea typeface="Calibri" pitchFamily="34" charset="-122"/>
                <a:cs typeface="Calibri" pitchFamily="34" charset="-120"/>
              </a:rPr>
              <a:t>All components are open-source and well-supported.</a:t>
            </a:r>
            <a:endParaRPr lang="en-US" sz="11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9" name="Text 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How AnteScan Transforms CHW Workflows</a:t>
            </a:r>
            <a:endParaRPr lang="en-US" sz="3000" dirty="0"/>
          </a:p>
        </p:txBody>
      </p:sp>
      <p:sp>
        <p:nvSpPr>
          <p:cNvPr id="4" name="Shape 2"/>
          <p:cNvSpPr/>
          <p:nvPr/>
        </p:nvSpPr>
        <p:spPr>
          <a:xfrm>
            <a:off x="548640" y="1353312"/>
            <a:ext cx="128016" cy="128016"/>
          </a:xfrm>
          <a:prstGeom prst="ellipse">
            <a:avLst/>
          </a:prstGeom>
          <a:solidFill>
            <a:srgbClr val="FCD116"/>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383280"/>
                <a:gridCol w="2926080"/>
                <a:gridCol w="478231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Before AnteScan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After AnteScan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Difference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10-15 min per screening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Under 2 minutes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CHWs screen far more patients per day.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Paper checklists — error-prone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Digital app — accurate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lost papers, no calculation errors.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Manual risk calculation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AI instant risk score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Accurate results with zero manual math.</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Manual phone calls for referrals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Automatic SMS referrals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Instant referrals; facilities prepared.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data tracking</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Full digital screening history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Complete, accessible patient history.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supervision tools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Real-time admin dashboard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Supervisors see alerts &amp; performance live.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6" name="Shape 3"/>
          <p:cNvSpPr/>
          <p:nvPr/>
        </p:nvSpPr>
        <p:spPr>
          <a:xfrm>
            <a:off x="548640" y="6035040"/>
            <a:ext cx="11091672" cy="502920"/>
          </a:xfrm>
          <a:prstGeom prst="roundRect">
            <a:avLst>
              <a:gd name="adj" fmla="val 12727"/>
            </a:avLst>
          </a:prstGeom>
          <a:solidFill>
            <a:srgbClr val="00381F"/>
          </a:solidFill>
          <a:ln/>
        </p:spPr>
      </p:sp>
      <p:sp>
        <p:nvSpPr>
          <p:cNvPr id="7" name="Text 4"/>
          <p:cNvSpPr/>
          <p:nvPr/>
        </p:nvSpPr>
        <p:spPr>
          <a:xfrm>
            <a:off x="822960" y="6035040"/>
            <a:ext cx="105156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Result: Faster, more accurate, and more accountable healthcare delivery.</a:t>
            </a:r>
            <a:endParaRPr lang="en-US" sz="130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9" name="Text 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How AnteScan Saves Lives</a:t>
            </a:r>
            <a:endParaRPr lang="en-US" sz="3000" dirty="0"/>
          </a:p>
        </p:txBody>
      </p:sp>
      <p:sp>
        <p:nvSpPr>
          <p:cNvPr id="4" name="Shape 2"/>
          <p:cNvSpPr/>
          <p:nvPr/>
        </p:nvSpPr>
        <p:spPr>
          <a:xfrm>
            <a:off x="548640" y="1353312"/>
            <a:ext cx="128016" cy="128016"/>
          </a:xfrm>
          <a:prstGeom prst="ellipse">
            <a:avLst/>
          </a:prstGeom>
          <a:solidFill>
            <a:srgbClr val="FCD116"/>
          </a:solidFill>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566160"/>
                <a:gridCol w="3383280"/>
                <a:gridCol w="414223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Without AnteScan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With AnteScan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Difference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381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High-risk pregnancies often missed until too late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Early detection of pre-eclampsia, bleeding &amp; more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Treatment starts before conditions become severe.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Severe malnutrition goes undiagnosed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SAM/MAM detected early for intervention</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Nutritional support before the child becomes ill.</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Delays in ambulance calls and referrals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Immediate SMS alerts to facilities &amp; family elders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Facility prepared; family informed and can help.</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Family not involved in care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Grandmother Network alerts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Family support ensures follow-through on care.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No health record; poor continuity of care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Digital patient timeline for all authorized CHWs</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Consistent care across every visit and provider.</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989320"/>
            <a:ext cx="11091672" cy="548640"/>
          </a:xfrm>
          <a:prstGeom prst="roundRect">
            <a:avLst>
              <a:gd name="adj" fmla="val 11667"/>
            </a:avLst>
          </a:prstGeom>
          <a:solidFill>
            <a:srgbClr val="FCD116"/>
          </a:solidFill>
          <a:ln/>
        </p:spPr>
      </p:sp>
      <p:sp>
        <p:nvSpPr>
          <p:cNvPr id="7" name="Text 4"/>
          <p:cNvSpPr/>
          <p:nvPr/>
        </p:nvSpPr>
        <p:spPr>
          <a:xfrm>
            <a:off x="822960" y="5989320"/>
            <a:ext cx="10515600" cy="5486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Earlier detection = Timely care = Fewer preventable deaths.</a:t>
            </a:r>
            <a:endParaRPr lang="en-US" sz="140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9" name="Text 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How AnteScan Empowers Supervisors</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Shape 3"/>
          <p:cNvSpPr/>
          <p:nvPr/>
        </p:nvSpPr>
        <p:spPr>
          <a:xfrm>
            <a:off x="548640" y="1737360"/>
            <a:ext cx="5440680" cy="1874520"/>
          </a:xfrm>
          <a:prstGeom prst="roundRect">
            <a:avLst>
              <a:gd name="adj" fmla="val 3902"/>
            </a:avLst>
          </a:prstGeom>
          <a:solidFill>
            <a:srgbClr val="F4F8F5"/>
          </a:solidFill>
          <a:ln/>
          <a:effectLst>
            <a:outerShdw sx="100000" sy="100000" kx="0" ky="0" algn="bl" rotWithShape="0" blurRad="88900" dist="38100" dir="2700000">
              <a:srgbClr val="1A1A1A">
                <a:alpha val="12000"/>
              </a:srgbClr>
            </a:outerShdw>
          </a:effectLst>
        </p:spPr>
      </p:sp>
      <p:sp>
        <p:nvSpPr>
          <p:cNvPr id="6" name="Text 4"/>
          <p:cNvSpPr/>
          <p:nvPr/>
        </p:nvSpPr>
        <p:spPr>
          <a:xfrm>
            <a:off x="749808" y="1901952"/>
            <a:ext cx="5038344" cy="228600"/>
          </a:xfrm>
          <a:prstGeom prst="rect">
            <a:avLst/>
          </a:prstGeom>
          <a:noFill/>
          <a:ln/>
        </p:spPr>
        <p:txBody>
          <a:bodyPr wrap="square" lIns="0" tIns="0" rIns="0" bIns="0" rtlCol="0" anchor="ctr"/>
          <a:lstStyle/>
          <a:p>
            <a:pPr indent="0" marL="0">
              <a:buNone/>
            </a:pPr>
            <a:r>
              <a:rPr lang="en-US" sz="950" b="1" spc="150" kern="0" dirty="0">
                <a:solidFill>
                  <a:srgbClr val="CE1126"/>
                </a:solidFill>
                <a:latin typeface="Calibri" pitchFamily="34" charset="0"/>
                <a:ea typeface="Calibri" pitchFamily="34" charset="-122"/>
                <a:cs typeface="Calibri" pitchFamily="34" charset="-120"/>
              </a:rPr>
              <a:t>CHALLENGE</a:t>
            </a:r>
            <a:endParaRPr lang="en-US" sz="950" dirty="0"/>
          </a:p>
        </p:txBody>
      </p:sp>
      <p:sp>
        <p:nvSpPr>
          <p:cNvPr id="7" name="Text 5"/>
          <p:cNvSpPr/>
          <p:nvPr/>
        </p:nvSpPr>
        <p:spPr>
          <a:xfrm>
            <a:off x="749808" y="2139696"/>
            <a:ext cx="5038344"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No real-time oversight</a:t>
            </a:r>
            <a:endParaRPr lang="en-US" sz="1300" dirty="0"/>
          </a:p>
        </p:txBody>
      </p:sp>
      <p:sp>
        <p:nvSpPr>
          <p:cNvPr id="8" name="Shape 6"/>
          <p:cNvSpPr/>
          <p:nvPr/>
        </p:nvSpPr>
        <p:spPr>
          <a:xfrm>
            <a:off x="749808" y="2578608"/>
            <a:ext cx="5038344" cy="9144"/>
          </a:xfrm>
          <a:prstGeom prst="rect">
            <a:avLst/>
          </a:prstGeom>
          <a:noFill/>
          <a:ln w="12700">
            <a:solidFill>
              <a:srgbClr val="DCE5E0"/>
            </a:solidFill>
            <a:prstDash val="solid"/>
          </a:ln>
        </p:spPr>
      </p:sp>
      <p:sp>
        <p:nvSpPr>
          <p:cNvPr id="9" name="Text 7"/>
          <p:cNvSpPr/>
          <p:nvPr/>
        </p:nvSpPr>
        <p:spPr>
          <a:xfrm>
            <a:off x="749808" y="2697480"/>
            <a:ext cx="5038344" cy="228600"/>
          </a:xfrm>
          <a:prstGeom prst="rect">
            <a:avLst/>
          </a:prstGeom>
          <a:noFill/>
          <a:ln/>
        </p:spPr>
        <p:txBody>
          <a:bodyPr wrap="square" lIns="0" tIns="0" rIns="0" bIns="0" rtlCol="0" anchor="ctr"/>
          <a:lstStyle/>
          <a:p>
            <a:pPr indent="0" marL="0">
              <a:buNone/>
            </a:pPr>
            <a:r>
              <a:rPr lang="en-US" sz="950" b="1" spc="150" kern="0" dirty="0">
                <a:solidFill>
                  <a:srgbClr val="006B3F"/>
                </a:solidFill>
                <a:latin typeface="Calibri" pitchFamily="34" charset="0"/>
                <a:ea typeface="Calibri" pitchFamily="34" charset="-122"/>
                <a:cs typeface="Calibri" pitchFamily="34" charset="-120"/>
              </a:rPr>
              <a:t>SOLVED BY ANTESCAN</a:t>
            </a:r>
            <a:endParaRPr lang="en-US" sz="950" dirty="0"/>
          </a:p>
        </p:txBody>
      </p:sp>
      <p:sp>
        <p:nvSpPr>
          <p:cNvPr id="10" name="Text 8"/>
          <p:cNvSpPr/>
          <p:nvPr/>
        </p:nvSpPr>
        <p:spPr>
          <a:xfrm>
            <a:off x="749808" y="2944368"/>
            <a:ext cx="5038344"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Live dashboard of all high-risk alerts across districts, instantly.</a:t>
            </a:r>
            <a:endParaRPr lang="en-US" sz="1100" dirty="0"/>
          </a:p>
        </p:txBody>
      </p:sp>
      <p:sp>
        <p:nvSpPr>
          <p:cNvPr id="11" name="Shape 9"/>
          <p:cNvSpPr/>
          <p:nvPr/>
        </p:nvSpPr>
        <p:spPr>
          <a:xfrm>
            <a:off x="6190488" y="1737360"/>
            <a:ext cx="5440680" cy="1874520"/>
          </a:xfrm>
          <a:prstGeom prst="roundRect">
            <a:avLst>
              <a:gd name="adj" fmla="val 3902"/>
            </a:avLst>
          </a:prstGeom>
          <a:solidFill>
            <a:srgbClr val="F4F8F5"/>
          </a:solidFill>
          <a:ln/>
          <a:effectLst>
            <a:outerShdw sx="100000" sy="100000" kx="0" ky="0" algn="bl" rotWithShape="0" blurRad="88900" dist="38100" dir="2700000">
              <a:srgbClr val="1A1A1A">
                <a:alpha val="12000"/>
              </a:srgbClr>
            </a:outerShdw>
          </a:effectLst>
        </p:spPr>
      </p:sp>
      <p:sp>
        <p:nvSpPr>
          <p:cNvPr id="12" name="Text 10"/>
          <p:cNvSpPr/>
          <p:nvPr/>
        </p:nvSpPr>
        <p:spPr>
          <a:xfrm>
            <a:off x="6391656" y="1901952"/>
            <a:ext cx="5038344" cy="228600"/>
          </a:xfrm>
          <a:prstGeom prst="rect">
            <a:avLst/>
          </a:prstGeom>
          <a:noFill/>
          <a:ln/>
        </p:spPr>
        <p:txBody>
          <a:bodyPr wrap="square" lIns="0" tIns="0" rIns="0" bIns="0" rtlCol="0" anchor="ctr"/>
          <a:lstStyle/>
          <a:p>
            <a:pPr indent="0" marL="0">
              <a:buNone/>
            </a:pPr>
            <a:r>
              <a:rPr lang="en-US" sz="950" b="1" spc="150" kern="0" dirty="0">
                <a:solidFill>
                  <a:srgbClr val="CE1126"/>
                </a:solidFill>
                <a:latin typeface="Calibri" pitchFamily="34" charset="0"/>
                <a:ea typeface="Calibri" pitchFamily="34" charset="-122"/>
                <a:cs typeface="Calibri" pitchFamily="34" charset="-120"/>
              </a:rPr>
              <a:t>CHALLENGE</a:t>
            </a:r>
            <a:endParaRPr lang="en-US" sz="950" dirty="0"/>
          </a:p>
        </p:txBody>
      </p:sp>
      <p:sp>
        <p:nvSpPr>
          <p:cNvPr id="13" name="Text 11"/>
          <p:cNvSpPr/>
          <p:nvPr/>
        </p:nvSpPr>
        <p:spPr>
          <a:xfrm>
            <a:off x="6391656" y="2139696"/>
            <a:ext cx="5038344"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Manual reporting</a:t>
            </a:r>
            <a:endParaRPr lang="en-US" sz="1300" dirty="0"/>
          </a:p>
        </p:txBody>
      </p:sp>
      <p:sp>
        <p:nvSpPr>
          <p:cNvPr id="14" name="Shape 12"/>
          <p:cNvSpPr/>
          <p:nvPr/>
        </p:nvSpPr>
        <p:spPr>
          <a:xfrm>
            <a:off x="6391656" y="2578608"/>
            <a:ext cx="5038344" cy="9144"/>
          </a:xfrm>
          <a:prstGeom prst="rect">
            <a:avLst/>
          </a:prstGeom>
          <a:noFill/>
          <a:ln w="12700">
            <a:solidFill>
              <a:srgbClr val="DCE5E0"/>
            </a:solidFill>
            <a:prstDash val="solid"/>
          </a:ln>
        </p:spPr>
      </p:sp>
      <p:sp>
        <p:nvSpPr>
          <p:cNvPr id="15" name="Text 13"/>
          <p:cNvSpPr/>
          <p:nvPr/>
        </p:nvSpPr>
        <p:spPr>
          <a:xfrm>
            <a:off x="6391656" y="2697480"/>
            <a:ext cx="5038344" cy="228600"/>
          </a:xfrm>
          <a:prstGeom prst="rect">
            <a:avLst/>
          </a:prstGeom>
          <a:noFill/>
          <a:ln/>
        </p:spPr>
        <p:txBody>
          <a:bodyPr wrap="square" lIns="0" tIns="0" rIns="0" bIns="0" rtlCol="0" anchor="ctr"/>
          <a:lstStyle/>
          <a:p>
            <a:pPr indent="0" marL="0">
              <a:buNone/>
            </a:pPr>
            <a:r>
              <a:rPr lang="en-US" sz="950" b="1" spc="150" kern="0" dirty="0">
                <a:solidFill>
                  <a:srgbClr val="006B3F"/>
                </a:solidFill>
                <a:latin typeface="Calibri" pitchFamily="34" charset="0"/>
                <a:ea typeface="Calibri" pitchFamily="34" charset="-122"/>
                <a:cs typeface="Calibri" pitchFamily="34" charset="-120"/>
              </a:rPr>
              <a:t>SOLVED BY ANTESCAN</a:t>
            </a:r>
            <a:endParaRPr lang="en-US" sz="950" dirty="0"/>
          </a:p>
        </p:txBody>
      </p:sp>
      <p:sp>
        <p:nvSpPr>
          <p:cNvPr id="16" name="Text 14"/>
          <p:cNvSpPr/>
          <p:nvPr/>
        </p:nvSpPr>
        <p:spPr>
          <a:xfrm>
            <a:off x="6391656" y="2944368"/>
            <a:ext cx="5038344"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Automated reports generated with one click.</a:t>
            </a:r>
            <a:endParaRPr lang="en-US" sz="1100" dirty="0"/>
          </a:p>
        </p:txBody>
      </p:sp>
      <p:sp>
        <p:nvSpPr>
          <p:cNvPr id="17" name="Shape 15"/>
          <p:cNvSpPr/>
          <p:nvPr/>
        </p:nvSpPr>
        <p:spPr>
          <a:xfrm>
            <a:off x="548640" y="3813048"/>
            <a:ext cx="5440680" cy="1874520"/>
          </a:xfrm>
          <a:prstGeom prst="roundRect">
            <a:avLst>
              <a:gd name="adj" fmla="val 3902"/>
            </a:avLst>
          </a:prstGeom>
          <a:solidFill>
            <a:srgbClr val="F4F8F5"/>
          </a:solidFill>
          <a:ln/>
          <a:effectLst>
            <a:outerShdw sx="100000" sy="100000" kx="0" ky="0" algn="bl" rotWithShape="0" blurRad="88900" dist="38100" dir="2700000">
              <a:srgbClr val="1A1A1A">
                <a:alpha val="12000"/>
              </a:srgbClr>
            </a:outerShdw>
          </a:effectLst>
        </p:spPr>
      </p:sp>
      <p:sp>
        <p:nvSpPr>
          <p:cNvPr id="18" name="Text 16"/>
          <p:cNvSpPr/>
          <p:nvPr/>
        </p:nvSpPr>
        <p:spPr>
          <a:xfrm>
            <a:off x="749808" y="3977640"/>
            <a:ext cx="5038344" cy="228600"/>
          </a:xfrm>
          <a:prstGeom prst="rect">
            <a:avLst/>
          </a:prstGeom>
          <a:noFill/>
          <a:ln/>
        </p:spPr>
        <p:txBody>
          <a:bodyPr wrap="square" lIns="0" tIns="0" rIns="0" bIns="0" rtlCol="0" anchor="ctr"/>
          <a:lstStyle/>
          <a:p>
            <a:pPr indent="0" marL="0">
              <a:buNone/>
            </a:pPr>
            <a:r>
              <a:rPr lang="en-US" sz="950" b="1" spc="150" kern="0" dirty="0">
                <a:solidFill>
                  <a:srgbClr val="CE1126"/>
                </a:solidFill>
                <a:latin typeface="Calibri" pitchFamily="34" charset="0"/>
                <a:ea typeface="Calibri" pitchFamily="34" charset="-122"/>
                <a:cs typeface="Calibri" pitchFamily="34" charset="-120"/>
              </a:rPr>
              <a:t>CHALLENGE</a:t>
            </a:r>
            <a:endParaRPr lang="en-US" sz="950" dirty="0"/>
          </a:p>
        </p:txBody>
      </p:sp>
      <p:sp>
        <p:nvSpPr>
          <p:cNvPr id="19" name="Text 17"/>
          <p:cNvSpPr/>
          <p:nvPr/>
        </p:nvSpPr>
        <p:spPr>
          <a:xfrm>
            <a:off x="749808" y="4215384"/>
            <a:ext cx="5038344"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No CHW performance tracking</a:t>
            </a:r>
            <a:endParaRPr lang="en-US" sz="1300" dirty="0"/>
          </a:p>
        </p:txBody>
      </p:sp>
      <p:sp>
        <p:nvSpPr>
          <p:cNvPr id="20" name="Shape 18"/>
          <p:cNvSpPr/>
          <p:nvPr/>
        </p:nvSpPr>
        <p:spPr>
          <a:xfrm>
            <a:off x="749808" y="4654296"/>
            <a:ext cx="5038344" cy="9144"/>
          </a:xfrm>
          <a:prstGeom prst="rect">
            <a:avLst/>
          </a:prstGeom>
          <a:noFill/>
          <a:ln w="12700">
            <a:solidFill>
              <a:srgbClr val="DCE5E0"/>
            </a:solidFill>
            <a:prstDash val="solid"/>
          </a:ln>
        </p:spPr>
      </p:sp>
      <p:sp>
        <p:nvSpPr>
          <p:cNvPr id="21" name="Text 19"/>
          <p:cNvSpPr/>
          <p:nvPr/>
        </p:nvSpPr>
        <p:spPr>
          <a:xfrm>
            <a:off x="749808" y="4773168"/>
            <a:ext cx="5038344" cy="228600"/>
          </a:xfrm>
          <a:prstGeom prst="rect">
            <a:avLst/>
          </a:prstGeom>
          <a:noFill/>
          <a:ln/>
        </p:spPr>
        <p:txBody>
          <a:bodyPr wrap="square" lIns="0" tIns="0" rIns="0" bIns="0" rtlCol="0" anchor="ctr"/>
          <a:lstStyle/>
          <a:p>
            <a:pPr indent="0" marL="0">
              <a:buNone/>
            </a:pPr>
            <a:r>
              <a:rPr lang="en-US" sz="950" b="1" spc="150" kern="0" dirty="0">
                <a:solidFill>
                  <a:srgbClr val="006B3F"/>
                </a:solidFill>
                <a:latin typeface="Calibri" pitchFamily="34" charset="0"/>
                <a:ea typeface="Calibri" pitchFamily="34" charset="-122"/>
                <a:cs typeface="Calibri" pitchFamily="34" charset="-120"/>
              </a:rPr>
              <a:t>SOLVED BY ANTESCAN</a:t>
            </a:r>
            <a:endParaRPr lang="en-US" sz="950" dirty="0"/>
          </a:p>
        </p:txBody>
      </p:sp>
      <p:sp>
        <p:nvSpPr>
          <p:cNvPr id="22" name="Text 20"/>
          <p:cNvSpPr/>
          <p:nvPr/>
        </p:nvSpPr>
        <p:spPr>
          <a:xfrm>
            <a:off x="749808" y="5020056"/>
            <a:ext cx="5038344"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Performance metrics track productivity and referral rates.</a:t>
            </a:r>
            <a:endParaRPr lang="en-US" sz="1100" dirty="0"/>
          </a:p>
        </p:txBody>
      </p:sp>
      <p:sp>
        <p:nvSpPr>
          <p:cNvPr id="23" name="Shape 21"/>
          <p:cNvSpPr/>
          <p:nvPr/>
        </p:nvSpPr>
        <p:spPr>
          <a:xfrm>
            <a:off x="6190488" y="3813048"/>
            <a:ext cx="5440680" cy="1874520"/>
          </a:xfrm>
          <a:prstGeom prst="roundRect">
            <a:avLst>
              <a:gd name="adj" fmla="val 3902"/>
            </a:avLst>
          </a:prstGeom>
          <a:solidFill>
            <a:srgbClr val="F4F8F5"/>
          </a:solidFill>
          <a:ln/>
          <a:effectLst>
            <a:outerShdw sx="100000" sy="100000" kx="0" ky="0" algn="bl" rotWithShape="0" blurRad="88900" dist="38100" dir="2700000">
              <a:srgbClr val="1A1A1A">
                <a:alpha val="12000"/>
              </a:srgbClr>
            </a:outerShdw>
          </a:effectLst>
        </p:spPr>
      </p:sp>
      <p:sp>
        <p:nvSpPr>
          <p:cNvPr id="24" name="Text 22"/>
          <p:cNvSpPr/>
          <p:nvPr/>
        </p:nvSpPr>
        <p:spPr>
          <a:xfrm>
            <a:off x="6391656" y="3977640"/>
            <a:ext cx="5038344" cy="228600"/>
          </a:xfrm>
          <a:prstGeom prst="rect">
            <a:avLst/>
          </a:prstGeom>
          <a:noFill/>
          <a:ln/>
        </p:spPr>
        <p:txBody>
          <a:bodyPr wrap="square" lIns="0" tIns="0" rIns="0" bIns="0" rtlCol="0" anchor="ctr"/>
          <a:lstStyle/>
          <a:p>
            <a:pPr indent="0" marL="0">
              <a:buNone/>
            </a:pPr>
            <a:r>
              <a:rPr lang="en-US" sz="950" b="1" spc="150" kern="0" dirty="0">
                <a:solidFill>
                  <a:srgbClr val="CE1126"/>
                </a:solidFill>
                <a:latin typeface="Calibri" pitchFamily="34" charset="0"/>
                <a:ea typeface="Calibri" pitchFamily="34" charset="-122"/>
                <a:cs typeface="Calibri" pitchFamily="34" charset="-120"/>
              </a:rPr>
              <a:t>CHALLENGE</a:t>
            </a:r>
            <a:endParaRPr lang="en-US" sz="950" dirty="0"/>
          </a:p>
        </p:txBody>
      </p:sp>
      <p:sp>
        <p:nvSpPr>
          <p:cNvPr id="25" name="Text 23"/>
          <p:cNvSpPr/>
          <p:nvPr/>
        </p:nvSpPr>
        <p:spPr>
          <a:xfrm>
            <a:off x="6391656" y="4215384"/>
            <a:ext cx="5038344"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Inefficient resource allocation</a:t>
            </a:r>
            <a:endParaRPr lang="en-US" sz="1300" dirty="0"/>
          </a:p>
        </p:txBody>
      </p:sp>
      <p:sp>
        <p:nvSpPr>
          <p:cNvPr id="26" name="Shape 24"/>
          <p:cNvSpPr/>
          <p:nvPr/>
        </p:nvSpPr>
        <p:spPr>
          <a:xfrm>
            <a:off x="6391656" y="4654296"/>
            <a:ext cx="5038344" cy="9144"/>
          </a:xfrm>
          <a:prstGeom prst="rect">
            <a:avLst/>
          </a:prstGeom>
          <a:noFill/>
          <a:ln w="12700">
            <a:solidFill>
              <a:srgbClr val="DCE5E0"/>
            </a:solidFill>
            <a:prstDash val="solid"/>
          </a:ln>
        </p:spPr>
      </p:sp>
      <p:sp>
        <p:nvSpPr>
          <p:cNvPr id="27" name="Text 25"/>
          <p:cNvSpPr/>
          <p:nvPr/>
        </p:nvSpPr>
        <p:spPr>
          <a:xfrm>
            <a:off x="6391656" y="4773168"/>
            <a:ext cx="5038344" cy="228600"/>
          </a:xfrm>
          <a:prstGeom prst="rect">
            <a:avLst/>
          </a:prstGeom>
          <a:noFill/>
          <a:ln/>
        </p:spPr>
        <p:txBody>
          <a:bodyPr wrap="square" lIns="0" tIns="0" rIns="0" bIns="0" rtlCol="0" anchor="ctr"/>
          <a:lstStyle/>
          <a:p>
            <a:pPr indent="0" marL="0">
              <a:buNone/>
            </a:pPr>
            <a:r>
              <a:rPr lang="en-US" sz="950" b="1" spc="150" kern="0" dirty="0">
                <a:solidFill>
                  <a:srgbClr val="006B3F"/>
                </a:solidFill>
                <a:latin typeface="Calibri" pitchFamily="34" charset="0"/>
                <a:ea typeface="Calibri" pitchFamily="34" charset="-122"/>
                <a:cs typeface="Calibri" pitchFamily="34" charset="-120"/>
              </a:rPr>
              <a:t>SOLVED BY ANTESCAN</a:t>
            </a:r>
            <a:endParaRPr lang="en-US" sz="950" dirty="0"/>
          </a:p>
        </p:txBody>
      </p:sp>
      <p:sp>
        <p:nvSpPr>
          <p:cNvPr id="28" name="Text 26"/>
          <p:cNvSpPr/>
          <p:nvPr/>
        </p:nvSpPr>
        <p:spPr>
          <a:xfrm>
            <a:off x="6391656" y="5020056"/>
            <a:ext cx="5038344" cy="5943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Epidemiological insights identify disease hotspots.</a:t>
            </a:r>
            <a:endParaRPr lang="en-US" sz="1100" dirty="0"/>
          </a:p>
        </p:txBody>
      </p:sp>
      <p:sp>
        <p:nvSpPr>
          <p:cNvPr id="29" name="Shape 27"/>
          <p:cNvSpPr/>
          <p:nvPr/>
        </p:nvSpPr>
        <p:spPr>
          <a:xfrm>
            <a:off x="548640" y="5943600"/>
            <a:ext cx="11091672" cy="502920"/>
          </a:xfrm>
          <a:prstGeom prst="roundRect">
            <a:avLst>
              <a:gd name="adj" fmla="val 12727"/>
            </a:avLst>
          </a:prstGeom>
          <a:solidFill>
            <a:srgbClr val="00381F"/>
          </a:solidFill>
          <a:ln/>
        </p:spPr>
      </p:sp>
      <p:sp>
        <p:nvSpPr>
          <p:cNvPr id="30" name="Text 28"/>
          <p:cNvSpPr/>
          <p:nvPr/>
        </p:nvSpPr>
        <p:spPr>
          <a:xfrm>
            <a:off x="822960" y="5943600"/>
            <a:ext cx="105156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Result: Data-driven decision making for better health outcomes.</a:t>
            </a:r>
            <a:endParaRPr lang="en-US" sz="130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Designed for Ghana and Beyond</a:t>
            </a:r>
            <a:endParaRPr lang="en-US" sz="3000" dirty="0"/>
          </a:p>
        </p:txBody>
      </p:sp>
      <p:sp>
        <p:nvSpPr>
          <p:cNvPr id="4" name="Shape 2"/>
          <p:cNvSpPr/>
          <p:nvPr/>
        </p:nvSpPr>
        <p:spPr>
          <a:xfrm>
            <a:off x="548640" y="1353312"/>
            <a:ext cx="128016" cy="128016"/>
          </a:xfrm>
          <a:prstGeom prst="ellipse">
            <a:avLst/>
          </a:prstGeom>
          <a:solidFill>
            <a:srgbClr val="FCD116"/>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103120"/>
                <a:gridCol w="4572000"/>
                <a:gridCol w="44165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It Scales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This Matters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Geographic</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Offline-first design works in all 16 regions of Ghana.</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CHWs in every village can use AnteScan — no one left behind.</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Module Addition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New screening modules added without rebuilding the system.</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New health priorities (diabetes, TB, HIV) addressed quickly.</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User Volume</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Backend scales horizontally to thousands of CHWs.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Supports all 5,000+ CHWs in Ghana without performance issues.</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System Integration</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APIs connect to NHIS and DHIMS2.</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Integrates into the national health information system.</a:t>
                      </a:r>
                      <a:endParaRPr lang="en-US" sz="10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6" name="Text 3"/>
          <p:cNvSpPr/>
          <p:nvPr/>
        </p:nvSpPr>
        <p:spPr>
          <a:xfrm>
            <a:off x="548640" y="4114800"/>
            <a:ext cx="7315200" cy="274320"/>
          </a:xfrm>
          <a:prstGeom prst="rect">
            <a:avLst/>
          </a:prstGeom>
          <a:noFill/>
          <a:ln/>
        </p:spPr>
        <p:txBody>
          <a:bodyPr wrap="square" lIns="0" tIns="0" rIns="0" bIns="0" rtlCol="0" anchor="ctr"/>
          <a:lstStyle/>
          <a:p>
            <a:pPr indent="0" marL="0">
              <a:buNone/>
            </a:pPr>
            <a:r>
              <a:rPr lang="en-US" sz="1300" b="1" dirty="0">
                <a:solidFill>
                  <a:srgbClr val="006B3F"/>
                </a:solidFill>
                <a:latin typeface="Calibri" pitchFamily="34" charset="0"/>
                <a:ea typeface="Calibri" pitchFamily="34" charset="-122"/>
                <a:cs typeface="Calibri" pitchFamily="34" charset="-120"/>
              </a:rPr>
              <a:t>Future Modules Already Planned</a:t>
            </a:r>
            <a:endParaRPr lang="en-US" sz="1300" dirty="0"/>
          </a:p>
        </p:txBody>
      </p:sp>
      <p:sp>
        <p:nvSpPr>
          <p:cNvPr id="7" name="Shape 4"/>
          <p:cNvSpPr/>
          <p:nvPr/>
        </p:nvSpPr>
        <p:spPr>
          <a:xfrm>
            <a:off x="548640" y="4480560"/>
            <a:ext cx="2624328" cy="1005840"/>
          </a:xfrm>
          <a:prstGeom prst="roundRect">
            <a:avLst>
              <a:gd name="adj" fmla="val 7273"/>
            </a:avLst>
          </a:prstGeom>
          <a:solidFill>
            <a:srgbClr val="FCD116"/>
          </a:solidFill>
          <a:ln/>
          <a:effectLst>
            <a:outerShdw sx="100000" sy="100000" kx="0" ky="0" algn="bl" rotWithShape="0" blurRad="88900" dist="38100" dir="2700000">
              <a:srgbClr val="1A1A1A">
                <a:alpha val="12000"/>
              </a:srgbClr>
            </a:outerShdw>
          </a:effectLst>
        </p:spPr>
      </p:sp>
      <p:sp>
        <p:nvSpPr>
          <p:cNvPr id="8" name="Text 5"/>
          <p:cNvSpPr/>
          <p:nvPr/>
        </p:nvSpPr>
        <p:spPr>
          <a:xfrm>
            <a:off x="658368" y="4480560"/>
            <a:ext cx="2404872" cy="100584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Diabetes Screening</a:t>
            </a:r>
            <a:endParaRPr lang="en-US" sz="1150" dirty="0"/>
          </a:p>
        </p:txBody>
      </p:sp>
      <p:sp>
        <p:nvSpPr>
          <p:cNvPr id="9" name="Shape 6"/>
          <p:cNvSpPr/>
          <p:nvPr/>
        </p:nvSpPr>
        <p:spPr>
          <a:xfrm>
            <a:off x="3374136" y="4480560"/>
            <a:ext cx="2624328" cy="1005840"/>
          </a:xfrm>
          <a:prstGeom prst="roundRect">
            <a:avLst>
              <a:gd name="adj" fmla="val 7273"/>
            </a:avLst>
          </a:prstGeom>
          <a:solidFill>
            <a:srgbClr val="FCD116"/>
          </a:solidFill>
          <a:ln/>
          <a:effectLst>
            <a:outerShdw sx="100000" sy="100000" kx="0" ky="0" algn="bl" rotWithShape="0" blurRad="88900" dist="38100" dir="2700000">
              <a:srgbClr val="1A1A1A">
                <a:alpha val="12000"/>
              </a:srgbClr>
            </a:outerShdw>
          </a:effectLst>
        </p:spPr>
      </p:sp>
      <p:sp>
        <p:nvSpPr>
          <p:cNvPr id="10" name="Text 7"/>
          <p:cNvSpPr/>
          <p:nvPr/>
        </p:nvSpPr>
        <p:spPr>
          <a:xfrm>
            <a:off x="3483864" y="4480560"/>
            <a:ext cx="2404872" cy="100584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Hypertension Monitoring</a:t>
            </a:r>
            <a:endParaRPr lang="en-US" sz="1150" dirty="0"/>
          </a:p>
        </p:txBody>
      </p:sp>
      <p:sp>
        <p:nvSpPr>
          <p:cNvPr id="11" name="Shape 8"/>
          <p:cNvSpPr/>
          <p:nvPr/>
        </p:nvSpPr>
        <p:spPr>
          <a:xfrm>
            <a:off x="6199632" y="4480560"/>
            <a:ext cx="2624328" cy="1005840"/>
          </a:xfrm>
          <a:prstGeom prst="roundRect">
            <a:avLst>
              <a:gd name="adj" fmla="val 7273"/>
            </a:avLst>
          </a:prstGeom>
          <a:solidFill>
            <a:srgbClr val="FCD116"/>
          </a:solidFill>
          <a:ln/>
          <a:effectLst>
            <a:outerShdw sx="100000" sy="100000" kx="0" ky="0" algn="bl" rotWithShape="0" blurRad="88900" dist="38100" dir="2700000">
              <a:srgbClr val="1A1A1A">
                <a:alpha val="12000"/>
              </a:srgbClr>
            </a:outerShdw>
          </a:effectLst>
        </p:spPr>
      </p:sp>
      <p:sp>
        <p:nvSpPr>
          <p:cNvPr id="12" name="Text 9"/>
          <p:cNvSpPr/>
          <p:nvPr/>
        </p:nvSpPr>
        <p:spPr>
          <a:xfrm>
            <a:off x="6309360" y="4480560"/>
            <a:ext cx="2404872" cy="100584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TB Symptom Screening</a:t>
            </a:r>
            <a:endParaRPr lang="en-US" sz="1150" dirty="0"/>
          </a:p>
        </p:txBody>
      </p:sp>
      <p:sp>
        <p:nvSpPr>
          <p:cNvPr id="13" name="Shape 10"/>
          <p:cNvSpPr/>
          <p:nvPr/>
        </p:nvSpPr>
        <p:spPr>
          <a:xfrm>
            <a:off x="9025128" y="4480560"/>
            <a:ext cx="2624328" cy="1005840"/>
          </a:xfrm>
          <a:prstGeom prst="roundRect">
            <a:avLst>
              <a:gd name="adj" fmla="val 7273"/>
            </a:avLst>
          </a:prstGeom>
          <a:solidFill>
            <a:srgbClr val="FCD116"/>
          </a:solidFill>
          <a:ln/>
          <a:effectLst>
            <a:outerShdw sx="100000" sy="100000" kx="0" ky="0" algn="bl" rotWithShape="0" blurRad="88900" dist="38100" dir="2700000">
              <a:srgbClr val="1A1A1A">
                <a:alpha val="12000"/>
              </a:srgbClr>
            </a:outerShdw>
          </a:effectLst>
        </p:spPr>
      </p:sp>
      <p:sp>
        <p:nvSpPr>
          <p:cNvPr id="14" name="Text 11"/>
          <p:cNvSpPr/>
          <p:nvPr/>
        </p:nvSpPr>
        <p:spPr>
          <a:xfrm>
            <a:off x="9134856" y="4480560"/>
            <a:ext cx="2404872" cy="100584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HIV Risk Assessment</a:t>
            </a:r>
            <a:endParaRPr lang="en-US" sz="1150" dirty="0"/>
          </a:p>
        </p:txBody>
      </p:sp>
      <p:sp>
        <p:nvSpPr>
          <p:cNvPr id="15" name="Text 12"/>
          <p:cNvSpPr/>
          <p:nvPr/>
        </p:nvSpPr>
        <p:spPr>
          <a:xfrm>
            <a:off x="548640" y="5669280"/>
            <a:ext cx="5486400" cy="274320"/>
          </a:xfrm>
          <a:prstGeom prst="rect">
            <a:avLst/>
          </a:prstGeom>
          <a:noFill/>
          <a:ln/>
        </p:spPr>
        <p:txBody>
          <a:bodyPr wrap="square" lIns="0" tIns="0" rIns="0" bIns="0" rtlCol="0" anchor="ctr"/>
          <a:lstStyle/>
          <a:p>
            <a:pPr indent="0" marL="0">
              <a:buNone/>
            </a:pPr>
            <a:r>
              <a:rPr lang="en-US" sz="1000" i="1" dirty="0">
                <a:solidFill>
                  <a:srgbClr val="5B6B62"/>
                </a:solidFill>
                <a:latin typeface="Calibri" pitchFamily="34" charset="0"/>
                <a:ea typeface="Calibri" pitchFamily="34" charset="-122"/>
                <a:cs typeface="Calibri" pitchFamily="34" charset="-120"/>
              </a:rPr>
              <a:t>Status: Planned</a:t>
            </a:r>
            <a:endParaRPr lang="en-US" sz="1000" dirty="0"/>
          </a:p>
        </p:txBody>
      </p:sp>
      <p:sp>
        <p:nvSpPr>
          <p:cNvPr id="16" name="Text 1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17"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Road Ahead</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We are committed to continuously improving AnteScan based on feedback from CHWs, clinicians, and supervisors.</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103120"/>
                <a:gridCol w="3657600"/>
                <a:gridCol w="1463040"/>
                <a:gridCol w="3867912"/>
              </a:tblGrid>
              <a:tr h="0">
                <a:tc>
                  <a:txBody>
                    <a:bodyPr/>
                    <a:lstStyle/>
                    <a:p>
                      <a:pPr algn="l" indent="0" marL="0">
                        <a:buNone/>
                      </a:pPr>
                      <a:r>
                        <a:rPr lang="en-US" sz="970" b="1" dirty="0">
                          <a:solidFill>
                            <a:srgbClr val="FFFFFF"/>
                          </a:solidFill>
                          <a:latin typeface="Calibri" pitchFamily="34" charset="0"/>
                          <a:ea typeface="Calibri" pitchFamily="34" charset="-122"/>
                          <a:cs typeface="Calibri" pitchFamily="34" charset="-120"/>
                        </a:rPr>
                        <a:t>Improvement</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970" b="1" dirty="0">
                          <a:solidFill>
                            <a:srgbClr val="FFFFFF"/>
                          </a:solidFill>
                          <a:latin typeface="Calibri" pitchFamily="34" charset="0"/>
                          <a:ea typeface="Calibri" pitchFamily="34" charset="-122"/>
                          <a:cs typeface="Calibri" pitchFamily="34" charset="-120"/>
                        </a:rPr>
                        <a:t>Problem It Solves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970" b="1" dirty="0">
                          <a:solidFill>
                            <a:srgbClr val="FFFFFF"/>
                          </a:solidFill>
                          <a:latin typeface="Calibri" pitchFamily="34" charset="0"/>
                          <a:ea typeface="Calibri" pitchFamily="34" charset="-122"/>
                          <a:cs typeface="Calibri" pitchFamily="34" charset="-120"/>
                        </a:rPr>
                        <a:t>Status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970" b="1" dirty="0">
                          <a:solidFill>
                            <a:srgbClr val="FFFFFF"/>
                          </a:solidFill>
                          <a:latin typeface="Calibri" pitchFamily="34" charset="0"/>
                          <a:ea typeface="Calibri" pitchFamily="34" charset="-122"/>
                          <a:cs typeface="Calibri" pitchFamily="34" charset="-120"/>
                        </a:rPr>
                        <a:t>Expected Impact</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SMOTE</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Class imbalance — helps model learn SAM/MAM</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Planned</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More children with severe malnutrition are saved.</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TFLite</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On-device AI — truly offline, faster predictions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Planned</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No internet needed; faster, on-phone predictions.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Voice Input</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Illiterate CHWs — speak symptoms in local languages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In Progress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CHWs speak symptoms in Twi, Ga, Ewe, or Hausa.</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Clinical Chatbot</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CHWs need clinical guidance</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Planned</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Instant answers to clinical questions.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EHR Integration</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Seamless continuity of care</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Planned</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Data flows between community and facility.</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More Modules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Diabetes, TB, HIV screening</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Planned</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970" dirty="0">
                          <a:solidFill>
                            <a:srgbClr val="1A1A1A"/>
                          </a:solidFill>
                          <a:latin typeface="Calibri" pitchFamily="34" charset="0"/>
                          <a:ea typeface="Calibri" pitchFamily="34" charset="-122"/>
                          <a:cs typeface="Calibri" pitchFamily="34" charset="-120"/>
                        </a:rPr>
                        <a:t>AnteScan addresses more health challenges.</a:t>
                      </a:r>
                      <a:endParaRPr lang="en-US" sz="97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7" name="Text 4"/>
          <p:cNvSpPr/>
          <p:nvPr/>
        </p:nvSpPr>
        <p:spPr>
          <a:xfrm>
            <a:off x="548640" y="6035040"/>
            <a:ext cx="11091672" cy="320040"/>
          </a:xfrm>
          <a:prstGeom prst="rect">
            <a:avLst/>
          </a:prstGeom>
          <a:noFill/>
          <a:ln/>
        </p:spPr>
        <p:txBody>
          <a:bodyPr wrap="square" lIns="0" tIns="0" rIns="0" bIns="0" rtlCol="0" anchor="ctr"/>
          <a:lstStyle/>
          <a:p>
            <a:pPr indent="0" marL="0">
              <a:buNone/>
            </a:pPr>
            <a:r>
              <a:rPr lang="en-US" sz="1200" b="1" i="1" dirty="0">
                <a:solidFill>
                  <a:srgbClr val="006B3F"/>
                </a:solidFill>
                <a:latin typeface="Calibri" pitchFamily="34" charset="0"/>
                <a:ea typeface="Calibri" pitchFamily="34" charset="-122"/>
                <a:cs typeface="Calibri" pitchFamily="34" charset="-120"/>
              </a:rPr>
              <a:t>Patient safety and user experience are our top priorities.</a:t>
            </a:r>
            <a:endParaRPr lang="en-US" sz="120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9" name="Text 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RESPONSIBLE AI</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Ethics and Data Privacy</a:t>
            </a:r>
            <a:endParaRPr lang="en-US" sz="3000" dirty="0"/>
          </a:p>
        </p:txBody>
      </p:sp>
      <p:sp>
        <p:nvSpPr>
          <p:cNvPr id="4" name="Shape 2"/>
          <p:cNvSpPr/>
          <p:nvPr/>
        </p:nvSpPr>
        <p:spPr>
          <a:xfrm>
            <a:off x="548640" y="1353312"/>
            <a:ext cx="128016" cy="128016"/>
          </a:xfrm>
          <a:prstGeom prst="ellipse">
            <a:avLst/>
          </a:prstGeom>
          <a:solidFill>
            <a:srgbClr val="FCD116"/>
          </a:solidFill>
          <a:ln/>
        </p:spPr>
      </p:sp>
      <p:sp>
        <p:nvSpPr>
          <p:cNvPr id="5" name="Text 3"/>
          <p:cNvSpPr/>
          <p:nvPr/>
        </p:nvSpPr>
        <p:spPr>
          <a:xfrm>
            <a:off x="548640" y="1417320"/>
            <a:ext cx="11064240" cy="36576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All data used in the development of AnteScan was obtained through legitimate channels and is used responsibly.</a:t>
            </a:r>
            <a:endParaRPr lang="en-US" sz="1200" dirty="0"/>
          </a:p>
        </p:txBody>
      </p:sp>
      <p:sp>
        <p:nvSpPr>
          <p:cNvPr id="6" name="Text 4"/>
          <p:cNvSpPr/>
          <p:nvPr/>
        </p:nvSpPr>
        <p:spPr>
          <a:xfrm>
            <a:off x="548640" y="1874520"/>
            <a:ext cx="5486400" cy="27432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Data Governance</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651760"/>
                <a:gridCol w="2651760"/>
                <a:gridCol w="578815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Dataset</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Access Method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Terms of Use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DHS (GHBR8CFL, GHKR8CFL)</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Registered with The DHS Program</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Must cite source; no re-identification; no third-party sharing.</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MICS6 (wm.sav, ch.sav)</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Downloaded from UNICEF MICS website</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Anonymised, for academic/research use; must be cited.</a:t>
                      </a:r>
                      <a:endParaRPr lang="en-US" sz="100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bl>
          </a:graphicData>
        </a:graphic>
      </p:graphicFrame>
      <p:sp>
        <p:nvSpPr>
          <p:cNvPr id="8" name="Text 5"/>
          <p:cNvSpPr/>
          <p:nvPr/>
        </p:nvSpPr>
        <p:spPr>
          <a:xfrm>
            <a:off x="548640" y="3520440"/>
            <a:ext cx="5486400" cy="274320"/>
          </a:xfrm>
          <a:prstGeom prst="rect">
            <a:avLst/>
          </a:prstGeom>
          <a:noFill/>
          <a:ln/>
        </p:spPr>
        <p:txBody>
          <a:bodyPr wrap="square" lIns="0" tIns="0" rIns="0" bIns="0" rtlCol="0" anchor="ctr"/>
          <a:lstStyle/>
          <a:p>
            <a:pPr indent="0" marL="0">
              <a:buNone/>
            </a:pPr>
            <a:r>
              <a:rPr lang="en-US" sz="1250" b="1" dirty="0">
                <a:solidFill>
                  <a:srgbClr val="006B3F"/>
                </a:solidFill>
                <a:latin typeface="Calibri" pitchFamily="34" charset="0"/>
                <a:ea typeface="Calibri" pitchFamily="34" charset="-122"/>
                <a:cs typeface="Calibri" pitchFamily="34" charset="-120"/>
              </a:rPr>
              <a:t>Ethical Safeguards</a:t>
            </a:r>
            <a:endParaRPr lang="en-US" sz="1250" dirty="0"/>
          </a:p>
        </p:txBody>
      </p:sp>
      <p:sp>
        <p:nvSpPr>
          <p:cNvPr id="9" name="Shape 6"/>
          <p:cNvSpPr/>
          <p:nvPr/>
        </p:nvSpPr>
        <p:spPr>
          <a:xfrm>
            <a:off x="548640" y="3840480"/>
            <a:ext cx="269748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0" name="Text 7"/>
          <p:cNvSpPr/>
          <p:nvPr/>
        </p:nvSpPr>
        <p:spPr>
          <a:xfrm>
            <a:off x="685800" y="3977640"/>
            <a:ext cx="2423160" cy="320040"/>
          </a:xfrm>
          <a:prstGeom prst="rect">
            <a:avLst/>
          </a:prstGeom>
          <a:noFill/>
          <a:ln/>
        </p:spPr>
        <p:txBody>
          <a:bodyPr wrap="square" lIns="0" tIns="0" rIns="0" bIns="0" rtlCol="0" anchor="ctr"/>
          <a:lstStyle/>
          <a:p>
            <a:pPr indent="0" marL="0">
              <a:buNone/>
            </a:pPr>
            <a:r>
              <a:rPr lang="en-US" sz="1150" b="1" dirty="0">
                <a:solidFill>
                  <a:srgbClr val="006B3F"/>
                </a:solidFill>
                <a:latin typeface="Calibri" pitchFamily="34" charset="0"/>
                <a:ea typeface="Calibri" pitchFamily="34" charset="-122"/>
                <a:cs typeface="Calibri" pitchFamily="34" charset="-120"/>
              </a:rPr>
              <a:t>Anonymisation</a:t>
            </a:r>
            <a:endParaRPr lang="en-US" sz="1150" dirty="0"/>
          </a:p>
        </p:txBody>
      </p:sp>
      <p:sp>
        <p:nvSpPr>
          <p:cNvPr id="11" name="Text 8"/>
          <p:cNvSpPr/>
          <p:nvPr/>
        </p:nvSpPr>
        <p:spPr>
          <a:xfrm>
            <a:off x="685800" y="4343400"/>
            <a:ext cx="2423160" cy="82296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No names, addresses, or phone numbers in training data.</a:t>
            </a:r>
            <a:endParaRPr lang="en-US" sz="950" dirty="0"/>
          </a:p>
        </p:txBody>
      </p:sp>
      <p:sp>
        <p:nvSpPr>
          <p:cNvPr id="12" name="Shape 9"/>
          <p:cNvSpPr/>
          <p:nvPr/>
        </p:nvSpPr>
        <p:spPr>
          <a:xfrm>
            <a:off x="3383280" y="3840480"/>
            <a:ext cx="269748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3" name="Text 10"/>
          <p:cNvSpPr/>
          <p:nvPr/>
        </p:nvSpPr>
        <p:spPr>
          <a:xfrm>
            <a:off x="3520440" y="3977640"/>
            <a:ext cx="2423160" cy="320040"/>
          </a:xfrm>
          <a:prstGeom prst="rect">
            <a:avLst/>
          </a:prstGeom>
          <a:noFill/>
          <a:ln/>
        </p:spPr>
        <p:txBody>
          <a:bodyPr wrap="square" lIns="0" tIns="0" rIns="0" bIns="0" rtlCol="0" anchor="ctr"/>
          <a:lstStyle/>
          <a:p>
            <a:pPr indent="0" marL="0">
              <a:buNone/>
            </a:pPr>
            <a:r>
              <a:rPr lang="en-US" sz="1150" b="1" dirty="0">
                <a:solidFill>
                  <a:srgbClr val="006B3F"/>
                </a:solidFill>
                <a:latin typeface="Calibri" pitchFamily="34" charset="0"/>
                <a:ea typeface="Calibri" pitchFamily="34" charset="-122"/>
                <a:cs typeface="Calibri" pitchFamily="34" charset="-120"/>
              </a:rPr>
              <a:t>Clinical Safety</a:t>
            </a:r>
            <a:endParaRPr lang="en-US" sz="1150" dirty="0"/>
          </a:p>
        </p:txBody>
      </p:sp>
      <p:sp>
        <p:nvSpPr>
          <p:cNvPr id="14" name="Text 11"/>
          <p:cNvSpPr/>
          <p:nvPr/>
        </p:nvSpPr>
        <p:spPr>
          <a:xfrm>
            <a:off x="3520440" y="4343400"/>
            <a:ext cx="2423160" cy="82296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The safety net ensures AI never bypasses clinical guidelines.</a:t>
            </a:r>
            <a:endParaRPr lang="en-US" sz="950" dirty="0"/>
          </a:p>
        </p:txBody>
      </p:sp>
      <p:sp>
        <p:nvSpPr>
          <p:cNvPr id="15" name="Shape 12"/>
          <p:cNvSpPr/>
          <p:nvPr/>
        </p:nvSpPr>
        <p:spPr>
          <a:xfrm>
            <a:off x="6217920" y="3840480"/>
            <a:ext cx="269748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6" name="Text 13"/>
          <p:cNvSpPr/>
          <p:nvPr/>
        </p:nvSpPr>
        <p:spPr>
          <a:xfrm>
            <a:off x="6355080" y="3977640"/>
            <a:ext cx="2423160" cy="320040"/>
          </a:xfrm>
          <a:prstGeom prst="rect">
            <a:avLst/>
          </a:prstGeom>
          <a:noFill/>
          <a:ln/>
        </p:spPr>
        <p:txBody>
          <a:bodyPr wrap="square" lIns="0" tIns="0" rIns="0" bIns="0" rtlCol="0" anchor="ctr"/>
          <a:lstStyle/>
          <a:p>
            <a:pPr indent="0" marL="0">
              <a:buNone/>
            </a:pPr>
            <a:r>
              <a:rPr lang="en-US" sz="1150" b="1" dirty="0">
                <a:solidFill>
                  <a:srgbClr val="006B3F"/>
                </a:solidFill>
                <a:latin typeface="Calibri" pitchFamily="34" charset="0"/>
                <a:ea typeface="Calibri" pitchFamily="34" charset="-122"/>
                <a:cs typeface="Calibri" pitchFamily="34" charset="-120"/>
              </a:rPr>
              <a:t>Data Security</a:t>
            </a:r>
            <a:endParaRPr lang="en-US" sz="1150" dirty="0"/>
          </a:p>
        </p:txBody>
      </p:sp>
      <p:sp>
        <p:nvSpPr>
          <p:cNvPr id="17" name="Text 14"/>
          <p:cNvSpPr/>
          <p:nvPr/>
        </p:nvSpPr>
        <p:spPr>
          <a:xfrm>
            <a:off x="6355080" y="4343400"/>
            <a:ext cx="2423160" cy="82296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Encrypted database; JWT authentication for authorized access.</a:t>
            </a:r>
            <a:endParaRPr lang="en-US" sz="950" dirty="0"/>
          </a:p>
        </p:txBody>
      </p:sp>
      <p:sp>
        <p:nvSpPr>
          <p:cNvPr id="18" name="Shape 15"/>
          <p:cNvSpPr/>
          <p:nvPr/>
        </p:nvSpPr>
        <p:spPr>
          <a:xfrm>
            <a:off x="9052560" y="3840480"/>
            <a:ext cx="2697480" cy="1417320"/>
          </a:xfrm>
          <a:prstGeom prst="roundRect">
            <a:avLst>
              <a:gd name="adj" fmla="val 5161"/>
            </a:avLst>
          </a:prstGeom>
          <a:solidFill>
            <a:srgbClr val="F4F8F5"/>
          </a:solidFill>
          <a:ln/>
          <a:effectLst>
            <a:outerShdw sx="100000" sy="100000" kx="0" ky="0" algn="bl" rotWithShape="0" blurRad="88900" dist="38100" dir="2700000">
              <a:srgbClr val="1A1A1A">
                <a:alpha val="12000"/>
              </a:srgbClr>
            </a:outerShdw>
          </a:effectLst>
        </p:spPr>
      </p:sp>
      <p:sp>
        <p:nvSpPr>
          <p:cNvPr id="19" name="Text 16"/>
          <p:cNvSpPr/>
          <p:nvPr/>
        </p:nvSpPr>
        <p:spPr>
          <a:xfrm>
            <a:off x="9189720" y="3977640"/>
            <a:ext cx="2423160" cy="320040"/>
          </a:xfrm>
          <a:prstGeom prst="rect">
            <a:avLst/>
          </a:prstGeom>
          <a:noFill/>
          <a:ln/>
        </p:spPr>
        <p:txBody>
          <a:bodyPr wrap="square" lIns="0" tIns="0" rIns="0" bIns="0" rtlCol="0" anchor="ctr"/>
          <a:lstStyle/>
          <a:p>
            <a:pPr indent="0" marL="0">
              <a:buNone/>
            </a:pPr>
            <a:r>
              <a:rPr lang="en-US" sz="1150" b="1" dirty="0">
                <a:solidFill>
                  <a:srgbClr val="006B3F"/>
                </a:solidFill>
                <a:latin typeface="Calibri" pitchFamily="34" charset="0"/>
                <a:ea typeface="Calibri" pitchFamily="34" charset="-122"/>
                <a:cs typeface="Calibri" pitchFamily="34" charset="-120"/>
              </a:rPr>
              <a:t>Consent</a:t>
            </a:r>
            <a:endParaRPr lang="en-US" sz="1150" dirty="0"/>
          </a:p>
        </p:txBody>
      </p:sp>
      <p:sp>
        <p:nvSpPr>
          <p:cNvPr id="20" name="Text 17"/>
          <p:cNvSpPr/>
          <p:nvPr/>
        </p:nvSpPr>
        <p:spPr>
          <a:xfrm>
            <a:off x="9189720" y="4343400"/>
            <a:ext cx="2423160" cy="82296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Informed consent obtained per Ghana's Data Protection Act (843).</a:t>
            </a:r>
            <a:endParaRPr lang="en-US" sz="950" dirty="0"/>
          </a:p>
        </p:txBody>
      </p:sp>
      <p:sp>
        <p:nvSpPr>
          <p:cNvPr id="21" name="Shape 18"/>
          <p:cNvSpPr/>
          <p:nvPr/>
        </p:nvSpPr>
        <p:spPr>
          <a:xfrm>
            <a:off x="548640" y="5486400"/>
            <a:ext cx="11091672" cy="502920"/>
          </a:xfrm>
          <a:prstGeom prst="roundRect">
            <a:avLst>
              <a:gd name="adj" fmla="val 12727"/>
            </a:avLst>
          </a:prstGeom>
          <a:solidFill>
            <a:srgbClr val="00381F"/>
          </a:solidFill>
          <a:ln/>
        </p:spPr>
      </p:sp>
      <p:sp>
        <p:nvSpPr>
          <p:cNvPr id="22" name="Text 19"/>
          <p:cNvSpPr/>
          <p:nvPr/>
        </p:nvSpPr>
        <p:spPr>
          <a:xfrm>
            <a:off x="822960" y="5486400"/>
            <a:ext cx="105156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Our commitment: Patient safety and data privacy are never compromised.</a:t>
            </a:r>
            <a:endParaRPr lang="en-US" sz="1250" dirty="0"/>
          </a:p>
        </p:txBody>
      </p:sp>
      <p:sp>
        <p:nvSpPr>
          <p:cNvPr id="23"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24"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lIns="0" tIns="0" rIns="0" bIns="0" rtlCol="0" anchor="ctr"/>
          <a:lstStyle/>
          <a:p>
            <a:pPr indent="0" marL="0">
              <a:buNone/>
            </a:pPr>
            <a:r>
              <a:rPr lang="en-US" sz="1200" b="1" spc="200" kern="0" dirty="0">
                <a:solidFill>
                  <a:srgbClr val="006B3F"/>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AnteScan at a Glance</a:t>
            </a:r>
            <a:endParaRPr lang="en-US" sz="3000" dirty="0"/>
          </a:p>
        </p:txBody>
      </p:sp>
      <p:sp>
        <p:nvSpPr>
          <p:cNvPr id="4" name="Shape 2"/>
          <p:cNvSpPr/>
          <p:nvPr/>
        </p:nvSpPr>
        <p:spPr>
          <a:xfrm>
            <a:off x="548640" y="1353312"/>
            <a:ext cx="128016" cy="128016"/>
          </a:xfrm>
          <a:prstGeom prst="ellipse">
            <a:avLst/>
          </a:prstGeom>
          <a:solidFill>
            <a:srgbClr val="FCD116"/>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377440"/>
                <a:gridCol w="871423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Summary</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006B3F"/>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What it is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 offline-first, AI-powered mobile application for Community Health Workers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Screens for antenatal risk, child malnutrition, and sickle cell disease</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Who it helps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Community Health Workers, pregnant women, children under five, supervisors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How it works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AI prediction + clinical safety net = patient safety</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Data used</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Real Ghanaian datasets from DHS 2022 and MICS6</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Key results</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78.2% ROC-AUC for ANC, 87.3% accuracy for NutriCheck</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4F8F5"/>
                    </a:solidFill>
                  </a:tcPr>
                </a:tc>
              </a:tr>
              <a:tr h="0">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Impact</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Faster, more accurate, more accountable healthcare delivery</a:t>
                      </a:r>
                      <a:endParaRPr lang="en-US" sz="1150" dirty="0">
                        <a:latin typeface="Calibri" charset="0"/>
                        <a:ea typeface="Calibri" charset="0"/>
                        <a:cs typeface="Calibri" charset="0"/>
                      </a:endParaRPr>
                    </a:p>
                  </a:txBody>
                  <a:tcPr marL="91440" marR="91440" marT="45720" marB="45720" anchor="ctr">
                    <a:lnL w="9525" cap="flat" cmpd="sng" algn="ctr">
                      <a:solidFill>
                        <a:srgbClr val="DCE5E0"/>
                      </a:solidFill>
                      <a:prstDash val="solid"/>
                      <a:round/>
                      <a:headEnd type="none" w="med" len="med"/>
                      <a:tailEnd type="none" w="med" len="med"/>
                    </a:lnL>
                    <a:lnR w="9525" cap="flat" cmpd="sng" algn="ctr">
                      <a:solidFill>
                        <a:srgbClr val="DCE5E0"/>
                      </a:solidFill>
                      <a:prstDash val="solid"/>
                      <a:round/>
                      <a:headEnd type="none" w="med" len="med"/>
                      <a:tailEnd type="none" w="med" len="med"/>
                    </a:lnR>
                    <a:lnT w="9525" cap="flat" cmpd="sng" algn="ctr">
                      <a:solidFill>
                        <a:srgbClr val="DCE5E0"/>
                      </a:solidFill>
                      <a:prstDash val="solid"/>
                      <a:round/>
                      <a:headEnd type="none" w="med" len="med"/>
                      <a:tailEnd type="none" w="med" len="med"/>
                    </a:lnT>
                    <a:lnB w="9525" cap="flat" cmpd="sng" algn="ctr">
                      <a:solidFill>
                        <a:srgbClr val="DCE5E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989320"/>
            <a:ext cx="11091672" cy="548640"/>
          </a:xfrm>
          <a:prstGeom prst="roundRect">
            <a:avLst>
              <a:gd name="adj" fmla="val 11667"/>
            </a:avLst>
          </a:prstGeom>
          <a:solidFill>
            <a:srgbClr val="FCD116"/>
          </a:solidFill>
          <a:ln/>
        </p:spPr>
      </p:sp>
      <p:sp>
        <p:nvSpPr>
          <p:cNvPr id="7" name="Text 4"/>
          <p:cNvSpPr/>
          <p:nvPr/>
        </p:nvSpPr>
        <p:spPr>
          <a:xfrm>
            <a:off x="822960" y="5989320"/>
            <a:ext cx="10515600" cy="54864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AnteScan is ready for deployment across Ghana.</a:t>
            </a:r>
            <a:endParaRPr lang="en-US" sz="150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62"/>
                </a:solidFill>
                <a:latin typeface="Calibri" pitchFamily="34" charset="0"/>
                <a:ea typeface="Calibri" pitchFamily="34" charset="-122"/>
                <a:cs typeface="Calibri" pitchFamily="34" charset="-120"/>
              </a:rPr>
              <a:t>AnteScan  |  Ghana AI Innovation Challenge 2026</a:t>
            </a:r>
            <a:endParaRPr lang="en-US" sz="900" dirty="0"/>
          </a:p>
        </p:txBody>
      </p:sp>
      <p:sp>
        <p:nvSpPr>
          <p:cNvPr id="9" name="Text 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381F"/>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006B3F"/>
          </a:solidFill>
          <a:ln/>
        </p:spPr>
      </p:sp>
      <p:sp>
        <p:nvSpPr>
          <p:cNvPr id="3" name="Shape 1"/>
          <p:cNvSpPr/>
          <p:nvPr/>
        </p:nvSpPr>
        <p:spPr>
          <a:xfrm>
            <a:off x="10241280" y="4389120"/>
            <a:ext cx="4114800" cy="4114800"/>
          </a:xfrm>
          <a:prstGeom prst="ellipse">
            <a:avLst/>
          </a:prstGeom>
          <a:solidFill>
            <a:srgbClr val="006B3F"/>
          </a:solidFill>
          <a:ln/>
        </p:spPr>
      </p:sp>
      <p:sp>
        <p:nvSpPr>
          <p:cNvPr id="4" name="Text 2"/>
          <p:cNvSpPr/>
          <p:nvPr/>
        </p:nvSpPr>
        <p:spPr>
          <a:xfrm>
            <a:off x="822960" y="822960"/>
            <a:ext cx="9144000" cy="365760"/>
          </a:xfrm>
          <a:prstGeom prst="rect">
            <a:avLst/>
          </a:prstGeom>
          <a:noFill/>
          <a:ln/>
        </p:spPr>
        <p:txBody>
          <a:bodyPr wrap="square" lIns="0" tIns="0" rIns="0" bIns="0" rtlCol="0" anchor="ctr"/>
          <a:lstStyle/>
          <a:p>
            <a:pPr indent="0" marL="0">
              <a:buNone/>
            </a:pPr>
            <a:r>
              <a:rPr lang="en-US" sz="1300" b="1" spc="300" kern="0" dirty="0">
                <a:solidFill>
                  <a:srgbClr val="FCD116"/>
                </a:solidFill>
                <a:latin typeface="Calibri" pitchFamily="34" charset="0"/>
                <a:ea typeface="Calibri" pitchFamily="34" charset="-122"/>
                <a:cs typeface="Calibri" pitchFamily="34" charset="-120"/>
              </a:rPr>
              <a:t>THANK YOU</a:t>
            </a:r>
            <a:endParaRPr lang="en-US" sz="1300" dirty="0"/>
          </a:p>
        </p:txBody>
      </p:sp>
      <p:sp>
        <p:nvSpPr>
          <p:cNvPr id="5" name="Text 3"/>
          <p:cNvSpPr/>
          <p:nvPr/>
        </p:nvSpPr>
        <p:spPr>
          <a:xfrm>
            <a:off x="777240" y="1188720"/>
            <a:ext cx="100584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AnteScan</a:t>
            </a:r>
            <a:endParaRPr lang="en-US" sz="4600" dirty="0"/>
          </a:p>
        </p:txBody>
      </p:sp>
      <p:sp>
        <p:nvSpPr>
          <p:cNvPr id="6" name="Text 4"/>
          <p:cNvSpPr/>
          <p:nvPr/>
        </p:nvSpPr>
        <p:spPr>
          <a:xfrm>
            <a:off x="822960" y="2057400"/>
            <a:ext cx="91440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AI-Powered Community Health Intelligence for Maternal &amp; Child Care in Ghana</a:t>
            </a:r>
            <a:endParaRPr lang="en-US" sz="1400" dirty="0"/>
          </a:p>
        </p:txBody>
      </p:sp>
      <p:sp>
        <p:nvSpPr>
          <p:cNvPr id="7" name="Text 5"/>
          <p:cNvSpPr/>
          <p:nvPr/>
        </p:nvSpPr>
        <p:spPr>
          <a:xfrm>
            <a:off x="822960" y="2514600"/>
            <a:ext cx="9144000" cy="320040"/>
          </a:xfrm>
          <a:prstGeom prst="rect">
            <a:avLst/>
          </a:prstGeom>
          <a:noFill/>
          <a:ln/>
        </p:spPr>
        <p:txBody>
          <a:bodyPr wrap="square" lIns="0" tIns="0" rIns="0" bIns="0" rtlCol="0" anchor="ctr"/>
          <a:lstStyle/>
          <a:p>
            <a:pPr indent="0" marL="0">
              <a:buNone/>
            </a:pPr>
            <a:r>
              <a:rPr lang="en-US" sz="1200" i="1" dirty="0">
                <a:solidFill>
                  <a:srgbClr val="FCD116"/>
                </a:solidFill>
                <a:latin typeface="Calibri" pitchFamily="34" charset="0"/>
                <a:ea typeface="Calibri" pitchFamily="34" charset="-122"/>
                <a:cs typeface="Calibri" pitchFamily="34" charset="-120"/>
              </a:rPr>
              <a:t>Ghana AI Innovation Challenge 2026</a:t>
            </a:r>
            <a:endParaRPr lang="en-US" sz="1200" dirty="0"/>
          </a:p>
        </p:txBody>
      </p:sp>
      <p:sp>
        <p:nvSpPr>
          <p:cNvPr id="8" name="Shape 6"/>
          <p:cNvSpPr/>
          <p:nvPr/>
        </p:nvSpPr>
        <p:spPr>
          <a:xfrm>
            <a:off x="822960" y="3209544"/>
            <a:ext cx="128016" cy="128016"/>
          </a:xfrm>
          <a:prstGeom prst="ellipse">
            <a:avLst/>
          </a:prstGeom>
          <a:solidFill>
            <a:srgbClr val="FCD116"/>
          </a:solidFill>
          <a:ln/>
        </p:spPr>
      </p:sp>
      <p:sp>
        <p:nvSpPr>
          <p:cNvPr id="9" name="Text 7"/>
          <p:cNvSpPr/>
          <p:nvPr/>
        </p:nvSpPr>
        <p:spPr>
          <a:xfrm>
            <a:off x="1097280" y="3081528"/>
            <a:ext cx="54864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Offline-first design for rural Ghana</a:t>
            </a:r>
            <a:endParaRPr lang="en-US" sz="1250" dirty="0"/>
          </a:p>
        </p:txBody>
      </p:sp>
      <p:sp>
        <p:nvSpPr>
          <p:cNvPr id="10" name="Shape 8"/>
          <p:cNvSpPr/>
          <p:nvPr/>
        </p:nvSpPr>
        <p:spPr>
          <a:xfrm>
            <a:off x="822960" y="3593592"/>
            <a:ext cx="128016" cy="128016"/>
          </a:xfrm>
          <a:prstGeom prst="ellipse">
            <a:avLst/>
          </a:prstGeom>
          <a:solidFill>
            <a:srgbClr val="FCD116"/>
          </a:solidFill>
          <a:ln/>
        </p:spPr>
      </p:sp>
      <p:sp>
        <p:nvSpPr>
          <p:cNvPr id="11" name="Text 9"/>
          <p:cNvSpPr/>
          <p:nvPr/>
        </p:nvSpPr>
        <p:spPr>
          <a:xfrm>
            <a:off x="1097280" y="3465576"/>
            <a:ext cx="54864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Three screening modules</a:t>
            </a:r>
            <a:endParaRPr lang="en-US" sz="1250" dirty="0"/>
          </a:p>
        </p:txBody>
      </p:sp>
      <p:sp>
        <p:nvSpPr>
          <p:cNvPr id="12" name="Shape 10"/>
          <p:cNvSpPr/>
          <p:nvPr/>
        </p:nvSpPr>
        <p:spPr>
          <a:xfrm>
            <a:off x="822960" y="3977640"/>
            <a:ext cx="128016" cy="128016"/>
          </a:xfrm>
          <a:prstGeom prst="ellipse">
            <a:avLst/>
          </a:prstGeom>
          <a:solidFill>
            <a:srgbClr val="FCD116"/>
          </a:solidFill>
          <a:ln/>
        </p:spPr>
      </p:sp>
      <p:sp>
        <p:nvSpPr>
          <p:cNvPr id="13" name="Text 11"/>
          <p:cNvSpPr/>
          <p:nvPr/>
        </p:nvSpPr>
        <p:spPr>
          <a:xfrm>
            <a:off x="1097280" y="3849624"/>
            <a:ext cx="54864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Hybrid AI + Clinical Safety Net</a:t>
            </a:r>
            <a:endParaRPr lang="en-US" sz="1250" dirty="0"/>
          </a:p>
        </p:txBody>
      </p:sp>
      <p:sp>
        <p:nvSpPr>
          <p:cNvPr id="14" name="Shape 12"/>
          <p:cNvSpPr/>
          <p:nvPr/>
        </p:nvSpPr>
        <p:spPr>
          <a:xfrm>
            <a:off x="822960" y="4361688"/>
            <a:ext cx="128016" cy="128016"/>
          </a:xfrm>
          <a:prstGeom prst="ellipse">
            <a:avLst/>
          </a:prstGeom>
          <a:solidFill>
            <a:srgbClr val="FCD116"/>
          </a:solidFill>
          <a:ln/>
        </p:spPr>
      </p:sp>
      <p:sp>
        <p:nvSpPr>
          <p:cNvPr id="15" name="Text 13"/>
          <p:cNvSpPr/>
          <p:nvPr/>
        </p:nvSpPr>
        <p:spPr>
          <a:xfrm>
            <a:off x="1097280" y="4233672"/>
            <a:ext cx="54864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Real Ghanaian datasets</a:t>
            </a:r>
            <a:endParaRPr lang="en-US" sz="1250" dirty="0"/>
          </a:p>
        </p:txBody>
      </p:sp>
      <p:sp>
        <p:nvSpPr>
          <p:cNvPr id="16" name="Shape 14"/>
          <p:cNvSpPr/>
          <p:nvPr/>
        </p:nvSpPr>
        <p:spPr>
          <a:xfrm>
            <a:off x="822960" y="4745736"/>
            <a:ext cx="128016" cy="128016"/>
          </a:xfrm>
          <a:prstGeom prst="ellipse">
            <a:avLst/>
          </a:prstGeom>
          <a:solidFill>
            <a:srgbClr val="FCD116"/>
          </a:solidFill>
          <a:ln/>
        </p:spPr>
      </p:sp>
      <p:sp>
        <p:nvSpPr>
          <p:cNvPr id="17" name="Text 15"/>
          <p:cNvSpPr/>
          <p:nvPr/>
        </p:nvSpPr>
        <p:spPr>
          <a:xfrm>
            <a:off x="1097280" y="4617720"/>
            <a:ext cx="5486400" cy="3200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Ready for deployment</a:t>
            </a:r>
            <a:endParaRPr lang="en-US" sz="1250" dirty="0"/>
          </a:p>
        </p:txBody>
      </p:sp>
      <p:sp>
        <p:nvSpPr>
          <p:cNvPr id="18" name="Shape 16"/>
          <p:cNvSpPr/>
          <p:nvPr/>
        </p:nvSpPr>
        <p:spPr>
          <a:xfrm>
            <a:off x="7498080" y="3154680"/>
            <a:ext cx="9144" cy="2194560"/>
          </a:xfrm>
          <a:prstGeom prst="rect">
            <a:avLst/>
          </a:prstGeom>
          <a:noFill/>
          <a:ln w="12700">
            <a:solidFill>
              <a:srgbClr val="FCD116"/>
            </a:solidFill>
            <a:prstDash val="solid"/>
          </a:ln>
        </p:spPr>
      </p:sp>
      <p:sp>
        <p:nvSpPr>
          <p:cNvPr id="19" name="Text 17"/>
          <p:cNvSpPr/>
          <p:nvPr/>
        </p:nvSpPr>
        <p:spPr>
          <a:xfrm>
            <a:off x="7772400" y="3154680"/>
            <a:ext cx="3657600" cy="2194560"/>
          </a:xfrm>
          <a:prstGeom prst="rect">
            <a:avLst/>
          </a:prstGeom>
          <a:noFill/>
          <a:ln/>
        </p:spPr>
        <p:txBody>
          <a:bodyPr wrap="square" lIns="0" tIns="0" rIns="0" bIns="0" rtlCol="0" anchor="ctr"/>
          <a:lstStyle/>
          <a:p>
            <a:pPr indent="0" marL="0">
              <a:buNone/>
            </a:pPr>
            <a:r>
              <a:rPr lang="en-US" sz="1150" b="1" dirty="0">
                <a:solidFill>
                  <a:srgbClr val="FCD116"/>
                </a:solidFill>
                <a:latin typeface="Calibri" pitchFamily="34" charset="0"/>
                <a:ea typeface="Calibri" pitchFamily="34" charset="-122"/>
                <a:cs typeface="Calibri" pitchFamily="34" charset="-120"/>
              </a:rPr>
              <a:t>Email: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your.email@example.com</a:t>
            </a:r>
            <a:endParaRPr lang="en-US" sz="115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FCD116"/>
                </a:solidFill>
                <a:latin typeface="Calibri" pitchFamily="34" charset="0"/>
                <a:ea typeface="Calibri" pitchFamily="34" charset="-122"/>
                <a:cs typeface="Calibri" pitchFamily="34" charset="-120"/>
              </a:rPr>
              <a:t>Team: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[Your Team Name]</a:t>
            </a:r>
            <a:endParaRPr lang="en-US" sz="115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FCD116"/>
                </a:solidFill>
                <a:latin typeface="Calibri" pitchFamily="34" charset="0"/>
                <a:ea typeface="Calibri" pitchFamily="34" charset="-122"/>
                <a:cs typeface="Calibri" pitchFamily="34" charset="-120"/>
              </a:rPr>
              <a:t>GitHub: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[Your GitHub URL]</a:t>
            </a:r>
            <a:endParaRPr lang="en-US" sz="1150" dirty="0"/>
          </a:p>
        </p:txBody>
      </p:sp>
      <p:sp>
        <p:nvSpPr>
          <p:cNvPr id="20" name="Text 18"/>
          <p:cNvSpPr/>
          <p:nvPr/>
        </p:nvSpPr>
        <p:spPr>
          <a:xfrm>
            <a:off x="822960" y="5852160"/>
            <a:ext cx="5486400" cy="457200"/>
          </a:xfrm>
          <a:prstGeom prst="rect">
            <a:avLst/>
          </a:prstGeom>
          <a:noFill/>
          <a:ln/>
        </p:spPr>
        <p:txBody>
          <a:bodyPr wrap="square" lIns="0" tIns="0" rIns="0" bIns="0" rtlCol="0" anchor="ctr"/>
          <a:lstStyle/>
          <a:p>
            <a:pPr indent="0" marL="0">
              <a:buNone/>
            </a:pPr>
            <a:r>
              <a:rPr lang="en-US" sz="2000" b="1" i="1" dirty="0">
                <a:solidFill>
                  <a:srgbClr val="FCD116"/>
                </a:solidFill>
                <a:latin typeface="Cambria" pitchFamily="34" charset="0"/>
                <a:ea typeface="Cambria" pitchFamily="34" charset="-122"/>
                <a:cs typeface="Cambria"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AnteScan - Ghana AI Innovation Challenge 2026</dc:title>
  <dc:subject>PptxGenJS Presentation</dc:subject>
  <dc:creator>AnteScan Team</dc:creator>
  <cp:lastModifiedBy>AnteScan Team</cp:lastModifiedBy>
  <cp:revision>1</cp:revision>
  <dcterms:created xsi:type="dcterms:W3CDTF">2026-07-01T19:22:06Z</dcterms:created>
  <dcterms:modified xsi:type="dcterms:W3CDTF">2026-07-01T19:22:06Z</dcterms:modified>
</cp:coreProperties>
</file>