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21387816" cy="30275784"/>
  <p:notesSz cx="30275784" cy="2138781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387816" cy="2468880"/>
          </a:xfrm>
          <a:prstGeom prst="rect">
            <a:avLst/>
          </a:prstGeom>
          <a:solidFill>
            <a:srgbClr val="004D2C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1188720" cy="201168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21208"/>
            <a:ext cx="1188720" cy="201168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722376"/>
            <a:ext cx="1188720" cy="201168"/>
          </a:xfrm>
          <a:prstGeom prst="rect">
            <a:avLst/>
          </a:prstGeom>
          <a:solidFill>
            <a:srgbClr val="006B3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937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★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685800"/>
            <a:ext cx="184617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0" b="1" spc="100" kern="0" dirty="0">
                <a:solidFill>
                  <a:srgbClr val="FCD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ANTESCAN</a:t>
            </a:r>
            <a:endParaRPr lang="en-US" sz="68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8461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Community Health Intelligence for Maternal &amp; Child Care in Ghana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5718536" y="640080"/>
            <a:ext cx="5120640" cy="1234440"/>
          </a:xfrm>
          <a:prstGeom prst="roundRect">
            <a:avLst>
              <a:gd name="adj" fmla="val 7407"/>
            </a:avLst>
          </a:prstGeom>
          <a:solidFill>
            <a:srgbClr val="CE1126"/>
          </a:solidFill>
          <a:ln/>
        </p:spPr>
      </p:sp>
      <p:sp>
        <p:nvSpPr>
          <p:cNvPr id="10" name="Text 8"/>
          <p:cNvSpPr/>
          <p:nvPr/>
        </p:nvSpPr>
        <p:spPr>
          <a:xfrm>
            <a:off x="15718536" y="640080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 AI INNOVATION CHALLENGE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— Poster Presentation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4866894" cy="566928"/>
          </a:xfrm>
          <a:prstGeom prst="roundRect">
            <a:avLst>
              <a:gd name="adj" fmla="val 9677"/>
            </a:avLst>
          </a:prstGeom>
          <a:solidFill>
            <a:srgbClr val="CE1126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743200"/>
            <a:ext cx="45925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4866894" cy="7452360"/>
          </a:xfrm>
          <a:prstGeom prst="roundRect">
            <a:avLst>
              <a:gd name="adj" fmla="val 1503"/>
            </a:avLst>
          </a:prstGeom>
          <a:solidFill>
            <a:srgbClr val="FBE7E9"/>
          </a:solidFill>
          <a:ln/>
          <a:effectLst>
            <a:outerShdw sx="100000" sy="100000" kx="0" ky="0" algn="bl" rotWithShape="0" blurRad="88900" dist="381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3611880"/>
            <a:ext cx="44096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1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77240" y="4069080"/>
            <a:ext cx="44096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maternal deaths per 100,000 live births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77240" y="4709160"/>
            <a:ext cx="44096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1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77240" y="5166360"/>
            <a:ext cx="44096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under five are stunted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77240" y="5806440"/>
            <a:ext cx="44096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1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5,000+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77240" y="6263640"/>
            <a:ext cx="44096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Health Workers with no digital decision-support tools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77240" y="6903720"/>
            <a:ext cx="4409694" cy="0"/>
          </a:xfrm>
          <a:prstGeom prst="line">
            <a:avLst/>
          </a:prstGeom>
          <a:noFill/>
          <a:ln w="12700">
            <a:solidFill>
              <a:srgbClr val="E3B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7040880"/>
            <a:ext cx="44096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E1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CHW DAILY CHALLENGES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77240" y="7406640"/>
            <a:ext cx="4409694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checklists take 10–15 minutes per screening</a:t>
            </a:r>
            <a:endParaRPr lang="en-US" sz="108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risk assessment — high-risk cases often missed</a:t>
            </a:r>
            <a:endParaRPr lang="en-US" sz="108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referrals are slow and unreliable</a:t>
            </a:r>
            <a:endParaRPr lang="en-US" sz="108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 — cloud tools don't work in rural areas</a:t>
            </a:r>
            <a:endParaRPr lang="en-US" sz="108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directors lack supervision visibility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5689854" y="2743200"/>
            <a:ext cx="4866894" cy="566928"/>
          </a:xfrm>
          <a:prstGeom prst="roundRect">
            <a:avLst>
              <a:gd name="adj" fmla="val 9677"/>
            </a:avLst>
          </a:prstGeom>
          <a:solidFill>
            <a:srgbClr val="006B3F"/>
          </a:solidFill>
          <a:ln/>
        </p:spPr>
      </p:sp>
      <p:sp>
        <p:nvSpPr>
          <p:cNvPr id="24" name="Text 22"/>
          <p:cNvSpPr/>
          <p:nvPr/>
        </p:nvSpPr>
        <p:spPr>
          <a:xfrm>
            <a:off x="5827014" y="2743200"/>
            <a:ext cx="45925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689854" y="3429000"/>
            <a:ext cx="4866894" cy="7452360"/>
          </a:xfrm>
          <a:prstGeom prst="roundRect">
            <a:avLst>
              <a:gd name="adj" fmla="val 1503"/>
            </a:avLst>
          </a:prstGeom>
          <a:solidFill>
            <a:srgbClr val="E6F2EC"/>
          </a:solidFill>
          <a:ln/>
          <a:effectLst>
            <a:outerShdw sx="100000" sy="100000" kx="0" ky="0" algn="bl" rotWithShape="0" blurRad="88900" dist="38100" dir="2700000">
              <a:srgbClr val="000000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918454" y="3611880"/>
            <a:ext cx="440969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AnteScan is an offline-first, AI-powered mobile app that gives Community Health Workers instant, clinically validated risk assessments for three critical health areas.</a:t>
            </a:r>
            <a:endParaRPr lang="en-US" sz="1180" dirty="0"/>
          </a:p>
        </p:txBody>
      </p:sp>
      <p:sp>
        <p:nvSpPr>
          <p:cNvPr id="27" name="Shape 25"/>
          <p:cNvSpPr/>
          <p:nvPr/>
        </p:nvSpPr>
        <p:spPr>
          <a:xfrm>
            <a:off x="5918454" y="4663440"/>
            <a:ext cx="4409694" cy="777240"/>
          </a:xfrm>
          <a:prstGeom prst="roundRect">
            <a:avLst>
              <a:gd name="adj" fmla="val 9412"/>
            </a:avLst>
          </a:prstGeom>
          <a:solidFill>
            <a:srgbClr val="FCD116"/>
          </a:solidFill>
          <a:ln/>
        </p:spPr>
      </p:sp>
      <p:sp>
        <p:nvSpPr>
          <p:cNvPr id="28" name="Text 26"/>
          <p:cNvSpPr/>
          <p:nvPr/>
        </p:nvSpPr>
        <p:spPr>
          <a:xfrm>
            <a:off x="5918454" y="4663440"/>
            <a:ext cx="44096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MIN  →  UNDER 2 MIN</a:t>
            </a:r>
            <a:endParaRPr lang="en-US" sz="15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screening time per client</a:t>
            </a:r>
            <a:endParaRPr lang="en-US" sz="150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8454" y="5623560"/>
            <a:ext cx="310896" cy="310896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6311646" y="5577840"/>
            <a:ext cx="399821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PWA</a:t>
            </a:r>
            <a:endParaRPr lang="en-US" sz="1130" dirty="0"/>
          </a:p>
        </p:txBody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454" y="6099048"/>
            <a:ext cx="310896" cy="310896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6311646" y="6053328"/>
            <a:ext cx="399821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Risk Assessment</a:t>
            </a:r>
            <a:endParaRPr lang="en-US" sz="1130" dirty="0"/>
          </a:p>
        </p:txBody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8454" y="6574536"/>
            <a:ext cx="310896" cy="310896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311646" y="6528816"/>
            <a:ext cx="399821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SMS Referrals</a:t>
            </a:r>
            <a:endParaRPr lang="en-US" sz="1130" dirty="0"/>
          </a:p>
        </p:txBody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8454" y="7050024"/>
            <a:ext cx="310896" cy="310896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311646" y="7004304"/>
            <a:ext cx="399821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130" dirty="0"/>
          </a:p>
        </p:txBody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8454" y="7525512"/>
            <a:ext cx="310896" cy="310896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6311646" y="7479792"/>
            <a:ext cx="399821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Data Sync</a:t>
            </a:r>
            <a:endParaRPr lang="en-US" sz="1130" dirty="0"/>
          </a:p>
        </p:txBody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8454" y="8001000"/>
            <a:ext cx="310896" cy="310896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311646" y="7955280"/>
            <a:ext cx="399821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Safety Net</a:t>
            </a:r>
            <a:endParaRPr lang="en-US" sz="1130" dirty="0"/>
          </a:p>
        </p:txBody>
      </p:sp>
      <p:sp>
        <p:nvSpPr>
          <p:cNvPr id="41" name="Shape 33"/>
          <p:cNvSpPr/>
          <p:nvPr/>
        </p:nvSpPr>
        <p:spPr>
          <a:xfrm>
            <a:off x="10831068" y="2743200"/>
            <a:ext cx="4866894" cy="566928"/>
          </a:xfrm>
          <a:prstGeom prst="roundRect">
            <a:avLst>
              <a:gd name="adj" fmla="val 9677"/>
            </a:avLst>
          </a:prstGeom>
          <a:solidFill>
            <a:srgbClr val="FCD116"/>
          </a:solidFill>
          <a:ln/>
        </p:spPr>
      </p:sp>
      <p:sp>
        <p:nvSpPr>
          <p:cNvPr id="42" name="Text 34"/>
          <p:cNvSpPr/>
          <p:nvPr/>
        </p:nvSpPr>
        <p:spPr>
          <a:xfrm>
            <a:off x="10968228" y="2743200"/>
            <a:ext cx="45925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50" kern="0" dirty="0">
                <a:solidFill>
                  <a:srgbClr val="00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SCREENING MODULES</a:t>
            </a:r>
            <a:endParaRPr lang="en-US" sz="1500" dirty="0"/>
          </a:p>
        </p:txBody>
      </p:sp>
      <p:sp>
        <p:nvSpPr>
          <p:cNvPr id="43" name="Shape 35"/>
          <p:cNvSpPr/>
          <p:nvPr/>
        </p:nvSpPr>
        <p:spPr>
          <a:xfrm>
            <a:off x="10831068" y="3429000"/>
            <a:ext cx="486689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4000"/>
              </a:srgbClr>
            </a:outerShdw>
          </a:effectLst>
        </p:spPr>
      </p:sp>
      <p:sp>
        <p:nvSpPr>
          <p:cNvPr id="44" name="Shape 36"/>
          <p:cNvSpPr/>
          <p:nvPr/>
        </p:nvSpPr>
        <p:spPr>
          <a:xfrm>
            <a:off x="11032236" y="3630168"/>
            <a:ext cx="502920" cy="502920"/>
          </a:xfrm>
          <a:prstGeom prst="ellipse">
            <a:avLst/>
          </a:prstGeom>
          <a:solidFill>
            <a:srgbClr val="E6F2EC"/>
          </a:solidFill>
          <a:ln/>
        </p:spPr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41964" y="3739896"/>
            <a:ext cx="283464" cy="283464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11654028" y="3611880"/>
            <a:ext cx="38610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 — Antenatal Care</a:t>
            </a:r>
            <a:endParaRPr lang="en-US" sz="1250" dirty="0"/>
          </a:p>
        </p:txBody>
      </p:sp>
      <p:sp>
        <p:nvSpPr>
          <p:cNvPr id="47" name="Text 38"/>
          <p:cNvSpPr/>
          <p:nvPr/>
        </p:nvSpPr>
        <p:spPr>
          <a:xfrm>
            <a:off x="11059668" y="4251960"/>
            <a:ext cx="44096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pregnant women and classifies risk</a:t>
            </a:r>
            <a:endParaRPr lang="en-US" sz="1080" dirty="0"/>
          </a:p>
        </p:txBody>
      </p:sp>
      <p:sp>
        <p:nvSpPr>
          <p:cNvPr id="48" name="Shape 39"/>
          <p:cNvSpPr/>
          <p:nvPr/>
        </p:nvSpPr>
        <p:spPr>
          <a:xfrm>
            <a:off x="11059668" y="5166360"/>
            <a:ext cx="4409694" cy="411480"/>
          </a:xfrm>
          <a:prstGeom prst="roundRect">
            <a:avLst>
              <a:gd name="adj" fmla="val 13333"/>
            </a:avLst>
          </a:prstGeom>
          <a:solidFill>
            <a:srgbClr val="FFF6D6"/>
          </a:solidFill>
          <a:ln/>
        </p:spPr>
      </p:sp>
      <p:sp>
        <p:nvSpPr>
          <p:cNvPr id="49" name="Text 40"/>
          <p:cNvSpPr/>
          <p:nvPr/>
        </p:nvSpPr>
        <p:spPr>
          <a:xfrm>
            <a:off x="11151108" y="5166360"/>
            <a:ext cx="42268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6B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· Moderate · High · Emergency</a:t>
            </a:r>
            <a:endParaRPr lang="en-US" sz="960" dirty="0"/>
          </a:p>
        </p:txBody>
      </p:sp>
      <p:sp>
        <p:nvSpPr>
          <p:cNvPr id="50" name="Shape 41"/>
          <p:cNvSpPr/>
          <p:nvPr/>
        </p:nvSpPr>
        <p:spPr>
          <a:xfrm>
            <a:off x="10831068" y="5943600"/>
            <a:ext cx="486689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4000"/>
              </a:srgbClr>
            </a:outerShdw>
          </a:effectLst>
        </p:spPr>
      </p:sp>
      <p:sp>
        <p:nvSpPr>
          <p:cNvPr id="51" name="Shape 42"/>
          <p:cNvSpPr/>
          <p:nvPr/>
        </p:nvSpPr>
        <p:spPr>
          <a:xfrm>
            <a:off x="11032236" y="6144768"/>
            <a:ext cx="502920" cy="502920"/>
          </a:xfrm>
          <a:prstGeom prst="ellipse">
            <a:avLst/>
          </a:prstGeom>
          <a:solidFill>
            <a:srgbClr val="E6F2EC"/>
          </a:solidFill>
          <a:ln/>
        </p:spPr>
      </p:sp>
      <p:pic>
        <p:nvPicPr>
          <p:cNvPr id="5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41964" y="6254496"/>
            <a:ext cx="283464" cy="283464"/>
          </a:xfrm>
          <a:prstGeom prst="rect">
            <a:avLst/>
          </a:prstGeom>
        </p:spPr>
      </p:pic>
      <p:sp>
        <p:nvSpPr>
          <p:cNvPr id="53" name="Text 43"/>
          <p:cNvSpPr/>
          <p:nvPr/>
        </p:nvSpPr>
        <p:spPr>
          <a:xfrm>
            <a:off x="11654028" y="6126480"/>
            <a:ext cx="38610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2 — NutriCheck</a:t>
            </a:r>
            <a:endParaRPr lang="en-US" sz="1250" dirty="0"/>
          </a:p>
        </p:txBody>
      </p:sp>
      <p:sp>
        <p:nvSpPr>
          <p:cNvPr id="54" name="Text 44"/>
          <p:cNvSpPr/>
          <p:nvPr/>
        </p:nvSpPr>
        <p:spPr>
          <a:xfrm>
            <a:off x="11059668" y="6766560"/>
            <a:ext cx="44096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children under 5 for malnutrition</a:t>
            </a:r>
            <a:endParaRPr lang="en-US" sz="1080" dirty="0"/>
          </a:p>
        </p:txBody>
      </p:sp>
      <p:sp>
        <p:nvSpPr>
          <p:cNvPr id="55" name="Shape 45"/>
          <p:cNvSpPr/>
          <p:nvPr/>
        </p:nvSpPr>
        <p:spPr>
          <a:xfrm>
            <a:off x="11059668" y="7680960"/>
            <a:ext cx="4409694" cy="411480"/>
          </a:xfrm>
          <a:prstGeom prst="roundRect">
            <a:avLst>
              <a:gd name="adj" fmla="val 13333"/>
            </a:avLst>
          </a:prstGeom>
          <a:solidFill>
            <a:srgbClr val="FFF6D6"/>
          </a:solidFill>
          <a:ln/>
        </p:spPr>
      </p:sp>
      <p:sp>
        <p:nvSpPr>
          <p:cNvPr id="56" name="Text 46"/>
          <p:cNvSpPr/>
          <p:nvPr/>
        </p:nvSpPr>
        <p:spPr>
          <a:xfrm>
            <a:off x="11151108" y="7680960"/>
            <a:ext cx="42268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6B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· MAM · SAM</a:t>
            </a:r>
            <a:endParaRPr lang="en-US" sz="960" dirty="0"/>
          </a:p>
        </p:txBody>
      </p:sp>
      <p:sp>
        <p:nvSpPr>
          <p:cNvPr id="57" name="Shape 47"/>
          <p:cNvSpPr/>
          <p:nvPr/>
        </p:nvSpPr>
        <p:spPr>
          <a:xfrm>
            <a:off x="10831068" y="8458200"/>
            <a:ext cx="486689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4000"/>
              </a:srgbClr>
            </a:outerShdw>
          </a:effectLst>
        </p:spPr>
      </p:sp>
      <p:sp>
        <p:nvSpPr>
          <p:cNvPr id="58" name="Shape 48"/>
          <p:cNvSpPr/>
          <p:nvPr/>
        </p:nvSpPr>
        <p:spPr>
          <a:xfrm>
            <a:off x="11032236" y="8659368"/>
            <a:ext cx="502920" cy="502920"/>
          </a:xfrm>
          <a:prstGeom prst="ellipse">
            <a:avLst/>
          </a:prstGeom>
          <a:solidFill>
            <a:srgbClr val="E6F2EC"/>
          </a:solidFill>
          <a:ln/>
        </p:spPr>
      </p:sp>
      <p:pic>
        <p:nvPicPr>
          <p:cNvPr id="5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41964" y="8769096"/>
            <a:ext cx="283464" cy="283464"/>
          </a:xfrm>
          <a:prstGeom prst="rect">
            <a:avLst/>
          </a:prstGeom>
        </p:spPr>
      </p:pic>
      <p:sp>
        <p:nvSpPr>
          <p:cNvPr id="60" name="Text 49"/>
          <p:cNvSpPr/>
          <p:nvPr/>
        </p:nvSpPr>
        <p:spPr>
          <a:xfrm>
            <a:off x="11654028" y="8641080"/>
            <a:ext cx="38610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3 — Sickle Cell Disease</a:t>
            </a:r>
            <a:endParaRPr lang="en-US" sz="1250" dirty="0"/>
          </a:p>
        </p:txBody>
      </p:sp>
      <p:sp>
        <p:nvSpPr>
          <p:cNvPr id="61" name="Text 50"/>
          <p:cNvSpPr/>
          <p:nvPr/>
        </p:nvSpPr>
        <p:spPr>
          <a:xfrm>
            <a:off x="11059668" y="9281160"/>
            <a:ext cx="44096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using clinical signs &amp; symptoms</a:t>
            </a:r>
            <a:endParaRPr lang="en-US" sz="1080" dirty="0"/>
          </a:p>
        </p:txBody>
      </p:sp>
      <p:sp>
        <p:nvSpPr>
          <p:cNvPr id="62" name="Shape 51"/>
          <p:cNvSpPr/>
          <p:nvPr/>
        </p:nvSpPr>
        <p:spPr>
          <a:xfrm>
            <a:off x="11059668" y="10195560"/>
            <a:ext cx="4409694" cy="411480"/>
          </a:xfrm>
          <a:prstGeom prst="roundRect">
            <a:avLst>
              <a:gd name="adj" fmla="val 13333"/>
            </a:avLst>
          </a:prstGeom>
          <a:solidFill>
            <a:srgbClr val="FFF6D6"/>
          </a:solidFill>
          <a:ln/>
        </p:spPr>
      </p:sp>
      <p:sp>
        <p:nvSpPr>
          <p:cNvPr id="63" name="Text 52"/>
          <p:cNvSpPr/>
          <p:nvPr/>
        </p:nvSpPr>
        <p:spPr>
          <a:xfrm>
            <a:off x="11151108" y="10195560"/>
            <a:ext cx="42268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6B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Joint/bone pain · Jaundice · Pale palms</a:t>
            </a:r>
            <a:endParaRPr lang="en-US" sz="960" dirty="0"/>
          </a:p>
        </p:txBody>
      </p:sp>
      <p:sp>
        <p:nvSpPr>
          <p:cNvPr id="64" name="Text 53"/>
          <p:cNvSpPr/>
          <p:nvPr/>
        </p:nvSpPr>
        <p:spPr>
          <a:xfrm>
            <a:off x="10831068" y="11018520"/>
            <a:ext cx="48668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modules work offline and provide instant results.</a:t>
            </a:r>
            <a:endParaRPr lang="en-US" sz="1050" dirty="0"/>
          </a:p>
        </p:txBody>
      </p:sp>
      <p:sp>
        <p:nvSpPr>
          <p:cNvPr id="65" name="Shape 54"/>
          <p:cNvSpPr/>
          <p:nvPr/>
        </p:nvSpPr>
        <p:spPr>
          <a:xfrm>
            <a:off x="15972282" y="2743200"/>
            <a:ext cx="4866894" cy="566928"/>
          </a:xfrm>
          <a:prstGeom prst="roundRect">
            <a:avLst>
              <a:gd name="adj" fmla="val 9677"/>
            </a:avLst>
          </a:prstGeom>
          <a:solidFill>
            <a:srgbClr val="006B3F"/>
          </a:solidFill>
          <a:ln/>
        </p:spPr>
      </p:sp>
      <p:sp>
        <p:nvSpPr>
          <p:cNvPr id="66" name="Text 55"/>
          <p:cNvSpPr/>
          <p:nvPr/>
        </p:nvSpPr>
        <p:spPr>
          <a:xfrm>
            <a:off x="16109442" y="2743200"/>
            <a:ext cx="45925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METHOD</a:t>
            </a:r>
            <a:endParaRPr lang="en-US" sz="1500" dirty="0"/>
          </a:p>
        </p:txBody>
      </p:sp>
      <p:sp>
        <p:nvSpPr>
          <p:cNvPr id="67" name="Shape 56"/>
          <p:cNvSpPr/>
          <p:nvPr/>
        </p:nvSpPr>
        <p:spPr>
          <a:xfrm>
            <a:off x="15972282" y="3429000"/>
            <a:ext cx="4866894" cy="7452360"/>
          </a:xfrm>
          <a:prstGeom prst="roundRect">
            <a:avLst>
              <a:gd name="adj" fmla="val 15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4000"/>
              </a:srgbClr>
            </a:outerShdw>
          </a:effectLst>
        </p:spPr>
      </p:sp>
      <p:sp>
        <p:nvSpPr>
          <p:cNvPr id="68" name="Text 57"/>
          <p:cNvSpPr/>
          <p:nvPr/>
        </p:nvSpPr>
        <p:spPr>
          <a:xfrm>
            <a:off x="16200882" y="3611880"/>
            <a:ext cx="44096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GHANAIAN DATASETS</a:t>
            </a:r>
            <a:endParaRPr lang="en-US" sz="1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200882" y="3931920"/>
          <a:ext cx="4409694" cy="914400"/>
        </p:xfrm>
        <a:graphic>
          <a:graphicData uri="http://schemas.openxmlformats.org/drawingml/2006/table">
            <a:tbl>
              <a:tblPr/>
              <a:tblGrid>
                <a:gridCol w="2116653"/>
                <a:gridCol w="970133"/>
                <a:gridCol w="1322908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3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MICS6 Women (wm.sav)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14,609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 training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MICS6 Children (ch.sav)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8,903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NutriCheck training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GHBR8CFL (DHS)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34,595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validation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GHKR8CFL (DHS)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~3,000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data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0" name="Text 58"/>
          <p:cNvSpPr/>
          <p:nvPr/>
        </p:nvSpPr>
        <p:spPr>
          <a:xfrm>
            <a:off x="16200882" y="5532120"/>
            <a:ext cx="44096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i="1" dirty="0">
                <a:solidFill>
                  <a:srgbClr val="5B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datasets anonymised, nationally representative (UNICEF MICS6 2018 · DHS Program 2022).</a:t>
            </a:r>
            <a:endParaRPr lang="en-US" sz="930" dirty="0"/>
          </a:p>
        </p:txBody>
      </p:sp>
      <p:sp>
        <p:nvSpPr>
          <p:cNvPr id="71" name="Text 59"/>
          <p:cNvSpPr/>
          <p:nvPr/>
        </p:nvSpPr>
        <p:spPr>
          <a:xfrm>
            <a:off x="16200882" y="6035040"/>
            <a:ext cx="44096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72" name="Text 60"/>
          <p:cNvSpPr/>
          <p:nvPr/>
        </p:nvSpPr>
        <p:spPr>
          <a:xfrm>
            <a:off x="16200882" y="6355080"/>
            <a:ext cx="4409694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Clinically relevant feature selection; median imputation</a:t>
            </a:r>
            <a:endParaRPr lang="en-US" sz="100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classes (ANC) · 3 classes (NutriCheck); StandardScaler</a:t>
            </a:r>
            <a:endParaRPr lang="en-US" sz="100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stratified train/test split</a:t>
            </a:r>
            <a:endParaRPr lang="en-US" sz="100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Forest: 150 trees, Gini impurity, max depth 10–12</a:t>
            </a:r>
            <a:endParaRPr lang="en-US" sz="1000" dirty="0"/>
          </a:p>
        </p:txBody>
      </p:sp>
      <p:sp>
        <p:nvSpPr>
          <p:cNvPr id="73" name="Shape 61"/>
          <p:cNvSpPr/>
          <p:nvPr/>
        </p:nvSpPr>
        <p:spPr>
          <a:xfrm>
            <a:off x="16200882" y="7772400"/>
            <a:ext cx="4409694" cy="2971800"/>
          </a:xfrm>
          <a:prstGeom prst="roundRect">
            <a:avLst>
              <a:gd name="adj" fmla="val 1846"/>
            </a:avLst>
          </a:prstGeom>
          <a:solidFill>
            <a:srgbClr val="FBE7E9"/>
          </a:solidFill>
          <a:ln/>
        </p:spPr>
      </p:sp>
      <p:pic>
        <p:nvPicPr>
          <p:cNvPr id="7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338042" y="7882128"/>
            <a:ext cx="274320" cy="274320"/>
          </a:xfrm>
          <a:prstGeom prst="rect">
            <a:avLst/>
          </a:prstGeom>
        </p:spPr>
      </p:pic>
      <p:sp>
        <p:nvSpPr>
          <p:cNvPr id="75" name="Text 62"/>
          <p:cNvSpPr/>
          <p:nvPr/>
        </p:nvSpPr>
        <p:spPr>
          <a:xfrm>
            <a:off x="16685514" y="7863840"/>
            <a:ext cx="39524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E1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SAFETY NET (rule override)</a:t>
            </a:r>
            <a:endParaRPr lang="en-US" sz="1050" dirty="0"/>
          </a:p>
        </p:txBody>
      </p:sp>
      <p:sp>
        <p:nvSpPr>
          <p:cNvPr id="76" name="Text 63"/>
          <p:cNvSpPr/>
          <p:nvPr/>
        </p:nvSpPr>
        <p:spPr>
          <a:xfrm>
            <a:off x="16338042" y="8229600"/>
            <a:ext cx="4181094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 ≥ 160/110 → Emergency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Convulsions → Emergency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Headache + blurred vision → High risk</a:t>
            </a:r>
            <a:endParaRPr lang="en-US" sz="96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Vaginal bleeding → High risk</a:t>
            </a:r>
            <a:endParaRPr lang="en-US" sz="960" dirty="0"/>
          </a:p>
        </p:txBody>
      </p:sp>
      <p:sp>
        <p:nvSpPr>
          <p:cNvPr id="77" name="Shape 64"/>
          <p:cNvSpPr/>
          <p:nvPr/>
        </p:nvSpPr>
        <p:spPr>
          <a:xfrm>
            <a:off x="548640" y="11155680"/>
            <a:ext cx="10008108" cy="566928"/>
          </a:xfrm>
          <a:prstGeom prst="roundRect">
            <a:avLst>
              <a:gd name="adj" fmla="val 9677"/>
            </a:avLst>
          </a:prstGeom>
          <a:solidFill>
            <a:srgbClr val="CE1126"/>
          </a:solidFill>
          <a:ln/>
        </p:spPr>
      </p:sp>
      <p:sp>
        <p:nvSpPr>
          <p:cNvPr id="78" name="Text 65"/>
          <p:cNvSpPr/>
          <p:nvPr/>
        </p:nvSpPr>
        <p:spPr>
          <a:xfrm>
            <a:off x="685800" y="11155680"/>
            <a:ext cx="97337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 — ANC</a:t>
            </a:r>
            <a:endParaRPr lang="en-US" sz="1500" dirty="0"/>
          </a:p>
        </p:txBody>
      </p:sp>
      <p:sp>
        <p:nvSpPr>
          <p:cNvPr id="79" name="Shape 66"/>
          <p:cNvSpPr/>
          <p:nvPr/>
        </p:nvSpPr>
        <p:spPr>
          <a:xfrm>
            <a:off x="548640" y="11841480"/>
            <a:ext cx="10008108" cy="6537960"/>
          </a:xfrm>
          <a:prstGeom prst="roundRect">
            <a:avLst>
              <a:gd name="adj" fmla="val 11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4000"/>
              </a:srgbClr>
            </a:outerShdw>
          </a:effectLst>
        </p:spPr>
      </p:sp>
      <p:sp>
        <p:nvSpPr>
          <p:cNvPr id="80" name="Shape 67"/>
          <p:cNvSpPr/>
          <p:nvPr/>
        </p:nvSpPr>
        <p:spPr>
          <a:xfrm>
            <a:off x="822960" y="12051792"/>
            <a:ext cx="3043428" cy="1051560"/>
          </a:xfrm>
          <a:prstGeom prst="roundRect">
            <a:avLst>
              <a:gd name="adj" fmla="val 5217"/>
            </a:avLst>
          </a:prstGeom>
          <a:solidFill>
            <a:srgbClr val="E6F2EC"/>
          </a:solidFill>
          <a:ln/>
        </p:spPr>
      </p:sp>
      <p:sp>
        <p:nvSpPr>
          <p:cNvPr id="81" name="Text 68"/>
          <p:cNvSpPr/>
          <p:nvPr/>
        </p:nvSpPr>
        <p:spPr>
          <a:xfrm>
            <a:off x="822960" y="12124944"/>
            <a:ext cx="30434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51.5%</a:t>
            </a:r>
            <a:endParaRPr lang="en-US" sz="2000" dirty="0"/>
          </a:p>
        </p:txBody>
      </p:sp>
      <p:sp>
        <p:nvSpPr>
          <p:cNvPr id="82" name="Text 69"/>
          <p:cNvSpPr/>
          <p:nvPr/>
        </p:nvSpPr>
        <p:spPr>
          <a:xfrm>
            <a:off x="896112" y="12582144"/>
            <a:ext cx="28971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5B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860" dirty="0"/>
          </a:p>
        </p:txBody>
      </p:sp>
      <p:sp>
        <p:nvSpPr>
          <p:cNvPr id="83" name="Shape 70"/>
          <p:cNvSpPr/>
          <p:nvPr/>
        </p:nvSpPr>
        <p:spPr>
          <a:xfrm>
            <a:off x="4030980" y="12051792"/>
            <a:ext cx="3043428" cy="1051560"/>
          </a:xfrm>
          <a:prstGeom prst="roundRect">
            <a:avLst>
              <a:gd name="adj" fmla="val 5217"/>
            </a:avLst>
          </a:prstGeom>
          <a:solidFill>
            <a:srgbClr val="E6F2EC"/>
          </a:solidFill>
          <a:ln/>
        </p:spPr>
      </p:sp>
      <p:sp>
        <p:nvSpPr>
          <p:cNvPr id="84" name="Text 71"/>
          <p:cNvSpPr/>
          <p:nvPr/>
        </p:nvSpPr>
        <p:spPr>
          <a:xfrm>
            <a:off x="4030980" y="12124944"/>
            <a:ext cx="30434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52.4%</a:t>
            </a:r>
            <a:endParaRPr lang="en-US" sz="2000" dirty="0"/>
          </a:p>
        </p:txBody>
      </p:sp>
      <p:sp>
        <p:nvSpPr>
          <p:cNvPr id="85" name="Text 72"/>
          <p:cNvSpPr/>
          <p:nvPr/>
        </p:nvSpPr>
        <p:spPr>
          <a:xfrm>
            <a:off x="4104132" y="12582144"/>
            <a:ext cx="28971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5B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860" dirty="0"/>
          </a:p>
        </p:txBody>
      </p:sp>
      <p:sp>
        <p:nvSpPr>
          <p:cNvPr id="86" name="Shape 73"/>
          <p:cNvSpPr/>
          <p:nvPr/>
        </p:nvSpPr>
        <p:spPr>
          <a:xfrm>
            <a:off x="7239000" y="12051792"/>
            <a:ext cx="3043428" cy="1051560"/>
          </a:xfrm>
          <a:prstGeom prst="roundRect">
            <a:avLst>
              <a:gd name="adj" fmla="val 5217"/>
            </a:avLst>
          </a:prstGeom>
          <a:solidFill>
            <a:srgbClr val="E6F2EC"/>
          </a:solidFill>
          <a:ln/>
        </p:spPr>
      </p:sp>
      <p:sp>
        <p:nvSpPr>
          <p:cNvPr id="87" name="Text 74"/>
          <p:cNvSpPr/>
          <p:nvPr/>
        </p:nvSpPr>
        <p:spPr>
          <a:xfrm>
            <a:off x="7239000" y="12124944"/>
            <a:ext cx="30434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51.5%</a:t>
            </a:r>
            <a:endParaRPr lang="en-US" sz="2000" dirty="0"/>
          </a:p>
        </p:txBody>
      </p:sp>
      <p:sp>
        <p:nvSpPr>
          <p:cNvPr id="88" name="Text 75"/>
          <p:cNvSpPr/>
          <p:nvPr/>
        </p:nvSpPr>
        <p:spPr>
          <a:xfrm>
            <a:off x="7312152" y="12582144"/>
            <a:ext cx="28971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5B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860" dirty="0"/>
          </a:p>
        </p:txBody>
      </p:sp>
      <p:sp>
        <p:nvSpPr>
          <p:cNvPr id="89" name="Shape 76"/>
          <p:cNvSpPr/>
          <p:nvPr/>
        </p:nvSpPr>
        <p:spPr>
          <a:xfrm>
            <a:off x="822960" y="13240512"/>
            <a:ext cx="3043428" cy="1051560"/>
          </a:xfrm>
          <a:prstGeom prst="roundRect">
            <a:avLst>
              <a:gd name="adj" fmla="val 5217"/>
            </a:avLst>
          </a:prstGeom>
          <a:solidFill>
            <a:srgbClr val="E6F2EC"/>
          </a:solidFill>
          <a:ln/>
        </p:spPr>
      </p:sp>
      <p:sp>
        <p:nvSpPr>
          <p:cNvPr id="90" name="Text 77"/>
          <p:cNvSpPr/>
          <p:nvPr/>
        </p:nvSpPr>
        <p:spPr>
          <a:xfrm>
            <a:off x="822960" y="13313664"/>
            <a:ext cx="30434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51.8%</a:t>
            </a:r>
            <a:endParaRPr lang="en-US" sz="2000" dirty="0"/>
          </a:p>
        </p:txBody>
      </p:sp>
      <p:sp>
        <p:nvSpPr>
          <p:cNvPr id="91" name="Text 78"/>
          <p:cNvSpPr/>
          <p:nvPr/>
        </p:nvSpPr>
        <p:spPr>
          <a:xfrm>
            <a:off x="896112" y="13770864"/>
            <a:ext cx="28971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5B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860" dirty="0"/>
          </a:p>
        </p:txBody>
      </p:sp>
      <p:sp>
        <p:nvSpPr>
          <p:cNvPr id="92" name="Shape 79"/>
          <p:cNvSpPr/>
          <p:nvPr/>
        </p:nvSpPr>
        <p:spPr>
          <a:xfrm>
            <a:off x="4030980" y="13240512"/>
            <a:ext cx="3043428" cy="1051560"/>
          </a:xfrm>
          <a:prstGeom prst="roundRect">
            <a:avLst>
              <a:gd name="adj" fmla="val 5217"/>
            </a:avLst>
          </a:prstGeom>
          <a:solidFill>
            <a:srgbClr val="E6F2EC"/>
          </a:solidFill>
          <a:ln/>
        </p:spPr>
      </p:sp>
      <p:sp>
        <p:nvSpPr>
          <p:cNvPr id="93" name="Text 80"/>
          <p:cNvSpPr/>
          <p:nvPr/>
        </p:nvSpPr>
        <p:spPr>
          <a:xfrm>
            <a:off x="4030980" y="13313664"/>
            <a:ext cx="30434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78.2%</a:t>
            </a:r>
            <a:endParaRPr lang="en-US" sz="2000" dirty="0"/>
          </a:p>
        </p:txBody>
      </p:sp>
      <p:sp>
        <p:nvSpPr>
          <p:cNvPr id="94" name="Text 81"/>
          <p:cNvSpPr/>
          <p:nvPr/>
        </p:nvSpPr>
        <p:spPr>
          <a:xfrm>
            <a:off x="4104132" y="13770864"/>
            <a:ext cx="28971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5B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860" dirty="0"/>
          </a:p>
        </p:txBody>
      </p:sp>
      <p:sp>
        <p:nvSpPr>
          <p:cNvPr id="95" name="Shape 82"/>
          <p:cNvSpPr/>
          <p:nvPr/>
        </p:nvSpPr>
        <p:spPr>
          <a:xfrm>
            <a:off x="7239000" y="13240512"/>
            <a:ext cx="3043428" cy="1051560"/>
          </a:xfrm>
          <a:prstGeom prst="roundRect">
            <a:avLst>
              <a:gd name="adj" fmla="val 5217"/>
            </a:avLst>
          </a:prstGeom>
          <a:solidFill>
            <a:srgbClr val="E6F2EC"/>
          </a:solidFill>
          <a:ln/>
        </p:spPr>
      </p:sp>
      <p:sp>
        <p:nvSpPr>
          <p:cNvPr id="96" name="Text 83"/>
          <p:cNvSpPr/>
          <p:nvPr/>
        </p:nvSpPr>
        <p:spPr>
          <a:xfrm>
            <a:off x="7239000" y="13313664"/>
            <a:ext cx="30434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46.9%</a:t>
            </a:r>
            <a:endParaRPr lang="en-US" sz="2000" dirty="0"/>
          </a:p>
        </p:txBody>
      </p:sp>
      <p:sp>
        <p:nvSpPr>
          <p:cNvPr id="97" name="Text 84"/>
          <p:cNvSpPr/>
          <p:nvPr/>
        </p:nvSpPr>
        <p:spPr>
          <a:xfrm>
            <a:off x="7312152" y="13770864"/>
            <a:ext cx="28971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5B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18.6 pts</a:t>
            </a:r>
            <a:endParaRPr lang="en-US" sz="860" dirty="0"/>
          </a:p>
        </p:txBody>
      </p:sp>
      <p:sp>
        <p:nvSpPr>
          <p:cNvPr id="98" name="Text 85"/>
          <p:cNvSpPr/>
          <p:nvPr/>
        </p:nvSpPr>
        <p:spPr>
          <a:xfrm>
            <a:off x="822960" y="14520672"/>
            <a:ext cx="9459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E1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</a:t>
            </a:r>
            <a:endParaRPr lang="en-US" sz="10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4813280"/>
          <a:ext cx="5864870" cy="914400"/>
        </p:xfrm>
        <a:graphic>
          <a:graphicData uri="http://schemas.openxmlformats.org/drawingml/2006/table">
            <a:tbl>
              <a:tblPr/>
              <a:tblGrid>
                <a:gridCol w="1172974"/>
                <a:gridCol w="1172974"/>
                <a:gridCol w="1172974"/>
                <a:gridCol w="1172974"/>
                <a:gridCol w="1172974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\ Pred.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11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11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11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112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0" name="Text 86"/>
          <p:cNvSpPr/>
          <p:nvPr/>
        </p:nvSpPr>
        <p:spPr>
          <a:xfrm>
            <a:off x="6971614" y="14794992"/>
            <a:ext cx="33108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E1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PREDICTORS</a:t>
            </a:r>
            <a:endParaRPr lang="en-US" sz="900" dirty="0"/>
          </a:p>
        </p:txBody>
      </p:sp>
      <p:sp>
        <p:nvSpPr>
          <p:cNvPr id="101" name="Text 87"/>
          <p:cNvSpPr/>
          <p:nvPr/>
        </p:nvSpPr>
        <p:spPr>
          <a:xfrm>
            <a:off x="6971614" y="15069312"/>
            <a:ext cx="33108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of delivery</a:t>
            </a:r>
            <a:endParaRPr lang="en-US" sz="830" dirty="0"/>
          </a:p>
        </p:txBody>
      </p:sp>
      <p:sp>
        <p:nvSpPr>
          <p:cNvPr id="102" name="Shape 88"/>
          <p:cNvSpPr/>
          <p:nvPr/>
        </p:nvSpPr>
        <p:spPr>
          <a:xfrm>
            <a:off x="6971614" y="15270480"/>
            <a:ext cx="2317570" cy="91440"/>
          </a:xfrm>
          <a:prstGeom prst="rect">
            <a:avLst/>
          </a:prstGeom>
          <a:solidFill>
            <a:srgbClr val="EDEDE6"/>
          </a:solidFill>
          <a:ln/>
        </p:spPr>
      </p:sp>
      <p:sp>
        <p:nvSpPr>
          <p:cNvPr id="103" name="Shape 89"/>
          <p:cNvSpPr/>
          <p:nvPr/>
        </p:nvSpPr>
        <p:spPr>
          <a:xfrm>
            <a:off x="6971614" y="15270480"/>
            <a:ext cx="1066082" cy="91440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104" name="Text 90"/>
          <p:cNvSpPr/>
          <p:nvPr/>
        </p:nvSpPr>
        <p:spPr>
          <a:xfrm>
            <a:off x="9355400" y="15215616"/>
            <a:ext cx="9270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</a:t>
            </a:r>
            <a:endParaRPr lang="en-US" sz="800" dirty="0"/>
          </a:p>
        </p:txBody>
      </p:sp>
      <p:sp>
        <p:nvSpPr>
          <p:cNvPr id="105" name="Text 91"/>
          <p:cNvSpPr/>
          <p:nvPr/>
        </p:nvSpPr>
        <p:spPr>
          <a:xfrm>
            <a:off x="6971614" y="15508224"/>
            <a:ext cx="33108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 visits</a:t>
            </a:r>
            <a:endParaRPr lang="en-US" sz="830" dirty="0"/>
          </a:p>
        </p:txBody>
      </p:sp>
      <p:sp>
        <p:nvSpPr>
          <p:cNvPr id="106" name="Shape 92"/>
          <p:cNvSpPr/>
          <p:nvPr/>
        </p:nvSpPr>
        <p:spPr>
          <a:xfrm>
            <a:off x="6971614" y="15709392"/>
            <a:ext cx="2317570" cy="91440"/>
          </a:xfrm>
          <a:prstGeom prst="rect">
            <a:avLst/>
          </a:prstGeom>
          <a:solidFill>
            <a:srgbClr val="EDEDE6"/>
          </a:solidFill>
          <a:ln/>
        </p:spPr>
      </p:sp>
      <p:sp>
        <p:nvSpPr>
          <p:cNvPr id="107" name="Shape 93"/>
          <p:cNvSpPr/>
          <p:nvPr/>
        </p:nvSpPr>
        <p:spPr>
          <a:xfrm>
            <a:off x="6971614" y="15709392"/>
            <a:ext cx="811149" cy="91440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108" name="Text 94"/>
          <p:cNvSpPr/>
          <p:nvPr/>
        </p:nvSpPr>
        <p:spPr>
          <a:xfrm>
            <a:off x="9355400" y="15654528"/>
            <a:ext cx="9270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800" dirty="0"/>
          </a:p>
        </p:txBody>
      </p:sp>
      <p:sp>
        <p:nvSpPr>
          <p:cNvPr id="109" name="Text 95"/>
          <p:cNvSpPr/>
          <p:nvPr/>
        </p:nvSpPr>
        <p:spPr>
          <a:xfrm>
            <a:off x="6971614" y="15947136"/>
            <a:ext cx="33108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ever born</a:t>
            </a:r>
            <a:endParaRPr lang="en-US" sz="830" dirty="0"/>
          </a:p>
        </p:txBody>
      </p:sp>
      <p:sp>
        <p:nvSpPr>
          <p:cNvPr id="110" name="Shape 96"/>
          <p:cNvSpPr/>
          <p:nvPr/>
        </p:nvSpPr>
        <p:spPr>
          <a:xfrm>
            <a:off x="6971614" y="16148304"/>
            <a:ext cx="2317570" cy="91440"/>
          </a:xfrm>
          <a:prstGeom prst="rect">
            <a:avLst/>
          </a:prstGeom>
          <a:solidFill>
            <a:srgbClr val="EDEDE6"/>
          </a:solidFill>
          <a:ln/>
        </p:spPr>
      </p:sp>
      <p:sp>
        <p:nvSpPr>
          <p:cNvPr id="111" name="Shape 97"/>
          <p:cNvSpPr/>
          <p:nvPr/>
        </p:nvSpPr>
        <p:spPr>
          <a:xfrm>
            <a:off x="6971614" y="16148304"/>
            <a:ext cx="440338" cy="91440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112" name="Text 98"/>
          <p:cNvSpPr/>
          <p:nvPr/>
        </p:nvSpPr>
        <p:spPr>
          <a:xfrm>
            <a:off x="9355400" y="16093440"/>
            <a:ext cx="9270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800" dirty="0"/>
          </a:p>
        </p:txBody>
      </p:sp>
      <p:sp>
        <p:nvSpPr>
          <p:cNvPr id="113" name="Shape 99"/>
          <p:cNvSpPr/>
          <p:nvPr/>
        </p:nvSpPr>
        <p:spPr>
          <a:xfrm>
            <a:off x="822960" y="16367760"/>
            <a:ext cx="9459468" cy="1874520"/>
          </a:xfrm>
          <a:prstGeom prst="roundRect">
            <a:avLst>
              <a:gd name="adj" fmla="val 2927"/>
            </a:avLst>
          </a:prstGeom>
          <a:solidFill>
            <a:srgbClr val="FFF6D6"/>
          </a:solidFill>
          <a:ln/>
        </p:spPr>
      </p:sp>
      <p:sp>
        <p:nvSpPr>
          <p:cNvPr id="114" name="Text 100"/>
          <p:cNvSpPr/>
          <p:nvPr/>
        </p:nvSpPr>
        <p:spPr>
          <a:xfrm>
            <a:off x="960120" y="16440912"/>
            <a:ext cx="91851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 modest (51.5%) but well above the 25% random-chance baseline for 4 classes, and ROC-AUC of 78.2% shows strong separation between risk levels. Place of delivery and ANC visit count are by far the strongest predictors of maternal risk.</a:t>
            </a:r>
            <a:endParaRPr lang="en-US" sz="960" dirty="0"/>
          </a:p>
        </p:txBody>
      </p:sp>
      <p:sp>
        <p:nvSpPr>
          <p:cNvPr id="115" name="Shape 101"/>
          <p:cNvSpPr/>
          <p:nvPr/>
        </p:nvSpPr>
        <p:spPr>
          <a:xfrm>
            <a:off x="10831068" y="11155680"/>
            <a:ext cx="10008108" cy="566928"/>
          </a:xfrm>
          <a:prstGeom prst="roundRect">
            <a:avLst>
              <a:gd name="adj" fmla="val 9677"/>
            </a:avLst>
          </a:prstGeom>
          <a:solidFill>
            <a:srgbClr val="006B3F"/>
          </a:solidFill>
          <a:ln/>
        </p:spPr>
      </p:sp>
      <p:sp>
        <p:nvSpPr>
          <p:cNvPr id="116" name="Text 102"/>
          <p:cNvSpPr/>
          <p:nvPr/>
        </p:nvSpPr>
        <p:spPr>
          <a:xfrm>
            <a:off x="10968228" y="11155680"/>
            <a:ext cx="97337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 — NUTRICHECK</a:t>
            </a:r>
            <a:endParaRPr lang="en-US" sz="1500" dirty="0"/>
          </a:p>
        </p:txBody>
      </p:sp>
      <p:sp>
        <p:nvSpPr>
          <p:cNvPr id="117" name="Shape 103"/>
          <p:cNvSpPr/>
          <p:nvPr/>
        </p:nvSpPr>
        <p:spPr>
          <a:xfrm>
            <a:off x="10831068" y="11841480"/>
            <a:ext cx="10008108" cy="6537960"/>
          </a:xfrm>
          <a:prstGeom prst="roundRect">
            <a:avLst>
              <a:gd name="adj" fmla="val 11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4000"/>
              </a:srgbClr>
            </a:outerShdw>
          </a:effectLst>
        </p:spPr>
      </p:sp>
      <p:sp>
        <p:nvSpPr>
          <p:cNvPr id="118" name="Shape 104"/>
          <p:cNvSpPr/>
          <p:nvPr/>
        </p:nvSpPr>
        <p:spPr>
          <a:xfrm>
            <a:off x="11105388" y="12051792"/>
            <a:ext cx="3043428" cy="1051560"/>
          </a:xfrm>
          <a:prstGeom prst="roundRect">
            <a:avLst>
              <a:gd name="adj" fmla="val 5217"/>
            </a:avLst>
          </a:prstGeom>
          <a:solidFill>
            <a:srgbClr val="E6F2EC"/>
          </a:solidFill>
          <a:ln/>
        </p:spPr>
      </p:sp>
      <p:sp>
        <p:nvSpPr>
          <p:cNvPr id="119" name="Text 105"/>
          <p:cNvSpPr/>
          <p:nvPr/>
        </p:nvSpPr>
        <p:spPr>
          <a:xfrm>
            <a:off x="11105388" y="12124944"/>
            <a:ext cx="30434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87.3%</a:t>
            </a:r>
            <a:endParaRPr lang="en-US" sz="2000" dirty="0"/>
          </a:p>
        </p:txBody>
      </p:sp>
      <p:sp>
        <p:nvSpPr>
          <p:cNvPr id="120" name="Text 106"/>
          <p:cNvSpPr/>
          <p:nvPr/>
        </p:nvSpPr>
        <p:spPr>
          <a:xfrm>
            <a:off x="11178540" y="12582144"/>
            <a:ext cx="28971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5B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860" dirty="0"/>
          </a:p>
        </p:txBody>
      </p:sp>
      <p:sp>
        <p:nvSpPr>
          <p:cNvPr id="121" name="Shape 107"/>
          <p:cNvSpPr/>
          <p:nvPr/>
        </p:nvSpPr>
        <p:spPr>
          <a:xfrm>
            <a:off x="14313408" y="12051792"/>
            <a:ext cx="3043428" cy="1051560"/>
          </a:xfrm>
          <a:prstGeom prst="roundRect">
            <a:avLst>
              <a:gd name="adj" fmla="val 5217"/>
            </a:avLst>
          </a:prstGeom>
          <a:solidFill>
            <a:srgbClr val="E6F2EC"/>
          </a:solidFill>
          <a:ln/>
        </p:spPr>
      </p:sp>
      <p:sp>
        <p:nvSpPr>
          <p:cNvPr id="122" name="Text 108"/>
          <p:cNvSpPr/>
          <p:nvPr/>
        </p:nvSpPr>
        <p:spPr>
          <a:xfrm>
            <a:off x="14313408" y="12124944"/>
            <a:ext cx="30434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77.9%</a:t>
            </a:r>
            <a:endParaRPr lang="en-US" sz="2000" dirty="0"/>
          </a:p>
        </p:txBody>
      </p:sp>
      <p:sp>
        <p:nvSpPr>
          <p:cNvPr id="123" name="Text 109"/>
          <p:cNvSpPr/>
          <p:nvPr/>
        </p:nvSpPr>
        <p:spPr>
          <a:xfrm>
            <a:off x="14386560" y="12582144"/>
            <a:ext cx="28971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5B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860" dirty="0"/>
          </a:p>
        </p:txBody>
      </p:sp>
      <p:sp>
        <p:nvSpPr>
          <p:cNvPr id="124" name="Shape 110"/>
          <p:cNvSpPr/>
          <p:nvPr/>
        </p:nvSpPr>
        <p:spPr>
          <a:xfrm>
            <a:off x="17521428" y="12051792"/>
            <a:ext cx="3043428" cy="1051560"/>
          </a:xfrm>
          <a:prstGeom prst="roundRect">
            <a:avLst>
              <a:gd name="adj" fmla="val 5217"/>
            </a:avLst>
          </a:prstGeom>
          <a:solidFill>
            <a:srgbClr val="E6F2EC"/>
          </a:solidFill>
          <a:ln/>
        </p:spPr>
      </p:sp>
      <p:sp>
        <p:nvSpPr>
          <p:cNvPr id="125" name="Text 111"/>
          <p:cNvSpPr/>
          <p:nvPr/>
        </p:nvSpPr>
        <p:spPr>
          <a:xfrm>
            <a:off x="17521428" y="12124944"/>
            <a:ext cx="30434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87.3%</a:t>
            </a:r>
            <a:endParaRPr lang="en-US" sz="2000" dirty="0"/>
          </a:p>
        </p:txBody>
      </p:sp>
      <p:sp>
        <p:nvSpPr>
          <p:cNvPr id="126" name="Text 112"/>
          <p:cNvSpPr/>
          <p:nvPr/>
        </p:nvSpPr>
        <p:spPr>
          <a:xfrm>
            <a:off x="17594580" y="12582144"/>
            <a:ext cx="28971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5B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860" dirty="0"/>
          </a:p>
        </p:txBody>
      </p:sp>
      <p:sp>
        <p:nvSpPr>
          <p:cNvPr id="127" name="Shape 113"/>
          <p:cNvSpPr/>
          <p:nvPr/>
        </p:nvSpPr>
        <p:spPr>
          <a:xfrm>
            <a:off x="11105388" y="13240512"/>
            <a:ext cx="3043428" cy="1051560"/>
          </a:xfrm>
          <a:prstGeom prst="roundRect">
            <a:avLst>
              <a:gd name="adj" fmla="val 5217"/>
            </a:avLst>
          </a:prstGeom>
          <a:solidFill>
            <a:srgbClr val="E6F2EC"/>
          </a:solidFill>
          <a:ln/>
        </p:spPr>
      </p:sp>
      <p:sp>
        <p:nvSpPr>
          <p:cNvPr id="128" name="Text 114"/>
          <p:cNvSpPr/>
          <p:nvPr/>
        </p:nvSpPr>
        <p:spPr>
          <a:xfrm>
            <a:off x="11105388" y="13313664"/>
            <a:ext cx="30434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81.8%</a:t>
            </a:r>
            <a:endParaRPr lang="en-US" sz="2000" dirty="0"/>
          </a:p>
        </p:txBody>
      </p:sp>
      <p:sp>
        <p:nvSpPr>
          <p:cNvPr id="129" name="Text 115"/>
          <p:cNvSpPr/>
          <p:nvPr/>
        </p:nvSpPr>
        <p:spPr>
          <a:xfrm>
            <a:off x="11178540" y="13770864"/>
            <a:ext cx="28971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5B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860" dirty="0"/>
          </a:p>
        </p:txBody>
      </p:sp>
      <p:sp>
        <p:nvSpPr>
          <p:cNvPr id="130" name="Shape 116"/>
          <p:cNvSpPr/>
          <p:nvPr/>
        </p:nvSpPr>
        <p:spPr>
          <a:xfrm>
            <a:off x="14313408" y="13240512"/>
            <a:ext cx="3043428" cy="1051560"/>
          </a:xfrm>
          <a:prstGeom prst="roundRect">
            <a:avLst>
              <a:gd name="adj" fmla="val 5217"/>
            </a:avLst>
          </a:prstGeom>
          <a:solidFill>
            <a:srgbClr val="E6F2EC"/>
          </a:solidFill>
          <a:ln/>
        </p:spPr>
      </p:sp>
      <p:sp>
        <p:nvSpPr>
          <p:cNvPr id="131" name="Text 117"/>
          <p:cNvSpPr/>
          <p:nvPr/>
        </p:nvSpPr>
        <p:spPr>
          <a:xfrm>
            <a:off x="14313408" y="13313664"/>
            <a:ext cx="30434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55.4%</a:t>
            </a:r>
            <a:endParaRPr lang="en-US" sz="2000" dirty="0"/>
          </a:p>
        </p:txBody>
      </p:sp>
      <p:sp>
        <p:nvSpPr>
          <p:cNvPr id="132" name="Text 118"/>
          <p:cNvSpPr/>
          <p:nvPr/>
        </p:nvSpPr>
        <p:spPr>
          <a:xfrm>
            <a:off x="14386560" y="13770864"/>
            <a:ext cx="28971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5B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860" dirty="0"/>
          </a:p>
        </p:txBody>
      </p:sp>
      <p:sp>
        <p:nvSpPr>
          <p:cNvPr id="133" name="Shape 119"/>
          <p:cNvSpPr/>
          <p:nvPr/>
        </p:nvSpPr>
        <p:spPr>
          <a:xfrm>
            <a:off x="17521428" y="13240512"/>
            <a:ext cx="3043428" cy="1051560"/>
          </a:xfrm>
          <a:prstGeom prst="roundRect">
            <a:avLst>
              <a:gd name="adj" fmla="val 5217"/>
            </a:avLst>
          </a:prstGeom>
          <a:solidFill>
            <a:srgbClr val="E6F2EC"/>
          </a:solidFill>
          <a:ln/>
        </p:spPr>
      </p:sp>
      <p:sp>
        <p:nvSpPr>
          <p:cNvPr id="134" name="Text 120"/>
          <p:cNvSpPr/>
          <p:nvPr/>
        </p:nvSpPr>
        <p:spPr>
          <a:xfrm>
            <a:off x="17521428" y="13313664"/>
            <a:ext cx="30434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 12.9</a:t>
            </a:r>
            <a:endParaRPr lang="en-US" sz="2000" dirty="0"/>
          </a:p>
        </p:txBody>
      </p:sp>
      <p:sp>
        <p:nvSpPr>
          <p:cNvPr id="135" name="Text 121"/>
          <p:cNvSpPr/>
          <p:nvPr/>
        </p:nvSpPr>
        <p:spPr>
          <a:xfrm>
            <a:off x="17594580" y="13770864"/>
            <a:ext cx="28971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5B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 (R² -4.3%)</a:t>
            </a:r>
            <a:endParaRPr lang="en-US" sz="860" dirty="0"/>
          </a:p>
        </p:txBody>
      </p:sp>
      <p:sp>
        <p:nvSpPr>
          <p:cNvPr id="136" name="Text 122"/>
          <p:cNvSpPr/>
          <p:nvPr/>
        </p:nvSpPr>
        <p:spPr>
          <a:xfrm>
            <a:off x="11105388" y="14520672"/>
            <a:ext cx="9459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</a:t>
            </a:r>
            <a:endParaRPr lang="en-US" sz="1050" dirty="0"/>
          </a:p>
        </p:txBody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105388" y="14813280"/>
          <a:ext cx="5864870" cy="914400"/>
        </p:xfrm>
        <a:graphic>
          <a:graphicData uri="http://schemas.openxmlformats.org/drawingml/2006/table">
            <a:tbl>
              <a:tblPr/>
              <a:tblGrid>
                <a:gridCol w="1466218"/>
                <a:gridCol w="1466218"/>
                <a:gridCol w="1466218"/>
                <a:gridCol w="1466218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\ Pred.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3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1544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8" name="Text 123"/>
          <p:cNvSpPr/>
          <p:nvPr/>
        </p:nvSpPr>
        <p:spPr>
          <a:xfrm>
            <a:off x="17254042" y="14794992"/>
            <a:ext cx="33108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PREDICTORS</a:t>
            </a:r>
            <a:endParaRPr lang="en-US" sz="900" dirty="0"/>
          </a:p>
        </p:txBody>
      </p:sp>
      <p:sp>
        <p:nvSpPr>
          <p:cNvPr id="139" name="Text 124"/>
          <p:cNvSpPr/>
          <p:nvPr/>
        </p:nvSpPr>
        <p:spPr>
          <a:xfrm>
            <a:off x="17254042" y="15069312"/>
            <a:ext cx="33108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 visits</a:t>
            </a:r>
            <a:endParaRPr lang="en-US" sz="830" dirty="0"/>
          </a:p>
        </p:txBody>
      </p:sp>
      <p:sp>
        <p:nvSpPr>
          <p:cNvPr id="140" name="Shape 125"/>
          <p:cNvSpPr/>
          <p:nvPr/>
        </p:nvSpPr>
        <p:spPr>
          <a:xfrm>
            <a:off x="17254042" y="15270480"/>
            <a:ext cx="2317570" cy="91440"/>
          </a:xfrm>
          <a:prstGeom prst="rect">
            <a:avLst/>
          </a:prstGeom>
          <a:solidFill>
            <a:srgbClr val="EDEDE6"/>
          </a:solidFill>
          <a:ln/>
        </p:spPr>
      </p:sp>
      <p:sp>
        <p:nvSpPr>
          <p:cNvPr id="141" name="Shape 126"/>
          <p:cNvSpPr/>
          <p:nvPr/>
        </p:nvSpPr>
        <p:spPr>
          <a:xfrm>
            <a:off x="17254042" y="15270480"/>
            <a:ext cx="880676" cy="91440"/>
          </a:xfrm>
          <a:prstGeom prst="rect">
            <a:avLst/>
          </a:prstGeom>
          <a:solidFill>
            <a:srgbClr val="006B3F"/>
          </a:solidFill>
          <a:ln/>
        </p:spPr>
      </p:sp>
      <p:sp>
        <p:nvSpPr>
          <p:cNvPr id="142" name="Text 127"/>
          <p:cNvSpPr/>
          <p:nvPr/>
        </p:nvSpPr>
        <p:spPr>
          <a:xfrm>
            <a:off x="19637828" y="15215616"/>
            <a:ext cx="9270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800" dirty="0"/>
          </a:p>
        </p:txBody>
      </p:sp>
      <p:sp>
        <p:nvSpPr>
          <p:cNvPr id="143" name="Text 128"/>
          <p:cNvSpPr/>
          <p:nvPr/>
        </p:nvSpPr>
        <p:spPr>
          <a:xfrm>
            <a:off x="17254042" y="15508224"/>
            <a:ext cx="33108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age</a:t>
            </a:r>
            <a:endParaRPr lang="en-US" sz="830" dirty="0"/>
          </a:p>
        </p:txBody>
      </p:sp>
      <p:sp>
        <p:nvSpPr>
          <p:cNvPr id="144" name="Shape 129"/>
          <p:cNvSpPr/>
          <p:nvPr/>
        </p:nvSpPr>
        <p:spPr>
          <a:xfrm>
            <a:off x="17254042" y="15709392"/>
            <a:ext cx="2317570" cy="91440"/>
          </a:xfrm>
          <a:prstGeom prst="rect">
            <a:avLst/>
          </a:prstGeom>
          <a:solidFill>
            <a:srgbClr val="EDEDE6"/>
          </a:solidFill>
          <a:ln/>
        </p:spPr>
      </p:sp>
      <p:sp>
        <p:nvSpPr>
          <p:cNvPr id="145" name="Shape 130"/>
          <p:cNvSpPr/>
          <p:nvPr/>
        </p:nvSpPr>
        <p:spPr>
          <a:xfrm>
            <a:off x="17254042" y="15709392"/>
            <a:ext cx="741622" cy="91440"/>
          </a:xfrm>
          <a:prstGeom prst="rect">
            <a:avLst/>
          </a:prstGeom>
          <a:solidFill>
            <a:srgbClr val="006B3F"/>
          </a:solidFill>
          <a:ln/>
        </p:spPr>
      </p:sp>
      <p:sp>
        <p:nvSpPr>
          <p:cNvPr id="146" name="Text 131"/>
          <p:cNvSpPr/>
          <p:nvPr/>
        </p:nvSpPr>
        <p:spPr>
          <a:xfrm>
            <a:off x="19637828" y="15654528"/>
            <a:ext cx="9270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800" dirty="0"/>
          </a:p>
        </p:txBody>
      </p:sp>
      <p:sp>
        <p:nvSpPr>
          <p:cNvPr id="147" name="Text 132"/>
          <p:cNvSpPr/>
          <p:nvPr/>
        </p:nvSpPr>
        <p:spPr>
          <a:xfrm>
            <a:off x="17254042" y="15947136"/>
            <a:ext cx="33108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Breastfeeding duration</a:t>
            </a:r>
            <a:endParaRPr lang="en-US" sz="830" dirty="0"/>
          </a:p>
        </p:txBody>
      </p:sp>
      <p:sp>
        <p:nvSpPr>
          <p:cNvPr id="148" name="Shape 133"/>
          <p:cNvSpPr/>
          <p:nvPr/>
        </p:nvSpPr>
        <p:spPr>
          <a:xfrm>
            <a:off x="17254042" y="16148304"/>
            <a:ext cx="2317570" cy="91440"/>
          </a:xfrm>
          <a:prstGeom prst="rect">
            <a:avLst/>
          </a:prstGeom>
          <a:solidFill>
            <a:srgbClr val="EDEDE6"/>
          </a:solidFill>
          <a:ln/>
        </p:spPr>
      </p:sp>
      <p:sp>
        <p:nvSpPr>
          <p:cNvPr id="149" name="Shape 134"/>
          <p:cNvSpPr/>
          <p:nvPr/>
        </p:nvSpPr>
        <p:spPr>
          <a:xfrm>
            <a:off x="17254042" y="16148304"/>
            <a:ext cx="695271" cy="91440"/>
          </a:xfrm>
          <a:prstGeom prst="rect">
            <a:avLst/>
          </a:prstGeom>
          <a:solidFill>
            <a:srgbClr val="006B3F"/>
          </a:solidFill>
          <a:ln/>
        </p:spPr>
      </p:sp>
      <p:sp>
        <p:nvSpPr>
          <p:cNvPr id="150" name="Text 135"/>
          <p:cNvSpPr/>
          <p:nvPr/>
        </p:nvSpPr>
        <p:spPr>
          <a:xfrm>
            <a:off x="19637828" y="16093440"/>
            <a:ext cx="9270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800" dirty="0"/>
          </a:p>
        </p:txBody>
      </p:sp>
      <p:sp>
        <p:nvSpPr>
          <p:cNvPr id="151" name="Shape 136"/>
          <p:cNvSpPr/>
          <p:nvPr/>
        </p:nvSpPr>
        <p:spPr>
          <a:xfrm>
            <a:off x="11105388" y="16093440"/>
            <a:ext cx="9459468" cy="2148840"/>
          </a:xfrm>
          <a:prstGeom prst="roundRect">
            <a:avLst>
              <a:gd name="adj" fmla="val 2553"/>
            </a:avLst>
          </a:prstGeom>
          <a:solidFill>
            <a:srgbClr val="FFF6D6"/>
          </a:solidFill>
          <a:ln/>
        </p:spPr>
      </p:sp>
      <p:sp>
        <p:nvSpPr>
          <p:cNvPr id="152" name="Text 137"/>
          <p:cNvSpPr/>
          <p:nvPr/>
        </p:nvSpPr>
        <p:spPr>
          <a:xfrm>
            <a:off x="11242548" y="16166592"/>
            <a:ext cx="91851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problem: Normal (87.7%) far outweighs MAM (9.8%) and SAM (2.5%) in the training data, so the model rarely predicts SAM despite 87.3% overall accuracy. SMOTE oversampling is planned to fix this.</a:t>
            </a:r>
            <a:endParaRPr lang="en-US" sz="960" dirty="0"/>
          </a:p>
        </p:txBody>
      </p:sp>
      <p:sp>
        <p:nvSpPr>
          <p:cNvPr id="153" name="Shape 138"/>
          <p:cNvSpPr/>
          <p:nvPr/>
        </p:nvSpPr>
        <p:spPr>
          <a:xfrm>
            <a:off x="548640" y="18653760"/>
            <a:ext cx="12037162" cy="566928"/>
          </a:xfrm>
          <a:prstGeom prst="roundRect">
            <a:avLst>
              <a:gd name="adj" fmla="val 9677"/>
            </a:avLst>
          </a:prstGeom>
          <a:solidFill>
            <a:srgbClr val="006B3F"/>
          </a:solidFill>
          <a:ln/>
        </p:spPr>
      </p:sp>
      <p:sp>
        <p:nvSpPr>
          <p:cNvPr id="154" name="Text 139"/>
          <p:cNvSpPr/>
          <p:nvPr/>
        </p:nvSpPr>
        <p:spPr>
          <a:xfrm>
            <a:off x="685800" y="18653760"/>
            <a:ext cx="117628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155" name="Shape 140"/>
          <p:cNvSpPr/>
          <p:nvPr/>
        </p:nvSpPr>
        <p:spPr>
          <a:xfrm>
            <a:off x="548640" y="19339560"/>
            <a:ext cx="12037162" cy="5349240"/>
          </a:xfrm>
          <a:prstGeom prst="roundRect">
            <a:avLst>
              <a:gd name="adj" fmla="val 1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4000"/>
              </a:srgbClr>
            </a:outerShdw>
          </a:effectLst>
        </p:spPr>
      </p:sp>
      <p:sp>
        <p:nvSpPr>
          <p:cNvPr id="156" name="Shape 141"/>
          <p:cNvSpPr/>
          <p:nvPr/>
        </p:nvSpPr>
        <p:spPr>
          <a:xfrm>
            <a:off x="914400" y="19549872"/>
            <a:ext cx="11305642" cy="685800"/>
          </a:xfrm>
          <a:prstGeom prst="roundRect">
            <a:avLst>
              <a:gd name="adj" fmla="val 9333"/>
            </a:avLst>
          </a:prstGeom>
          <a:solidFill>
            <a:srgbClr val="006B3F"/>
          </a:solidFill>
          <a:ln/>
        </p:spPr>
      </p:sp>
      <p:sp>
        <p:nvSpPr>
          <p:cNvPr id="157" name="Text 142"/>
          <p:cNvSpPr/>
          <p:nvPr/>
        </p:nvSpPr>
        <p:spPr>
          <a:xfrm>
            <a:off x="1143000" y="19604736"/>
            <a:ext cx="108484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INTERFACE</a:t>
            </a:r>
            <a:endParaRPr lang="en-US" sz="1250" dirty="0"/>
          </a:p>
        </p:txBody>
      </p:sp>
      <p:sp>
        <p:nvSpPr>
          <p:cNvPr id="158" name="Text 143"/>
          <p:cNvSpPr/>
          <p:nvPr/>
        </p:nvSpPr>
        <p:spPr>
          <a:xfrm>
            <a:off x="1143000" y="19879056"/>
            <a:ext cx="108484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PWA — CHW mobile portal · Admin dashboard · Login/Auth</a:t>
            </a:r>
            <a:endParaRPr lang="en-US" sz="960" dirty="0"/>
          </a:p>
        </p:txBody>
      </p:sp>
      <p:sp>
        <p:nvSpPr>
          <p:cNvPr id="159" name="Text 144"/>
          <p:cNvSpPr/>
          <p:nvPr/>
        </p:nvSpPr>
        <p:spPr>
          <a:xfrm>
            <a:off x="6384341" y="20235672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CD116"/>
                </a:solidFill>
              </a:rPr>
              <a:t>▼</a:t>
            </a:r>
            <a:endParaRPr lang="en-US" sz="1300" dirty="0"/>
          </a:p>
        </p:txBody>
      </p:sp>
      <p:sp>
        <p:nvSpPr>
          <p:cNvPr id="160" name="Shape 145"/>
          <p:cNvSpPr/>
          <p:nvPr/>
        </p:nvSpPr>
        <p:spPr>
          <a:xfrm>
            <a:off x="914400" y="20491704"/>
            <a:ext cx="11305642" cy="685800"/>
          </a:xfrm>
          <a:prstGeom prst="roundRect">
            <a:avLst>
              <a:gd name="adj" fmla="val 9333"/>
            </a:avLst>
          </a:prstGeom>
          <a:solidFill>
            <a:srgbClr val="004D2C"/>
          </a:solidFill>
          <a:ln/>
        </p:spPr>
      </p:sp>
      <p:sp>
        <p:nvSpPr>
          <p:cNvPr id="161" name="Text 146"/>
          <p:cNvSpPr/>
          <p:nvPr/>
        </p:nvSpPr>
        <p:spPr>
          <a:xfrm>
            <a:off x="1143000" y="20546568"/>
            <a:ext cx="108484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 DATA STORAGE</a:t>
            </a:r>
            <a:endParaRPr lang="en-US" sz="1250" dirty="0"/>
          </a:p>
        </p:txBody>
      </p:sp>
      <p:sp>
        <p:nvSpPr>
          <p:cNvPr id="162" name="Text 147"/>
          <p:cNvSpPr/>
          <p:nvPr/>
        </p:nvSpPr>
        <p:spPr>
          <a:xfrm>
            <a:off x="1143000" y="20820888"/>
            <a:ext cx="108484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IndexedDB + Service Workers — works with no internet, syncs when connected</a:t>
            </a:r>
            <a:endParaRPr lang="en-US" sz="960" dirty="0"/>
          </a:p>
        </p:txBody>
      </p:sp>
      <p:sp>
        <p:nvSpPr>
          <p:cNvPr id="163" name="Text 148"/>
          <p:cNvSpPr/>
          <p:nvPr/>
        </p:nvSpPr>
        <p:spPr>
          <a:xfrm>
            <a:off x="6384341" y="21177504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CD116"/>
                </a:solidFill>
              </a:rPr>
              <a:t>▼</a:t>
            </a:r>
            <a:endParaRPr lang="en-US" sz="1300" dirty="0"/>
          </a:p>
        </p:txBody>
      </p:sp>
      <p:sp>
        <p:nvSpPr>
          <p:cNvPr id="164" name="Shape 149"/>
          <p:cNvSpPr/>
          <p:nvPr/>
        </p:nvSpPr>
        <p:spPr>
          <a:xfrm>
            <a:off x="914400" y="21433536"/>
            <a:ext cx="11305642" cy="685800"/>
          </a:xfrm>
          <a:prstGeom prst="roundRect">
            <a:avLst>
              <a:gd name="adj" fmla="val 9333"/>
            </a:avLst>
          </a:prstGeom>
          <a:solidFill>
            <a:srgbClr val="006B3F"/>
          </a:solidFill>
          <a:ln/>
        </p:spPr>
      </p:sp>
      <p:sp>
        <p:nvSpPr>
          <p:cNvPr id="165" name="Text 150"/>
          <p:cNvSpPr/>
          <p:nvPr/>
        </p:nvSpPr>
        <p:spPr>
          <a:xfrm>
            <a:off x="1143000" y="21488400"/>
            <a:ext cx="108484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API</a:t>
            </a:r>
            <a:endParaRPr lang="en-US" sz="1250" dirty="0"/>
          </a:p>
        </p:txBody>
      </p:sp>
      <p:sp>
        <p:nvSpPr>
          <p:cNvPr id="166" name="Text 151"/>
          <p:cNvSpPr/>
          <p:nvPr/>
        </p:nvSpPr>
        <p:spPr>
          <a:xfrm>
            <a:off x="1143000" y="21762720"/>
            <a:ext cx="108484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3.0 — Auth · Patients · Screening · Referrals · Alerts · SMS</a:t>
            </a:r>
            <a:endParaRPr lang="en-US" sz="960" dirty="0"/>
          </a:p>
        </p:txBody>
      </p:sp>
      <p:sp>
        <p:nvSpPr>
          <p:cNvPr id="167" name="Text 152"/>
          <p:cNvSpPr/>
          <p:nvPr/>
        </p:nvSpPr>
        <p:spPr>
          <a:xfrm>
            <a:off x="6384341" y="22119336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CD116"/>
                </a:solidFill>
              </a:rPr>
              <a:t>▼</a:t>
            </a:r>
            <a:endParaRPr lang="en-US" sz="1300" dirty="0"/>
          </a:p>
        </p:txBody>
      </p:sp>
      <p:sp>
        <p:nvSpPr>
          <p:cNvPr id="168" name="Shape 153"/>
          <p:cNvSpPr/>
          <p:nvPr/>
        </p:nvSpPr>
        <p:spPr>
          <a:xfrm>
            <a:off x="914400" y="22375368"/>
            <a:ext cx="11305642" cy="685800"/>
          </a:xfrm>
          <a:prstGeom prst="roundRect">
            <a:avLst>
              <a:gd name="adj" fmla="val 9333"/>
            </a:avLst>
          </a:prstGeom>
          <a:solidFill>
            <a:srgbClr val="004D2C"/>
          </a:solidFill>
          <a:ln/>
        </p:spPr>
      </p:sp>
      <p:sp>
        <p:nvSpPr>
          <p:cNvPr id="169" name="Text 154"/>
          <p:cNvSpPr/>
          <p:nvPr/>
        </p:nvSpPr>
        <p:spPr>
          <a:xfrm>
            <a:off x="1143000" y="22430232"/>
            <a:ext cx="108484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LAYER</a:t>
            </a:r>
            <a:endParaRPr lang="en-US" sz="1250" dirty="0"/>
          </a:p>
        </p:txBody>
      </p:sp>
      <p:sp>
        <p:nvSpPr>
          <p:cNvPr id="170" name="Text 155"/>
          <p:cNvSpPr/>
          <p:nvPr/>
        </p:nvSpPr>
        <p:spPr>
          <a:xfrm>
            <a:off x="1143000" y="22704552"/>
            <a:ext cx="108484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 Model · NutriCheck Model · Clinical Safety Net (rule override)</a:t>
            </a:r>
            <a:endParaRPr lang="en-US" sz="960" dirty="0"/>
          </a:p>
        </p:txBody>
      </p:sp>
      <p:sp>
        <p:nvSpPr>
          <p:cNvPr id="171" name="Text 156"/>
          <p:cNvSpPr/>
          <p:nvPr/>
        </p:nvSpPr>
        <p:spPr>
          <a:xfrm>
            <a:off x="6384341" y="23061168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CD116"/>
                </a:solidFill>
              </a:rPr>
              <a:t>▼</a:t>
            </a:r>
            <a:endParaRPr lang="en-US" sz="1300" dirty="0"/>
          </a:p>
        </p:txBody>
      </p:sp>
      <p:sp>
        <p:nvSpPr>
          <p:cNvPr id="172" name="Shape 157"/>
          <p:cNvSpPr/>
          <p:nvPr/>
        </p:nvSpPr>
        <p:spPr>
          <a:xfrm>
            <a:off x="914400" y="23317200"/>
            <a:ext cx="11305642" cy="685800"/>
          </a:xfrm>
          <a:prstGeom prst="roundRect">
            <a:avLst>
              <a:gd name="adj" fmla="val 9333"/>
            </a:avLst>
          </a:prstGeom>
          <a:solidFill>
            <a:srgbClr val="006B3F"/>
          </a:solidFill>
          <a:ln/>
        </p:spPr>
      </p:sp>
      <p:sp>
        <p:nvSpPr>
          <p:cNvPr id="173" name="Text 158"/>
          <p:cNvSpPr/>
          <p:nvPr/>
        </p:nvSpPr>
        <p:spPr>
          <a:xfrm>
            <a:off x="1143000" y="23372064"/>
            <a:ext cx="108484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250" dirty="0"/>
          </a:p>
        </p:txBody>
      </p:sp>
      <p:sp>
        <p:nvSpPr>
          <p:cNvPr id="174" name="Text 159"/>
          <p:cNvSpPr/>
          <p:nvPr/>
        </p:nvSpPr>
        <p:spPr>
          <a:xfrm>
            <a:off x="1143000" y="23646384"/>
            <a:ext cx="108484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(dev) → PostgreSQL (production)</a:t>
            </a:r>
            <a:endParaRPr lang="en-US" sz="960" dirty="0"/>
          </a:p>
        </p:txBody>
      </p:sp>
      <p:sp>
        <p:nvSpPr>
          <p:cNvPr id="175" name="Shape 160"/>
          <p:cNvSpPr/>
          <p:nvPr/>
        </p:nvSpPr>
        <p:spPr>
          <a:xfrm>
            <a:off x="12860122" y="18653760"/>
            <a:ext cx="7979054" cy="566928"/>
          </a:xfrm>
          <a:prstGeom prst="roundRect">
            <a:avLst>
              <a:gd name="adj" fmla="val 9677"/>
            </a:avLst>
          </a:prstGeom>
          <a:solidFill>
            <a:srgbClr val="CE1126"/>
          </a:solidFill>
          <a:ln/>
        </p:spPr>
      </p:sp>
      <p:sp>
        <p:nvSpPr>
          <p:cNvPr id="176" name="Text 161"/>
          <p:cNvSpPr/>
          <p:nvPr/>
        </p:nvSpPr>
        <p:spPr>
          <a:xfrm>
            <a:off x="12997282" y="18653760"/>
            <a:ext cx="77047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&amp; SCALE</a:t>
            </a:r>
            <a:endParaRPr lang="en-US" sz="1500" dirty="0"/>
          </a:p>
        </p:txBody>
      </p:sp>
      <p:sp>
        <p:nvSpPr>
          <p:cNvPr id="177" name="Shape 162"/>
          <p:cNvSpPr/>
          <p:nvPr/>
        </p:nvSpPr>
        <p:spPr>
          <a:xfrm>
            <a:off x="12860122" y="19339560"/>
            <a:ext cx="7979054" cy="5349240"/>
          </a:xfrm>
          <a:prstGeom prst="roundRect">
            <a:avLst>
              <a:gd name="adj" fmla="val 1368"/>
            </a:avLst>
          </a:prstGeom>
          <a:solidFill>
            <a:srgbClr val="FFF6D6"/>
          </a:solidFill>
          <a:ln/>
          <a:effectLst>
            <a:outerShdw sx="100000" sy="100000" kx="0" ky="0" algn="bl" rotWithShape="0" blurRad="88900" dist="38100" dir="2700000">
              <a:srgbClr val="000000">
                <a:alpha val="14000"/>
              </a:srgbClr>
            </a:outerShdw>
          </a:effectLst>
        </p:spPr>
      </p:sp>
      <p:sp>
        <p:nvSpPr>
          <p:cNvPr id="178" name="Text 163"/>
          <p:cNvSpPr/>
          <p:nvPr/>
        </p:nvSpPr>
        <p:spPr>
          <a:xfrm>
            <a:off x="13088722" y="19522440"/>
            <a:ext cx="75218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E1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CHWS</a:t>
            </a:r>
            <a:endParaRPr lang="en-US" sz="1050" dirty="0"/>
          </a:p>
        </p:txBody>
      </p:sp>
      <p:sp>
        <p:nvSpPr>
          <p:cNvPr id="179" name="Text 164"/>
          <p:cNvSpPr/>
          <p:nvPr/>
        </p:nvSpPr>
        <p:spPr>
          <a:xfrm>
            <a:off x="13088722" y="19815048"/>
            <a:ext cx="7521854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 → under 2 min screening</a:t>
            </a:r>
            <a:endParaRPr lang="en-US" sz="94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→ digital app, instant results</a:t>
            </a:r>
            <a:endParaRPr lang="en-US" sz="94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calls → automatic SMS referrals</a:t>
            </a:r>
            <a:endParaRPr lang="en-US" sz="940" dirty="0"/>
          </a:p>
        </p:txBody>
      </p:sp>
      <p:sp>
        <p:nvSpPr>
          <p:cNvPr id="180" name="Text 165"/>
          <p:cNvSpPr/>
          <p:nvPr/>
        </p:nvSpPr>
        <p:spPr>
          <a:xfrm>
            <a:off x="13088722" y="20839176"/>
            <a:ext cx="75218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E1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PATIENTS</a:t>
            </a:r>
            <a:endParaRPr lang="en-US" sz="1050" dirty="0"/>
          </a:p>
        </p:txBody>
      </p:sp>
      <p:sp>
        <p:nvSpPr>
          <p:cNvPr id="181" name="Text 166"/>
          <p:cNvSpPr/>
          <p:nvPr/>
        </p:nvSpPr>
        <p:spPr>
          <a:xfrm>
            <a:off x="13088722" y="21131784"/>
            <a:ext cx="7521854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detection of pre-eclampsia, severe hypertension, SAM</a:t>
            </a:r>
            <a:endParaRPr lang="en-US" sz="94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referral delays via SMS alerts</a:t>
            </a:r>
            <a:endParaRPr lang="en-US" sz="94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records for continuity of care</a:t>
            </a:r>
            <a:endParaRPr lang="en-US" sz="940" dirty="0"/>
          </a:p>
        </p:txBody>
      </p:sp>
      <p:sp>
        <p:nvSpPr>
          <p:cNvPr id="182" name="Text 167"/>
          <p:cNvSpPr/>
          <p:nvPr/>
        </p:nvSpPr>
        <p:spPr>
          <a:xfrm>
            <a:off x="13088722" y="22155912"/>
            <a:ext cx="75218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E1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HEALTH SYSTEM</a:t>
            </a:r>
            <a:endParaRPr lang="en-US" sz="1050" dirty="0"/>
          </a:p>
        </p:txBody>
      </p:sp>
      <p:sp>
        <p:nvSpPr>
          <p:cNvPr id="183" name="Text 168"/>
          <p:cNvSpPr/>
          <p:nvPr/>
        </p:nvSpPr>
        <p:spPr>
          <a:xfrm>
            <a:off x="13088722" y="22448520"/>
            <a:ext cx="7521854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 across all 16 regions</a:t>
            </a:r>
            <a:endParaRPr lang="en-US" sz="94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CHW performance metrics</a:t>
            </a:r>
            <a:endParaRPr lang="en-US" sz="94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for resource allocation</a:t>
            </a:r>
            <a:endParaRPr lang="en-US" sz="940" dirty="0"/>
          </a:p>
        </p:txBody>
      </p:sp>
      <p:sp>
        <p:nvSpPr>
          <p:cNvPr id="184" name="Shape 169"/>
          <p:cNvSpPr/>
          <p:nvPr/>
        </p:nvSpPr>
        <p:spPr>
          <a:xfrm>
            <a:off x="548640" y="24963120"/>
            <a:ext cx="10008108" cy="566928"/>
          </a:xfrm>
          <a:prstGeom prst="roundRect">
            <a:avLst>
              <a:gd name="adj" fmla="val 9677"/>
            </a:avLst>
          </a:prstGeom>
          <a:solidFill>
            <a:srgbClr val="FCD116"/>
          </a:solidFill>
          <a:ln/>
        </p:spPr>
      </p:sp>
      <p:sp>
        <p:nvSpPr>
          <p:cNvPr id="185" name="Text 170"/>
          <p:cNvSpPr/>
          <p:nvPr/>
        </p:nvSpPr>
        <p:spPr>
          <a:xfrm>
            <a:off x="685800" y="24963120"/>
            <a:ext cx="97337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50" kern="0" dirty="0">
                <a:solidFill>
                  <a:srgbClr val="00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</a:t>
            </a:r>
            <a:endParaRPr lang="en-US" sz="1500" dirty="0"/>
          </a:p>
        </p:txBody>
      </p:sp>
      <p:sp>
        <p:nvSpPr>
          <p:cNvPr id="186" name="Shape 171"/>
          <p:cNvSpPr/>
          <p:nvPr/>
        </p:nvSpPr>
        <p:spPr>
          <a:xfrm>
            <a:off x="548640" y="25648920"/>
            <a:ext cx="10008108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4000"/>
              </a:srgbClr>
            </a:outerShdw>
          </a:effectLst>
        </p:spPr>
      </p:sp>
      <p:graphicFrame>
        <p:nvGraphicFramePr>
          <p:cNvPr id="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5831800"/>
          <a:ext cx="9550908" cy="914400"/>
        </p:xfrm>
        <a:graphic>
          <a:graphicData uri="http://schemas.openxmlformats.org/drawingml/2006/table">
            <a:tbl>
              <a:tblPr/>
              <a:tblGrid>
                <a:gridCol w="3820363"/>
                <a:gridCol w="3820363"/>
                <a:gridCol w="191018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Improvement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Solves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3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SMOTE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imbalance for SAM/MAM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TFLite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on-device offline inference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 Input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Supports illiterate CHWs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Chatbot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On-demand clinical guidance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EHR Integration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Continuity of care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Modules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Diabetes, TB, HIV screening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8" name="Shape 172"/>
          <p:cNvSpPr/>
          <p:nvPr/>
        </p:nvSpPr>
        <p:spPr>
          <a:xfrm>
            <a:off x="10831068" y="24963120"/>
            <a:ext cx="10008108" cy="566928"/>
          </a:xfrm>
          <a:prstGeom prst="roundRect">
            <a:avLst>
              <a:gd name="adj" fmla="val 9677"/>
            </a:avLst>
          </a:prstGeom>
          <a:solidFill>
            <a:srgbClr val="006B3F"/>
          </a:solidFill>
          <a:ln/>
        </p:spPr>
      </p:sp>
      <p:sp>
        <p:nvSpPr>
          <p:cNvPr id="189" name="Text 173"/>
          <p:cNvSpPr/>
          <p:nvPr/>
        </p:nvSpPr>
        <p:spPr>
          <a:xfrm>
            <a:off x="10968228" y="24963120"/>
            <a:ext cx="97337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&amp; REFERENCES</a:t>
            </a:r>
            <a:endParaRPr lang="en-US" sz="1500" dirty="0"/>
          </a:p>
        </p:txBody>
      </p:sp>
      <p:sp>
        <p:nvSpPr>
          <p:cNvPr id="190" name="Shape 174"/>
          <p:cNvSpPr/>
          <p:nvPr/>
        </p:nvSpPr>
        <p:spPr>
          <a:xfrm>
            <a:off x="10831068" y="25648920"/>
            <a:ext cx="10008108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4000"/>
              </a:srgbClr>
            </a:outerShdw>
          </a:effectLst>
        </p:spPr>
      </p:sp>
      <p:sp>
        <p:nvSpPr>
          <p:cNvPr id="191" name="Text 175"/>
          <p:cNvSpPr/>
          <p:nvPr/>
        </p:nvSpPr>
        <p:spPr>
          <a:xfrm>
            <a:off x="11059668" y="25831800"/>
            <a:ext cx="95509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</a:t>
            </a:r>
            <a:endParaRPr lang="en-US" sz="1050" dirty="0"/>
          </a:p>
        </p:txBody>
      </p:sp>
      <p:sp>
        <p:nvSpPr>
          <p:cNvPr id="192" name="Text 176"/>
          <p:cNvSpPr/>
          <p:nvPr/>
        </p:nvSpPr>
        <p:spPr>
          <a:xfrm>
            <a:off x="11059668" y="26106120"/>
            <a:ext cx="9550908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Developer &amp; Data Scientist — full-stack, ML, data engineering, project management</a:t>
            </a:r>
            <a:endParaRPr lang="en-US" sz="94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UI/UX Developer — React, progressive web apps, UI/UX design</a:t>
            </a:r>
            <a:endParaRPr lang="en-US" sz="94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Advisor — public health, maternal &amp; child health, health systems</a:t>
            </a:r>
            <a:endParaRPr lang="en-US" sz="940" dirty="0"/>
          </a:p>
        </p:txBody>
      </p:sp>
      <p:sp>
        <p:nvSpPr>
          <p:cNvPr id="193" name="Text 177"/>
          <p:cNvSpPr/>
          <p:nvPr/>
        </p:nvSpPr>
        <p:spPr>
          <a:xfrm>
            <a:off x="11059668" y="27432000"/>
            <a:ext cx="95509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REFERENCES</a:t>
            </a:r>
            <a:endParaRPr lang="en-US" sz="1050" dirty="0"/>
          </a:p>
        </p:txBody>
      </p:sp>
      <p:sp>
        <p:nvSpPr>
          <p:cNvPr id="194" name="Text 178"/>
          <p:cNvSpPr/>
          <p:nvPr/>
        </p:nvSpPr>
        <p:spPr>
          <a:xfrm>
            <a:off x="11059668" y="27706320"/>
            <a:ext cx="9550908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5B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 Statistical Service (2018). MICS6 Survey Findings Report. Accra: GSS.</a:t>
            </a:r>
            <a:endParaRPr lang="en-US" sz="88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5B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(2006). WHO Child Growth Standards. Geneva.</a:t>
            </a:r>
            <a:endParaRPr lang="en-US" sz="88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5B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Breiman, L. (2001). Random Forests. Machine Learning, 45(1), 5–32.</a:t>
            </a:r>
            <a:endParaRPr lang="en-US" sz="880" dirty="0"/>
          </a:p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5B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(2016). Recommendations on Antenatal Care. Geneva.</a:t>
            </a:r>
            <a:endParaRPr lang="en-US" sz="880" dirty="0"/>
          </a:p>
        </p:txBody>
      </p:sp>
      <p:sp>
        <p:nvSpPr>
          <p:cNvPr id="195" name="Shape 179"/>
          <p:cNvSpPr/>
          <p:nvPr/>
        </p:nvSpPr>
        <p:spPr>
          <a:xfrm>
            <a:off x="548640" y="28986480"/>
            <a:ext cx="13660404" cy="1014984"/>
          </a:xfrm>
          <a:prstGeom prst="roundRect">
            <a:avLst>
              <a:gd name="adj" fmla="val 7207"/>
            </a:avLst>
          </a:prstGeom>
          <a:solidFill>
            <a:srgbClr val="004D2C"/>
          </a:solidFill>
          <a:ln/>
          <a:effectLst>
            <a:outerShdw sx="100000" sy="100000" kx="0" ky="0" algn="bl" rotWithShape="0" blurRad="88900" dist="38100" dir="2700000">
              <a:srgbClr val="000000">
                <a:alpha val="14000"/>
              </a:srgbClr>
            </a:outerShdw>
          </a:effectLst>
        </p:spPr>
      </p:sp>
      <p:sp>
        <p:nvSpPr>
          <p:cNvPr id="196" name="Text 180"/>
          <p:cNvSpPr/>
          <p:nvPr/>
        </p:nvSpPr>
        <p:spPr>
          <a:xfrm>
            <a:off x="868680" y="29169360"/>
            <a:ext cx="130203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CD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197" name="Text 181"/>
          <p:cNvSpPr/>
          <p:nvPr/>
        </p:nvSpPr>
        <p:spPr>
          <a:xfrm>
            <a:off x="868680" y="29580840"/>
            <a:ext cx="130203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AnteScan is an offline-first, AI-powered PWA that helps Ghanaian Community Health Workers screen for antenatal care risk, child malnutrition, and sickle cell disease — trained on 14,609 women and 8,903 children from real, nationally representative Ghanaian data (MICS6, DHS). It pairs Random Forest models with a rule-based clinical safety net so no emergency is missed, cutting screening time from 15 minutes to under 2 — and scales across all 16 regions, even without internet.</a:t>
            </a:r>
            <a:endParaRPr lang="en-US" sz="1250" dirty="0"/>
          </a:p>
        </p:txBody>
      </p:sp>
      <p:sp>
        <p:nvSpPr>
          <p:cNvPr id="198" name="Shape 182"/>
          <p:cNvSpPr/>
          <p:nvPr/>
        </p:nvSpPr>
        <p:spPr>
          <a:xfrm>
            <a:off x="14483364" y="28986480"/>
            <a:ext cx="6355812" cy="1014984"/>
          </a:xfrm>
          <a:prstGeom prst="roundRect">
            <a:avLst>
              <a:gd name="adj" fmla="val 72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4000"/>
              </a:srgbClr>
            </a:outerShdw>
          </a:effectLst>
        </p:spPr>
      </p:sp>
      <p:sp>
        <p:nvSpPr>
          <p:cNvPr id="199" name="Shape 183"/>
          <p:cNvSpPr/>
          <p:nvPr/>
        </p:nvSpPr>
        <p:spPr>
          <a:xfrm>
            <a:off x="14757684" y="29215080"/>
            <a:ext cx="374904" cy="374904"/>
          </a:xfrm>
          <a:prstGeom prst="rect">
            <a:avLst/>
          </a:prstGeom>
          <a:solidFill>
            <a:srgbClr val="F1F1EA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20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894844" y="29352240"/>
            <a:ext cx="100584" cy="100584"/>
          </a:xfrm>
          <a:prstGeom prst="rect">
            <a:avLst/>
          </a:prstGeom>
        </p:spPr>
      </p:pic>
      <p:sp>
        <p:nvSpPr>
          <p:cNvPr id="201" name="Text 184"/>
          <p:cNvSpPr/>
          <p:nvPr/>
        </p:nvSpPr>
        <p:spPr>
          <a:xfrm>
            <a:off x="15224028" y="29215080"/>
            <a:ext cx="561514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for GitHub repo</a:t>
            </a:r>
            <a:endParaRPr lang="en-US" sz="1000" dirty="0"/>
          </a:p>
          <a:p>
            <a:pPr indent="0" marL="0">
              <a:buNone/>
            </a:pPr>
            <a:r>
              <a:rPr lang="en-US" sz="86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Ghana AI Innovation Challenge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AnteScan Poster</dc:title>
  <dc:subject>PptxGenJS Presentation</dc:subject>
  <dc:creator>AnteScan Team</dc:creator>
  <cp:lastModifiedBy>AnteScan Team</cp:lastModifiedBy>
  <cp:revision>1</cp:revision>
  <dcterms:created xsi:type="dcterms:W3CDTF">2026-07-01T19:32:00Z</dcterms:created>
  <dcterms:modified xsi:type="dcterms:W3CDTF">2026-07-01T19:32:00Z</dcterms:modified>
</cp:coreProperties>
</file>